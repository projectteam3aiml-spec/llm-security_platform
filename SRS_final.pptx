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9" r:id="rId24"/>
    <p:sldId id="280" r:id="rId25"/>
    <p:sldId id="281" r:id="rId26"/>
    <p:sldId id="282" r:id="rId27"/>
    <p:sldId id="278"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90651C3A-4460-11DB-9652-00E08161165F}">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50" d="100"/>
          <a:sy n="50" d="100"/>
        </p:scale>
        <p:origin x="1260" y="5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Project README; Healthcare_Dataset_Preparation outputs; backend/app source.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Healthcare_Dataset_Preparation/outputs/eda/security/summary.txt; outputs/eda/knowledge/dataset_overview.txt; outputs/retrieval_evaluation/retrieval_metrics.txt.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Healthcare_Dataset_Preparation/outputs/security_classifier/training_summary.txt; outputs/evaluation/test_metrics.txt; outputs/retrieval_evaluation/retrieval_metrics.txt.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backend/app/ai_engine/{risk_engine.py,classifier.py,similarity.py,phi_detector.py,model_loader.py}.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backend/requirements.txt; frontend/package.json; backend/Dockerfile; frontend/Dockerfile; nginx/nginx.conf; backend/app/main.py.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Team ownership allocation supplied as an editable review slide; verify individual ownership with the project team before submission.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a:extLst>
              <a:ext uri="{FF2B5EF4-FFF2-40B4-BE49-F238E27FC236}">
                <a16:creationId xmlns:a16="http://schemas.microsoft.com/office/drawing/2014/main" id="{DF1AB18D-D9F0-4F9D-BFA7-A5A1792E10AF}"/>
              </a:ext>
            </a:extLst>
          </p:cNvPr>
          <p:cNvSpPr>
            <a:spLocks noGrp="1"/>
          </p:cNvSpPr>
          <p:nvPr>
            <p:ph type="ctrTitle"/>
          </p:nvPr>
        </p:nvSpPr>
        <p:spPr>
          <a:xfrm>
            <a:off x="3644277" y="688269"/>
            <a:ext cx="4846320" cy="529590"/>
          </a:xfrm>
          <a:prstGeom prst="rect">
            <a:avLst/>
          </a:prstGeom>
        </p:spPr>
        <p:txBody>
          <a:bodyPr wrap="square" lIns="0" tIns="0" rIns="0" bIns="0">
            <a:spAutoFit/>
          </a:bodyPr>
          <a:lstStyle>
            <a:lvl1pPr>
              <a:buNone/>
              <a:defRPr sz="3300" b="0" i="0">
                <a:solidFill>
                  <a:schemeClr val="tx1"/>
                </a:solidFill>
                <a:latin typeface="Times New Roman"/>
                <a:ea typeface="Times New Roman"/>
                <a:cs typeface="Times New Roman"/>
              </a:defRPr>
            </a:lvl1pPr>
          </a:lstStyle>
          <a:p>
            <a:endParaRPr/>
          </a:p>
        </p:txBody>
      </p:sp>
      <p:sp>
        <p:nvSpPr>
          <p:cNvPr id="3" name="Holder 3">
            <a:extLst>
              <a:ext uri="{FF2B5EF4-FFF2-40B4-BE49-F238E27FC236}">
                <a16:creationId xmlns:a16="http://schemas.microsoft.com/office/drawing/2014/main" id="{FE99B094-F1E3-4F01-8F75-F500B86C0A38}"/>
              </a:ext>
            </a:extLst>
          </p:cNvPr>
          <p:cNvSpPr>
            <a:spLocks noGrp="1"/>
          </p:cNvSpPr>
          <p:nvPr>
            <p:ph type="subTitle" idx="4"/>
          </p:nvPr>
        </p:nvSpPr>
        <p:spPr>
          <a:xfrm>
            <a:off x="1828800" y="3840480"/>
            <a:ext cx="8534400" cy="1714500"/>
          </a:xfrm>
          <a:prstGeom prst="rect">
            <a:avLst/>
          </a:prstGeom>
        </p:spPr>
        <p:txBody>
          <a:bodyPr wrap="square" lIns="0" tIns="0" rIns="0" bIns="0">
            <a:spAutoFit/>
          </a:bodyPr>
          <a:lstStyle>
            <a:lvl1pPr>
              <a:buNone/>
              <a:defRPr sz="1850" b="0" i="0">
                <a:solidFill>
                  <a:schemeClr val="tx1"/>
                </a:solidFill>
                <a:latin typeface="Times New Roman"/>
                <a:ea typeface="Times New Roman"/>
                <a:cs typeface="Times New Roman"/>
              </a:defRPr>
            </a:lvl1pPr>
          </a:lstStyle>
          <a:p>
            <a:endParaRPr/>
          </a:p>
        </p:txBody>
      </p:sp>
      <p:sp>
        <p:nvSpPr>
          <p:cNvPr id="4" name="Holder 4">
            <a:extLst>
              <a:ext uri="{FF2B5EF4-FFF2-40B4-BE49-F238E27FC236}">
                <a16:creationId xmlns:a16="http://schemas.microsoft.com/office/drawing/2014/main" id="{993341A7-42FA-410C-95EF-731249AC8784}"/>
              </a:ext>
            </a:extLst>
          </p:cNvPr>
          <p:cNvSpPr>
            <a:spLocks noGrp="1"/>
          </p:cNvSpPr>
          <p:nvPr>
            <p:ph type="ftr" idx="5"/>
          </p:nvPr>
        </p:nvSpPr>
        <p:spPr/>
        <p:txBody>
          <a:bodyPr lIns="0" tIns="0" rIns="0" bIns="0"/>
          <a:lstStyle>
            <a:lvl1pPr>
              <a:buNone/>
              <a:defRPr sz="1450" b="0" i="0">
                <a:solidFill>
                  <a:srgbClr val="7C7C7C"/>
                </a:solidFill>
                <a:latin typeface="Times New Roman"/>
                <a:ea typeface="Times New Roman"/>
                <a:cs typeface="Times New Roman"/>
              </a:defRPr>
            </a:lvl1pPr>
          </a:lstStyle>
          <a:p>
            <a:pPr marL="12700">
              <a:lnSpc>
                <a:spcPts val="1689"/>
              </a:lnSpc>
              <a:buNone/>
            </a:pPr>
            <a:r>
              <a:rPr spc="-10"/>
              <a:t>Dept of AIML</a:t>
            </a:r>
            <a:endParaRPr spc="-85"/>
          </a:p>
        </p:txBody>
      </p:sp>
      <p:sp>
        <p:nvSpPr>
          <p:cNvPr id="5" name="Holder 5">
            <a:extLst>
              <a:ext uri="{FF2B5EF4-FFF2-40B4-BE49-F238E27FC236}">
                <a16:creationId xmlns:a16="http://schemas.microsoft.com/office/drawing/2014/main" id="{66DCEB51-E3B4-4129-8288-B721F3159280}"/>
              </a:ext>
            </a:extLst>
          </p:cNvPr>
          <p:cNvSpPr>
            <a:spLocks noGrp="1"/>
          </p:cNvSpPr>
          <p:nvPr>
            <p:ph type="dt" idx="6"/>
          </p:nvPr>
        </p:nvSpPr>
        <p:spPr/>
        <p:txBody>
          <a:bodyPr lIns="0" tIns="0" rIns="0" bIns="0"/>
          <a:lstStyle>
            <a:lvl1pPr>
              <a:buNone/>
              <a:defRPr sz="1400" b="0" i="0">
                <a:solidFill>
                  <a:srgbClr val="7B7B7B"/>
                </a:solidFill>
                <a:latin typeface="Times New Roman"/>
                <a:ea typeface="Times New Roman"/>
                <a:cs typeface="Times New Roman"/>
              </a:defRPr>
            </a:lvl1pPr>
          </a:lstStyle>
          <a:p>
            <a:pPr marL="12700">
              <a:lnSpc>
                <a:spcPts val="1635"/>
              </a:lnSpc>
              <a:buNone/>
            </a:pPr>
            <a:r>
              <a:t>02-03-2026</a:t>
            </a:r>
            <a:endParaRPr spc="-20"/>
          </a:p>
        </p:txBody>
      </p:sp>
      <p:sp>
        <p:nvSpPr>
          <p:cNvPr id="6" name="Holder 6">
            <a:extLst>
              <a:ext uri="{FF2B5EF4-FFF2-40B4-BE49-F238E27FC236}">
                <a16:creationId xmlns:a16="http://schemas.microsoft.com/office/drawing/2014/main" id="{989E8798-BC43-4377-8A15-0BA366D04C92}"/>
              </a:ext>
            </a:extLst>
          </p:cNvPr>
          <p:cNvSpPr>
            <a:spLocks noGrp="1"/>
          </p:cNvSpPr>
          <p:nvPr>
            <p:ph type="sldNum" idx="7"/>
          </p:nvPr>
        </p:nvSpPr>
        <p:spPr/>
        <p:txBody>
          <a:bodyPr lIns="0" tIns="0" rIns="0" bIns="0"/>
          <a:lstStyle>
            <a:lvl1pPr>
              <a:buNone/>
              <a:defRPr sz="1350" b="0" i="0">
                <a:solidFill>
                  <a:srgbClr val="545454"/>
                </a:solidFill>
                <a:latin typeface="Arial MT"/>
                <a:ea typeface="Arial MT"/>
                <a:cs typeface="Arial MT"/>
              </a:defRPr>
            </a:lvl1pPr>
          </a:lstStyle>
          <a:p>
            <a:pPr marL="12700">
              <a:lnSpc>
                <a:spcPts val="1600"/>
              </a:lnSpc>
              <a:buNone/>
            </a:pPr>
            <a:fld id="{81D60167-4931-47E6-BA6A-407CBD079E47}" type="slidenum">
              <a:rPr spc="-25"/>
              <a:t>‹#›</a:t>
            </a:fld>
            <a:endParaRPr spc="-25"/>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a:extLst>
              <a:ext uri="{FF2B5EF4-FFF2-40B4-BE49-F238E27FC236}">
                <a16:creationId xmlns:a16="http://schemas.microsoft.com/office/drawing/2014/main" id="{83BB1F75-34E2-43DD-8343-9ECC0B141A8C}"/>
              </a:ext>
            </a:extLst>
          </p:cNvPr>
          <p:cNvSpPr>
            <a:spLocks noGrp="1"/>
          </p:cNvSpPr>
          <p:nvPr>
            <p:ph type="title"/>
          </p:nvPr>
        </p:nvSpPr>
        <p:spPr/>
        <p:txBody>
          <a:bodyPr lIns="0" tIns="0" rIns="0" bIns="0"/>
          <a:lstStyle>
            <a:lvl1pPr>
              <a:buNone/>
              <a:defRPr sz="3300" b="0" i="0">
                <a:solidFill>
                  <a:schemeClr val="tx1"/>
                </a:solidFill>
                <a:latin typeface="Times New Roman"/>
                <a:ea typeface="Times New Roman"/>
                <a:cs typeface="Times New Roman"/>
              </a:defRPr>
            </a:lvl1pPr>
          </a:lstStyle>
          <a:p>
            <a:endParaRPr/>
          </a:p>
        </p:txBody>
      </p:sp>
      <p:sp>
        <p:nvSpPr>
          <p:cNvPr id="3" name="Holder 3">
            <a:extLst>
              <a:ext uri="{FF2B5EF4-FFF2-40B4-BE49-F238E27FC236}">
                <a16:creationId xmlns:a16="http://schemas.microsoft.com/office/drawing/2014/main" id="{156D18B3-9EF0-4E87-B7F9-03DEC35C1714}"/>
              </a:ext>
            </a:extLst>
          </p:cNvPr>
          <p:cNvSpPr>
            <a:spLocks noGrp="1"/>
          </p:cNvSpPr>
          <p:nvPr>
            <p:ph type="body" idx="1"/>
          </p:nvPr>
        </p:nvSpPr>
        <p:spPr/>
        <p:txBody>
          <a:bodyPr lIns="0" tIns="0" rIns="0" bIns="0"/>
          <a:lstStyle>
            <a:lvl1pPr>
              <a:buNone/>
              <a:defRPr sz="1850" b="0" i="0">
                <a:solidFill>
                  <a:schemeClr val="tx1"/>
                </a:solidFill>
                <a:latin typeface="Times New Roman"/>
                <a:ea typeface="Times New Roman"/>
                <a:cs typeface="Times New Roman"/>
              </a:defRPr>
            </a:lvl1pPr>
          </a:lstStyle>
          <a:p>
            <a:endParaRPr/>
          </a:p>
        </p:txBody>
      </p:sp>
      <p:sp>
        <p:nvSpPr>
          <p:cNvPr id="4" name="Holder 4">
            <a:extLst>
              <a:ext uri="{FF2B5EF4-FFF2-40B4-BE49-F238E27FC236}">
                <a16:creationId xmlns:a16="http://schemas.microsoft.com/office/drawing/2014/main" id="{106569B5-628A-4C41-923A-EE41CF6B9654}"/>
              </a:ext>
            </a:extLst>
          </p:cNvPr>
          <p:cNvSpPr>
            <a:spLocks noGrp="1"/>
          </p:cNvSpPr>
          <p:nvPr>
            <p:ph type="ftr" idx="5"/>
          </p:nvPr>
        </p:nvSpPr>
        <p:spPr/>
        <p:txBody>
          <a:bodyPr lIns="0" tIns="0" rIns="0" bIns="0"/>
          <a:lstStyle>
            <a:lvl1pPr>
              <a:buNone/>
              <a:defRPr sz="1450" b="0" i="0">
                <a:solidFill>
                  <a:srgbClr val="7C7C7C"/>
                </a:solidFill>
                <a:latin typeface="Times New Roman"/>
                <a:ea typeface="Times New Roman"/>
                <a:cs typeface="Times New Roman"/>
              </a:defRPr>
            </a:lvl1pPr>
          </a:lstStyle>
          <a:p>
            <a:pPr marL="12700">
              <a:lnSpc>
                <a:spcPts val="1689"/>
              </a:lnSpc>
              <a:buNone/>
            </a:pPr>
            <a:r>
              <a:rPr spc="-10"/>
              <a:t>Dept of AIML</a:t>
            </a:r>
            <a:endParaRPr spc="-85"/>
          </a:p>
        </p:txBody>
      </p:sp>
      <p:sp>
        <p:nvSpPr>
          <p:cNvPr id="5" name="Holder 5">
            <a:extLst>
              <a:ext uri="{FF2B5EF4-FFF2-40B4-BE49-F238E27FC236}">
                <a16:creationId xmlns:a16="http://schemas.microsoft.com/office/drawing/2014/main" id="{618EB6F3-25AF-403C-8BB8-602388F46B16}"/>
              </a:ext>
            </a:extLst>
          </p:cNvPr>
          <p:cNvSpPr>
            <a:spLocks noGrp="1"/>
          </p:cNvSpPr>
          <p:nvPr>
            <p:ph type="dt" idx="6"/>
          </p:nvPr>
        </p:nvSpPr>
        <p:spPr/>
        <p:txBody>
          <a:bodyPr lIns="0" tIns="0" rIns="0" bIns="0"/>
          <a:lstStyle>
            <a:lvl1pPr>
              <a:buNone/>
              <a:defRPr sz="1400" b="0" i="0">
                <a:solidFill>
                  <a:srgbClr val="7B7B7B"/>
                </a:solidFill>
                <a:latin typeface="Times New Roman"/>
                <a:ea typeface="Times New Roman"/>
                <a:cs typeface="Times New Roman"/>
              </a:defRPr>
            </a:lvl1pPr>
          </a:lstStyle>
          <a:p>
            <a:pPr marL="12700">
              <a:lnSpc>
                <a:spcPts val="1635"/>
              </a:lnSpc>
              <a:buNone/>
            </a:pPr>
            <a:r>
              <a:t>02-03-2026</a:t>
            </a:r>
            <a:endParaRPr spc="-20"/>
          </a:p>
        </p:txBody>
      </p:sp>
      <p:sp>
        <p:nvSpPr>
          <p:cNvPr id="6" name="Holder 6">
            <a:extLst>
              <a:ext uri="{FF2B5EF4-FFF2-40B4-BE49-F238E27FC236}">
                <a16:creationId xmlns:a16="http://schemas.microsoft.com/office/drawing/2014/main" id="{933D7A2D-9461-41CF-A367-41F3CD2E74E9}"/>
              </a:ext>
            </a:extLst>
          </p:cNvPr>
          <p:cNvSpPr>
            <a:spLocks noGrp="1"/>
          </p:cNvSpPr>
          <p:nvPr>
            <p:ph type="sldNum" idx="7"/>
          </p:nvPr>
        </p:nvSpPr>
        <p:spPr/>
        <p:txBody>
          <a:bodyPr lIns="0" tIns="0" rIns="0" bIns="0"/>
          <a:lstStyle>
            <a:lvl1pPr>
              <a:buNone/>
              <a:defRPr sz="1350" b="0" i="0">
                <a:solidFill>
                  <a:srgbClr val="545454"/>
                </a:solidFill>
                <a:latin typeface="Arial MT"/>
                <a:ea typeface="Arial MT"/>
                <a:cs typeface="Arial MT"/>
              </a:defRPr>
            </a:lvl1pPr>
          </a:lstStyle>
          <a:p>
            <a:pPr marL="12700">
              <a:lnSpc>
                <a:spcPts val="1600"/>
              </a:lnSpc>
              <a:buNone/>
            </a:pPr>
            <a:fld id="{81D60167-4931-47E6-BA6A-407CBD079E47}" type="slidenum">
              <a:rPr spc="-25"/>
              <a:t>‹#›</a:t>
            </a:fld>
            <a:endParaRPr spc="-25"/>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a:extLst>
              <a:ext uri="{FF2B5EF4-FFF2-40B4-BE49-F238E27FC236}">
                <a16:creationId xmlns:a16="http://schemas.microsoft.com/office/drawing/2014/main" id="{FEC89728-5E4A-405C-AD9D-CF9DC7B809C9}"/>
              </a:ext>
            </a:extLst>
          </p:cNvPr>
          <p:cNvSpPr>
            <a:spLocks noGrp="1"/>
          </p:cNvSpPr>
          <p:nvPr>
            <p:ph type="title"/>
          </p:nvPr>
        </p:nvSpPr>
        <p:spPr/>
        <p:txBody>
          <a:bodyPr lIns="0" tIns="0" rIns="0" bIns="0"/>
          <a:lstStyle>
            <a:lvl1pPr>
              <a:buNone/>
              <a:defRPr sz="3300" b="0" i="0">
                <a:solidFill>
                  <a:schemeClr val="tx1"/>
                </a:solidFill>
                <a:latin typeface="Times New Roman"/>
                <a:ea typeface="Times New Roman"/>
                <a:cs typeface="Times New Roman"/>
              </a:defRPr>
            </a:lvl1pPr>
          </a:lstStyle>
          <a:p>
            <a:endParaRPr/>
          </a:p>
        </p:txBody>
      </p:sp>
      <p:sp>
        <p:nvSpPr>
          <p:cNvPr id="3" name="Holder 3">
            <a:extLst>
              <a:ext uri="{FF2B5EF4-FFF2-40B4-BE49-F238E27FC236}">
                <a16:creationId xmlns:a16="http://schemas.microsoft.com/office/drawing/2014/main" id="{A29278A3-6ECA-4E9F-AD88-DE1E4B849912}"/>
              </a:ext>
            </a:extLst>
          </p:cNvPr>
          <p:cNvSpPr>
            <a:spLocks noGrp="1"/>
          </p:cNvSpPr>
          <p:nvPr>
            <p:ph idx="2"/>
          </p:nvPr>
        </p:nvSpPr>
        <p:spPr>
          <a:xfrm>
            <a:off x="609600" y="1577340"/>
            <a:ext cx="5303520" cy="4526280"/>
          </a:xfrm>
          <a:prstGeom prst="rect">
            <a:avLst/>
          </a:prstGeom>
        </p:spPr>
        <p:txBody>
          <a:bodyPr wrap="square" lIns="0" tIns="0" rIns="0" bIns="0">
            <a:spAutoFit/>
          </a:bodyPr>
          <a:lstStyle>
            <a:lvl1pPr>
              <a:buNone/>
              <a:defRPr/>
            </a:lvl1pPr>
          </a:lstStyle>
          <a:p>
            <a:endParaRPr/>
          </a:p>
        </p:txBody>
      </p:sp>
      <p:sp>
        <p:nvSpPr>
          <p:cNvPr id="4" name="Holder 4">
            <a:extLst>
              <a:ext uri="{FF2B5EF4-FFF2-40B4-BE49-F238E27FC236}">
                <a16:creationId xmlns:a16="http://schemas.microsoft.com/office/drawing/2014/main" id="{ADF1A2A1-EDEA-4292-B1D1-32AA5F2DFC95}"/>
              </a:ext>
            </a:extLst>
          </p:cNvPr>
          <p:cNvSpPr>
            <a:spLocks noGrp="1"/>
          </p:cNvSpPr>
          <p:nvPr>
            <p:ph idx="3"/>
          </p:nvPr>
        </p:nvSpPr>
        <p:spPr>
          <a:xfrm>
            <a:off x="6278880" y="1577340"/>
            <a:ext cx="5303520" cy="4526280"/>
          </a:xfrm>
          <a:prstGeom prst="rect">
            <a:avLst/>
          </a:prstGeom>
        </p:spPr>
        <p:txBody>
          <a:bodyPr wrap="square" lIns="0" tIns="0" rIns="0" bIns="0">
            <a:spAutoFit/>
          </a:bodyPr>
          <a:lstStyle>
            <a:lvl1pPr>
              <a:buNone/>
              <a:defRPr/>
            </a:lvl1pPr>
          </a:lstStyle>
          <a:p>
            <a:endParaRPr/>
          </a:p>
        </p:txBody>
      </p:sp>
      <p:sp>
        <p:nvSpPr>
          <p:cNvPr id="5" name="Holder 5">
            <a:extLst>
              <a:ext uri="{FF2B5EF4-FFF2-40B4-BE49-F238E27FC236}">
                <a16:creationId xmlns:a16="http://schemas.microsoft.com/office/drawing/2014/main" id="{AD821184-CD4C-40D6-AEAB-90AE84713DC6}"/>
              </a:ext>
            </a:extLst>
          </p:cNvPr>
          <p:cNvSpPr>
            <a:spLocks noGrp="1"/>
          </p:cNvSpPr>
          <p:nvPr>
            <p:ph type="ftr" idx="5"/>
          </p:nvPr>
        </p:nvSpPr>
        <p:spPr/>
        <p:txBody>
          <a:bodyPr lIns="0" tIns="0" rIns="0" bIns="0"/>
          <a:lstStyle>
            <a:lvl1pPr>
              <a:buNone/>
              <a:defRPr sz="1450" b="0" i="0">
                <a:solidFill>
                  <a:srgbClr val="7C7C7C"/>
                </a:solidFill>
                <a:latin typeface="Times New Roman"/>
                <a:ea typeface="Times New Roman"/>
                <a:cs typeface="Times New Roman"/>
              </a:defRPr>
            </a:lvl1pPr>
          </a:lstStyle>
          <a:p>
            <a:pPr marL="12700">
              <a:lnSpc>
                <a:spcPts val="1689"/>
              </a:lnSpc>
              <a:buNone/>
            </a:pPr>
            <a:r>
              <a:rPr spc="-10"/>
              <a:t>Dept of AIML</a:t>
            </a:r>
            <a:endParaRPr spc="-85"/>
          </a:p>
        </p:txBody>
      </p:sp>
      <p:sp>
        <p:nvSpPr>
          <p:cNvPr id="6" name="Holder 6">
            <a:extLst>
              <a:ext uri="{FF2B5EF4-FFF2-40B4-BE49-F238E27FC236}">
                <a16:creationId xmlns:a16="http://schemas.microsoft.com/office/drawing/2014/main" id="{FEC212A9-1F90-4BED-AF50-75DDA471A3C1}"/>
              </a:ext>
            </a:extLst>
          </p:cNvPr>
          <p:cNvSpPr>
            <a:spLocks noGrp="1"/>
          </p:cNvSpPr>
          <p:nvPr>
            <p:ph type="dt" idx="6"/>
          </p:nvPr>
        </p:nvSpPr>
        <p:spPr/>
        <p:txBody>
          <a:bodyPr lIns="0" tIns="0" rIns="0" bIns="0"/>
          <a:lstStyle>
            <a:lvl1pPr>
              <a:buNone/>
              <a:defRPr sz="1400" b="0" i="0">
                <a:solidFill>
                  <a:srgbClr val="7B7B7B"/>
                </a:solidFill>
                <a:latin typeface="Times New Roman"/>
                <a:ea typeface="Times New Roman"/>
                <a:cs typeface="Times New Roman"/>
              </a:defRPr>
            </a:lvl1pPr>
          </a:lstStyle>
          <a:p>
            <a:pPr marL="12700">
              <a:lnSpc>
                <a:spcPts val="1635"/>
              </a:lnSpc>
              <a:buNone/>
            </a:pPr>
            <a:r>
              <a:t>02-03-2026</a:t>
            </a:r>
            <a:endParaRPr spc="-20"/>
          </a:p>
        </p:txBody>
      </p:sp>
      <p:sp>
        <p:nvSpPr>
          <p:cNvPr id="7" name="Holder 7">
            <a:extLst>
              <a:ext uri="{FF2B5EF4-FFF2-40B4-BE49-F238E27FC236}">
                <a16:creationId xmlns:a16="http://schemas.microsoft.com/office/drawing/2014/main" id="{BFEE640D-511A-4C01-B77A-5329E9160856}"/>
              </a:ext>
            </a:extLst>
          </p:cNvPr>
          <p:cNvSpPr>
            <a:spLocks noGrp="1"/>
          </p:cNvSpPr>
          <p:nvPr>
            <p:ph type="sldNum" idx="7"/>
          </p:nvPr>
        </p:nvSpPr>
        <p:spPr/>
        <p:txBody>
          <a:bodyPr lIns="0" tIns="0" rIns="0" bIns="0"/>
          <a:lstStyle>
            <a:lvl1pPr>
              <a:buNone/>
              <a:defRPr sz="1350" b="0" i="0">
                <a:solidFill>
                  <a:srgbClr val="545454"/>
                </a:solidFill>
                <a:latin typeface="Arial MT"/>
                <a:ea typeface="Arial MT"/>
                <a:cs typeface="Arial MT"/>
              </a:defRPr>
            </a:lvl1pPr>
          </a:lstStyle>
          <a:p>
            <a:pPr marL="12700">
              <a:lnSpc>
                <a:spcPts val="1600"/>
              </a:lnSpc>
              <a:buNone/>
            </a:pPr>
            <a:fld id="{81D60167-4931-47E6-BA6A-407CBD079E47}" type="slidenum">
              <a:rPr spc="-25"/>
              <a:t>‹#›</a:t>
            </a:fld>
            <a:endParaRPr spc="-25"/>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a:extLst>
              <a:ext uri="{FF2B5EF4-FFF2-40B4-BE49-F238E27FC236}">
                <a16:creationId xmlns:a16="http://schemas.microsoft.com/office/drawing/2014/main" id="{C9F709B0-0512-4F05-991D-12DBD55117C2}"/>
              </a:ext>
            </a:extLst>
          </p:cNvPr>
          <p:cNvSpPr>
            <a:spLocks noGrp="1"/>
          </p:cNvSpPr>
          <p:nvPr>
            <p:ph type="title"/>
          </p:nvPr>
        </p:nvSpPr>
        <p:spPr/>
        <p:txBody>
          <a:bodyPr lIns="0" tIns="0" rIns="0" bIns="0"/>
          <a:lstStyle>
            <a:lvl1pPr>
              <a:buNone/>
              <a:defRPr sz="3300" b="0" i="0">
                <a:solidFill>
                  <a:schemeClr val="tx1"/>
                </a:solidFill>
                <a:latin typeface="Times New Roman"/>
                <a:ea typeface="Times New Roman"/>
                <a:cs typeface="Times New Roman"/>
              </a:defRPr>
            </a:lvl1pPr>
          </a:lstStyle>
          <a:p>
            <a:endParaRPr/>
          </a:p>
        </p:txBody>
      </p:sp>
      <p:sp>
        <p:nvSpPr>
          <p:cNvPr id="3" name="Holder 3">
            <a:extLst>
              <a:ext uri="{FF2B5EF4-FFF2-40B4-BE49-F238E27FC236}">
                <a16:creationId xmlns:a16="http://schemas.microsoft.com/office/drawing/2014/main" id="{0758C463-9798-4D8F-8082-DB07397F69B7}"/>
              </a:ext>
            </a:extLst>
          </p:cNvPr>
          <p:cNvSpPr>
            <a:spLocks noGrp="1"/>
          </p:cNvSpPr>
          <p:nvPr>
            <p:ph type="ftr" idx="5"/>
          </p:nvPr>
        </p:nvSpPr>
        <p:spPr/>
        <p:txBody>
          <a:bodyPr lIns="0" tIns="0" rIns="0" bIns="0"/>
          <a:lstStyle>
            <a:lvl1pPr>
              <a:buNone/>
              <a:defRPr sz="1450" b="0" i="0">
                <a:solidFill>
                  <a:srgbClr val="7C7C7C"/>
                </a:solidFill>
                <a:latin typeface="Times New Roman"/>
                <a:ea typeface="Times New Roman"/>
                <a:cs typeface="Times New Roman"/>
              </a:defRPr>
            </a:lvl1pPr>
          </a:lstStyle>
          <a:p>
            <a:pPr marL="12700">
              <a:lnSpc>
                <a:spcPts val="1689"/>
              </a:lnSpc>
              <a:buNone/>
            </a:pPr>
            <a:r>
              <a:rPr spc="-10"/>
              <a:t>Dept of AIML</a:t>
            </a:r>
            <a:endParaRPr spc="-85"/>
          </a:p>
        </p:txBody>
      </p:sp>
      <p:sp>
        <p:nvSpPr>
          <p:cNvPr id="4" name="Holder 4">
            <a:extLst>
              <a:ext uri="{FF2B5EF4-FFF2-40B4-BE49-F238E27FC236}">
                <a16:creationId xmlns:a16="http://schemas.microsoft.com/office/drawing/2014/main" id="{753A2464-BD3E-4AA3-8ABC-FADE33D55A5F}"/>
              </a:ext>
            </a:extLst>
          </p:cNvPr>
          <p:cNvSpPr>
            <a:spLocks noGrp="1"/>
          </p:cNvSpPr>
          <p:nvPr>
            <p:ph type="dt" idx="6"/>
          </p:nvPr>
        </p:nvSpPr>
        <p:spPr/>
        <p:txBody>
          <a:bodyPr lIns="0" tIns="0" rIns="0" bIns="0"/>
          <a:lstStyle>
            <a:lvl1pPr>
              <a:buNone/>
              <a:defRPr sz="1400" b="0" i="0">
                <a:solidFill>
                  <a:srgbClr val="7B7B7B"/>
                </a:solidFill>
                <a:latin typeface="Times New Roman"/>
                <a:ea typeface="Times New Roman"/>
                <a:cs typeface="Times New Roman"/>
              </a:defRPr>
            </a:lvl1pPr>
          </a:lstStyle>
          <a:p>
            <a:pPr marL="12700">
              <a:lnSpc>
                <a:spcPts val="1635"/>
              </a:lnSpc>
              <a:buNone/>
            </a:pPr>
            <a:r>
              <a:t>02-03-2026</a:t>
            </a:r>
            <a:endParaRPr spc="-20"/>
          </a:p>
        </p:txBody>
      </p:sp>
      <p:sp>
        <p:nvSpPr>
          <p:cNvPr id="5" name="Holder 5">
            <a:extLst>
              <a:ext uri="{FF2B5EF4-FFF2-40B4-BE49-F238E27FC236}">
                <a16:creationId xmlns:a16="http://schemas.microsoft.com/office/drawing/2014/main" id="{859697C0-54E0-4109-AE27-C2A935BBD99F}"/>
              </a:ext>
            </a:extLst>
          </p:cNvPr>
          <p:cNvSpPr>
            <a:spLocks noGrp="1"/>
          </p:cNvSpPr>
          <p:nvPr>
            <p:ph type="sldNum" idx="7"/>
          </p:nvPr>
        </p:nvSpPr>
        <p:spPr/>
        <p:txBody>
          <a:bodyPr lIns="0" tIns="0" rIns="0" bIns="0"/>
          <a:lstStyle>
            <a:lvl1pPr>
              <a:buNone/>
              <a:defRPr sz="1350" b="0" i="0">
                <a:solidFill>
                  <a:srgbClr val="545454"/>
                </a:solidFill>
                <a:latin typeface="Arial MT"/>
                <a:ea typeface="Arial MT"/>
                <a:cs typeface="Arial MT"/>
              </a:defRPr>
            </a:lvl1pPr>
          </a:lstStyle>
          <a:p>
            <a:pPr marL="12700">
              <a:lnSpc>
                <a:spcPts val="1600"/>
              </a:lnSpc>
              <a:buNone/>
            </a:pPr>
            <a:fld id="{81D60167-4931-47E6-BA6A-407CBD079E47}" type="slidenum">
              <a:rPr spc="-25"/>
              <a:t>‹#›</a:t>
            </a:fld>
            <a:endParaRPr spc="-25"/>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a:extLst>
              <a:ext uri="{FF2B5EF4-FFF2-40B4-BE49-F238E27FC236}">
                <a16:creationId xmlns:a16="http://schemas.microsoft.com/office/drawing/2014/main" id="{7D5DA88D-20F7-4A85-9F2E-1FA810E0394F}"/>
              </a:ext>
            </a:extLst>
          </p:cNvPr>
          <p:cNvSpPr>
            <a:spLocks noGrp="1"/>
          </p:cNvSpPr>
          <p:nvPr>
            <p:ph type="ftr" idx="5"/>
          </p:nvPr>
        </p:nvSpPr>
        <p:spPr/>
        <p:txBody>
          <a:bodyPr lIns="0" tIns="0" rIns="0" bIns="0"/>
          <a:lstStyle>
            <a:lvl1pPr>
              <a:buNone/>
              <a:defRPr sz="1450" b="0" i="0">
                <a:solidFill>
                  <a:srgbClr val="7C7C7C"/>
                </a:solidFill>
                <a:latin typeface="Times New Roman"/>
                <a:ea typeface="Times New Roman"/>
                <a:cs typeface="Times New Roman"/>
              </a:defRPr>
            </a:lvl1pPr>
          </a:lstStyle>
          <a:p>
            <a:pPr marL="12700">
              <a:lnSpc>
                <a:spcPts val="1689"/>
              </a:lnSpc>
              <a:buNone/>
            </a:pPr>
            <a:r>
              <a:rPr spc="-10"/>
              <a:t>Dept of AIML</a:t>
            </a:r>
            <a:endParaRPr spc="-85"/>
          </a:p>
        </p:txBody>
      </p:sp>
      <p:sp>
        <p:nvSpPr>
          <p:cNvPr id="3" name="Holder 3">
            <a:extLst>
              <a:ext uri="{FF2B5EF4-FFF2-40B4-BE49-F238E27FC236}">
                <a16:creationId xmlns:a16="http://schemas.microsoft.com/office/drawing/2014/main" id="{5D62C07C-F110-4C3F-AE5E-83EB305C3299}"/>
              </a:ext>
            </a:extLst>
          </p:cNvPr>
          <p:cNvSpPr>
            <a:spLocks noGrp="1"/>
          </p:cNvSpPr>
          <p:nvPr>
            <p:ph type="dt" idx="6"/>
          </p:nvPr>
        </p:nvSpPr>
        <p:spPr/>
        <p:txBody>
          <a:bodyPr lIns="0" tIns="0" rIns="0" bIns="0"/>
          <a:lstStyle>
            <a:lvl1pPr>
              <a:buNone/>
              <a:defRPr sz="1400" b="0" i="0">
                <a:solidFill>
                  <a:srgbClr val="7B7B7B"/>
                </a:solidFill>
                <a:latin typeface="Times New Roman"/>
                <a:ea typeface="Times New Roman"/>
                <a:cs typeface="Times New Roman"/>
              </a:defRPr>
            </a:lvl1pPr>
          </a:lstStyle>
          <a:p>
            <a:pPr marL="12700">
              <a:lnSpc>
                <a:spcPts val="1635"/>
              </a:lnSpc>
              <a:buNone/>
            </a:pPr>
            <a:r>
              <a:t>02-03-2026</a:t>
            </a:r>
            <a:endParaRPr spc="-20"/>
          </a:p>
        </p:txBody>
      </p:sp>
      <p:sp>
        <p:nvSpPr>
          <p:cNvPr id="4" name="Holder 4">
            <a:extLst>
              <a:ext uri="{FF2B5EF4-FFF2-40B4-BE49-F238E27FC236}">
                <a16:creationId xmlns:a16="http://schemas.microsoft.com/office/drawing/2014/main" id="{BC5195D1-F3B1-49CA-9406-DD45931AB26D}"/>
              </a:ext>
            </a:extLst>
          </p:cNvPr>
          <p:cNvSpPr>
            <a:spLocks noGrp="1"/>
          </p:cNvSpPr>
          <p:nvPr>
            <p:ph type="sldNum" idx="7"/>
          </p:nvPr>
        </p:nvSpPr>
        <p:spPr/>
        <p:txBody>
          <a:bodyPr lIns="0" tIns="0" rIns="0" bIns="0"/>
          <a:lstStyle>
            <a:lvl1pPr>
              <a:buNone/>
              <a:defRPr sz="1350" b="0" i="0">
                <a:solidFill>
                  <a:srgbClr val="545454"/>
                </a:solidFill>
                <a:latin typeface="Arial MT"/>
                <a:ea typeface="Arial MT"/>
                <a:cs typeface="Arial MT"/>
              </a:defRPr>
            </a:lvl1pPr>
          </a:lstStyle>
          <a:p>
            <a:pPr marL="12700">
              <a:lnSpc>
                <a:spcPts val="1600"/>
              </a:lnSpc>
              <a:buNone/>
            </a:pPr>
            <a:fld id="{81D60167-4931-47E6-BA6A-407CBD079E47}" type="slidenum">
              <a:rPr spc="-25"/>
              <a:t>‹#›</a:t>
            </a:fld>
            <a:endParaRPr spc="-25"/>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a:extLst>
              <a:ext uri="{FF2B5EF4-FFF2-40B4-BE49-F238E27FC236}">
                <a16:creationId xmlns:a16="http://schemas.microsoft.com/office/drawing/2014/main" id="{ABB4E8E8-A8FD-4354-959D-32E87E9410FF}"/>
              </a:ext>
            </a:extLst>
          </p:cNvPr>
          <p:cNvSpPr>
            <a:spLocks noGrp="1"/>
          </p:cNvSpPr>
          <p:nvPr>
            <p:ph type="title"/>
          </p:nvPr>
        </p:nvSpPr>
        <p:spPr>
          <a:xfrm>
            <a:off x="520388" y="688269"/>
            <a:ext cx="11151223" cy="813505"/>
          </a:xfrm>
          <a:prstGeom prst="rect">
            <a:avLst/>
          </a:prstGeom>
        </p:spPr>
        <p:txBody>
          <a:bodyPr wrap="square" lIns="0" tIns="0" rIns="0" bIns="0">
            <a:spAutoFit/>
          </a:bodyPr>
          <a:lstStyle>
            <a:lvl1pPr>
              <a:buNone/>
              <a:defRPr sz="3300" b="0" i="0">
                <a:solidFill>
                  <a:schemeClr val="tx1"/>
                </a:solidFill>
                <a:latin typeface="Times New Roman"/>
                <a:ea typeface="Times New Roman"/>
                <a:cs typeface="Times New Roman"/>
              </a:defRPr>
            </a:lvl1pPr>
          </a:lstStyle>
          <a:p>
            <a:endParaRPr/>
          </a:p>
        </p:txBody>
      </p:sp>
      <p:sp>
        <p:nvSpPr>
          <p:cNvPr id="3" name="Holder 3">
            <a:extLst>
              <a:ext uri="{FF2B5EF4-FFF2-40B4-BE49-F238E27FC236}">
                <a16:creationId xmlns:a16="http://schemas.microsoft.com/office/drawing/2014/main" id="{8B5A868E-8BFD-4682-8F26-1A344699BFE8}"/>
              </a:ext>
            </a:extLst>
          </p:cNvPr>
          <p:cNvSpPr>
            <a:spLocks noGrp="1"/>
          </p:cNvSpPr>
          <p:nvPr>
            <p:ph type="body" idx="1"/>
          </p:nvPr>
        </p:nvSpPr>
        <p:spPr>
          <a:xfrm>
            <a:off x="523153" y="1618544"/>
            <a:ext cx="11129645" cy="4114800"/>
          </a:xfrm>
          <a:prstGeom prst="rect">
            <a:avLst/>
          </a:prstGeom>
        </p:spPr>
        <p:txBody>
          <a:bodyPr wrap="square" lIns="0" tIns="0" rIns="0" bIns="0">
            <a:spAutoFit/>
          </a:bodyPr>
          <a:lstStyle>
            <a:lvl1pPr>
              <a:buNone/>
              <a:defRPr sz="1850" b="0" i="0">
                <a:solidFill>
                  <a:schemeClr val="tx1"/>
                </a:solidFill>
                <a:latin typeface="Times New Roman"/>
                <a:ea typeface="Times New Roman"/>
                <a:cs typeface="Times New Roman"/>
              </a:defRPr>
            </a:lvl1pPr>
          </a:lstStyle>
          <a:p>
            <a:endParaRPr/>
          </a:p>
        </p:txBody>
      </p:sp>
      <p:sp>
        <p:nvSpPr>
          <p:cNvPr id="4" name="Holder 4">
            <a:extLst>
              <a:ext uri="{FF2B5EF4-FFF2-40B4-BE49-F238E27FC236}">
                <a16:creationId xmlns:a16="http://schemas.microsoft.com/office/drawing/2014/main" id="{A8D2E84A-2A2E-4353-AA45-DB7A8A2A9918}"/>
              </a:ext>
            </a:extLst>
          </p:cNvPr>
          <p:cNvSpPr>
            <a:spLocks noGrp="1"/>
          </p:cNvSpPr>
          <p:nvPr>
            <p:ph type="ftr" idx="5"/>
          </p:nvPr>
        </p:nvSpPr>
        <p:spPr>
          <a:xfrm>
            <a:off x="6048383" y="6321483"/>
            <a:ext cx="1445259" cy="230504"/>
          </a:xfrm>
          <a:prstGeom prst="rect">
            <a:avLst/>
          </a:prstGeom>
        </p:spPr>
        <p:txBody>
          <a:bodyPr wrap="square" lIns="0" tIns="0" rIns="0" bIns="0">
            <a:spAutoFit/>
          </a:bodyPr>
          <a:lstStyle>
            <a:lvl1pPr>
              <a:buNone/>
              <a:defRPr sz="1450" b="0" i="0">
                <a:solidFill>
                  <a:srgbClr val="7C7C7C"/>
                </a:solidFill>
                <a:latin typeface="Times New Roman"/>
                <a:ea typeface="Times New Roman"/>
                <a:cs typeface="Times New Roman"/>
              </a:defRPr>
            </a:lvl1pPr>
          </a:lstStyle>
          <a:p>
            <a:pPr marL="12700">
              <a:lnSpc>
                <a:spcPts val="1689"/>
              </a:lnSpc>
              <a:buNone/>
            </a:pPr>
            <a:r>
              <a:rPr spc="-10"/>
              <a:t>Dept of AIML</a:t>
            </a:r>
            <a:endParaRPr spc="-85"/>
          </a:p>
        </p:txBody>
      </p:sp>
      <p:sp>
        <p:nvSpPr>
          <p:cNvPr id="5" name="Holder 5">
            <a:extLst>
              <a:ext uri="{FF2B5EF4-FFF2-40B4-BE49-F238E27FC236}">
                <a16:creationId xmlns:a16="http://schemas.microsoft.com/office/drawing/2014/main" id="{9C0F6674-0911-4FC5-AA06-944B9A23340D}"/>
              </a:ext>
            </a:extLst>
          </p:cNvPr>
          <p:cNvSpPr>
            <a:spLocks noGrp="1"/>
          </p:cNvSpPr>
          <p:nvPr>
            <p:ph type="dt" idx="6"/>
          </p:nvPr>
        </p:nvSpPr>
        <p:spPr>
          <a:xfrm>
            <a:off x="1132803" y="6333334"/>
            <a:ext cx="869314" cy="224154"/>
          </a:xfrm>
          <a:prstGeom prst="rect">
            <a:avLst/>
          </a:prstGeom>
        </p:spPr>
        <p:txBody>
          <a:bodyPr wrap="square" lIns="0" tIns="0" rIns="0" bIns="0">
            <a:spAutoFit/>
          </a:bodyPr>
          <a:lstStyle>
            <a:lvl1pPr>
              <a:buNone/>
              <a:defRPr sz="1400" b="0" i="0">
                <a:solidFill>
                  <a:srgbClr val="7B7B7B"/>
                </a:solidFill>
                <a:latin typeface="Times New Roman"/>
                <a:ea typeface="Times New Roman"/>
                <a:cs typeface="Times New Roman"/>
              </a:defRPr>
            </a:lvl1pPr>
          </a:lstStyle>
          <a:p>
            <a:pPr marL="12700">
              <a:lnSpc>
                <a:spcPts val="1635"/>
              </a:lnSpc>
              <a:buNone/>
            </a:pPr>
            <a:r>
              <a:t>02-03-2026</a:t>
            </a:r>
            <a:endParaRPr spc="-20"/>
          </a:p>
        </p:txBody>
      </p:sp>
      <p:sp>
        <p:nvSpPr>
          <p:cNvPr id="6" name="Holder 6">
            <a:extLst>
              <a:ext uri="{FF2B5EF4-FFF2-40B4-BE49-F238E27FC236}">
                <a16:creationId xmlns:a16="http://schemas.microsoft.com/office/drawing/2014/main" id="{AA9453DC-2375-4049-936A-AD3F185B182D}"/>
              </a:ext>
            </a:extLst>
          </p:cNvPr>
          <p:cNvSpPr>
            <a:spLocks noGrp="1"/>
          </p:cNvSpPr>
          <p:nvPr>
            <p:ph type="sldNum" idx="7"/>
          </p:nvPr>
        </p:nvSpPr>
        <p:spPr>
          <a:xfrm>
            <a:off x="11703277" y="6368138"/>
            <a:ext cx="244475" cy="219075"/>
          </a:xfrm>
          <a:prstGeom prst="rect">
            <a:avLst/>
          </a:prstGeom>
        </p:spPr>
        <p:txBody>
          <a:bodyPr wrap="square" lIns="0" tIns="0" rIns="0" bIns="0">
            <a:spAutoFit/>
          </a:bodyPr>
          <a:lstStyle>
            <a:lvl1pPr>
              <a:buNone/>
              <a:defRPr sz="1350" b="0" i="0">
                <a:solidFill>
                  <a:srgbClr val="545454"/>
                </a:solidFill>
                <a:latin typeface="Arial MT"/>
                <a:ea typeface="Arial MT"/>
                <a:cs typeface="Arial MT"/>
              </a:defRPr>
            </a:lvl1pPr>
          </a:lstStyle>
          <a:p>
            <a:pPr marL="12700">
              <a:lnSpc>
                <a:spcPts val="1600"/>
              </a:lnSpc>
              <a:buNone/>
            </a:pPr>
            <a:fld id="{81D60167-4931-47E6-BA6A-407CBD079E47}" type="slidenum">
              <a:rPr spc="-25"/>
              <a:t>‹#›</a:t>
            </a:fld>
            <a:endParaRPr spc="-25"/>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hdr="0"/>
  <p:txStyles>
    <p:titleStyle>
      <a:lvl1pPr>
        <a:buNone/>
        <a:defRPr>
          <a:latin typeface="+mj-lt"/>
          <a:ea typeface="+mj-lt"/>
          <a:cs typeface="+mj-lt"/>
        </a:defRPr>
      </a:lvl1pPr>
    </p:titleStyle>
    <p:bodyStyle>
      <a:lvl1pPr marL="0">
        <a:buNone/>
        <a:defRPr>
          <a:latin typeface="+mn-lt"/>
          <a:ea typeface="+mn-lt"/>
          <a:cs typeface="+mn-lt"/>
        </a:defRPr>
      </a:lvl1pPr>
      <a:lvl2pPr marL="457200">
        <a:buNone/>
        <a:defRPr>
          <a:latin typeface="+mn-lt"/>
          <a:ea typeface="+mn-lt"/>
          <a:cs typeface="+mn-lt"/>
        </a:defRPr>
      </a:lvl2pPr>
      <a:lvl3pPr marL="914400">
        <a:buNone/>
        <a:defRPr>
          <a:latin typeface="+mn-lt"/>
          <a:ea typeface="+mn-lt"/>
          <a:cs typeface="+mn-lt"/>
        </a:defRPr>
      </a:lvl3pPr>
      <a:lvl4pPr marL="1371600">
        <a:buNone/>
        <a:defRPr>
          <a:latin typeface="+mn-lt"/>
          <a:ea typeface="+mn-lt"/>
          <a:cs typeface="+mn-lt"/>
        </a:defRPr>
      </a:lvl4pPr>
      <a:lvl5pPr marL="1828800">
        <a:buNone/>
        <a:defRPr>
          <a:latin typeface="+mn-lt"/>
          <a:ea typeface="+mn-lt"/>
          <a:cs typeface="+mn-lt"/>
        </a:defRPr>
      </a:lvl5pPr>
      <a:lvl6pPr marL="2286000">
        <a:buNone/>
        <a:defRPr>
          <a:latin typeface="+mn-lt"/>
          <a:ea typeface="+mn-lt"/>
          <a:cs typeface="+mn-lt"/>
        </a:defRPr>
      </a:lvl6pPr>
      <a:lvl7pPr marL="2743200">
        <a:buNone/>
        <a:defRPr>
          <a:latin typeface="+mn-lt"/>
          <a:ea typeface="+mn-lt"/>
          <a:cs typeface="+mn-lt"/>
        </a:defRPr>
      </a:lvl7pPr>
      <a:lvl8pPr marL="3200400">
        <a:buNone/>
        <a:defRPr>
          <a:latin typeface="+mn-lt"/>
          <a:ea typeface="+mn-lt"/>
          <a:cs typeface="+mn-lt"/>
        </a:defRPr>
      </a:lvl8pPr>
      <a:lvl9pPr marL="3657600">
        <a:buNone/>
        <a:defRPr>
          <a:latin typeface="+mn-lt"/>
          <a:ea typeface="+mn-lt"/>
          <a:cs typeface="+mn-lt"/>
        </a:defRPr>
      </a:lvl9pPr>
    </p:bodyStyle>
    <p:otherStyle>
      <a:lvl1pPr marL="0">
        <a:buNone/>
        <a:defRPr>
          <a:latin typeface="+mn-lt"/>
          <a:ea typeface="+mn-lt"/>
          <a:cs typeface="+mn-lt"/>
        </a:defRPr>
      </a:lvl1pPr>
      <a:lvl2pPr marL="457200">
        <a:buNone/>
        <a:defRPr>
          <a:latin typeface="+mn-lt"/>
          <a:ea typeface="+mn-lt"/>
          <a:cs typeface="+mn-lt"/>
        </a:defRPr>
      </a:lvl2pPr>
      <a:lvl3pPr marL="914400">
        <a:buNone/>
        <a:defRPr>
          <a:latin typeface="+mn-lt"/>
          <a:ea typeface="+mn-lt"/>
          <a:cs typeface="+mn-lt"/>
        </a:defRPr>
      </a:lvl3pPr>
      <a:lvl4pPr marL="1371600">
        <a:buNone/>
        <a:defRPr>
          <a:latin typeface="+mn-lt"/>
          <a:ea typeface="+mn-lt"/>
          <a:cs typeface="+mn-lt"/>
        </a:defRPr>
      </a:lvl4pPr>
      <a:lvl5pPr marL="1828800">
        <a:buNone/>
        <a:defRPr>
          <a:latin typeface="+mn-lt"/>
          <a:ea typeface="+mn-lt"/>
          <a:cs typeface="+mn-lt"/>
        </a:defRPr>
      </a:lvl5pPr>
      <a:lvl6pPr marL="2286000">
        <a:buNone/>
        <a:defRPr>
          <a:latin typeface="+mn-lt"/>
          <a:ea typeface="+mn-lt"/>
          <a:cs typeface="+mn-lt"/>
        </a:defRPr>
      </a:lvl6pPr>
      <a:lvl7pPr marL="2743200">
        <a:buNone/>
        <a:defRPr>
          <a:latin typeface="+mn-lt"/>
          <a:ea typeface="+mn-lt"/>
          <a:cs typeface="+mn-lt"/>
        </a:defRPr>
      </a:lvl7pPr>
      <a:lvl8pPr marL="3200400">
        <a:buNone/>
        <a:defRPr>
          <a:latin typeface="+mn-lt"/>
          <a:ea typeface="+mn-lt"/>
          <a:cs typeface="+mn-lt"/>
        </a:defRPr>
      </a:lvl8pPr>
      <a:lvl9pPr marL="3657600">
        <a:buNone/>
        <a:defRPr>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5.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6.xml"/><Relationship Id="rId1" Type="http://schemas.openxmlformats.org/officeDocument/2006/relationships/slideLayout" Target="../slideLayouts/slideLayout5.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5" name="object 3"/>
          <p:cNvPicPr>
            <a:picLocks noChangeAspect="1"/>
          </p:cNvPicPr>
          <p:nvPr/>
        </p:nvPicPr>
        <p:blipFill>
          <a:blip r:embed="rId3"/>
          <a:stretch>
            <a:fillRect/>
          </a:stretch>
        </p:blipFill>
        <p:spPr>
          <a:xfrm>
            <a:off x="203200" y="2197100"/>
            <a:ext cx="1409700" cy="165100"/>
          </a:xfrm>
          <a:prstGeom prst="rect">
            <a:avLst/>
          </a:prstGeom>
        </p:spPr>
      </p:pic>
      <p:sp>
        <p:nvSpPr>
          <p:cNvPr id="9" name="object 9">
            <a:extLst>
              <a:ext uri="{FF2B5EF4-FFF2-40B4-BE49-F238E27FC236}">
                <a16:creationId xmlns:a16="http://schemas.microsoft.com/office/drawing/2014/main" id="{0761B252-1DD1-44B3-9474-DC65B2E9649D}"/>
              </a:ext>
            </a:extLst>
          </p:cNvPr>
          <p:cNvSpPr>
            <a:spLocks noGrp="1"/>
          </p:cNvSpPr>
          <p:nvPr>
            <p:ph type="ftr" idx="5"/>
          </p:nvPr>
        </p:nvSpPr>
        <p:spPr>
          <a:xfrm>
            <a:off x="6048383" y="6321483"/>
            <a:ext cx="1445259" cy="218008"/>
          </a:xfrm>
          <a:prstGeom prst="rect">
            <a:avLst/>
          </a:prstGeom>
        </p:spPr>
        <p:txBody>
          <a:bodyPr vert="horz" wrap="square" lIns="0" tIns="0" rIns="0" bIns="0">
            <a:spAutoFit/>
          </a:bodyPr>
          <a:lstStyle/>
          <a:p>
            <a:pPr marL="12700">
              <a:lnSpc>
                <a:spcPts val="1689"/>
              </a:lnSpc>
              <a:buNone/>
            </a:pPr>
            <a:r>
              <a:rPr spc="-10"/>
              <a:t>Dept</a:t>
            </a:r>
            <a:r>
              <a:rPr spc="-50"/>
              <a:t> </a:t>
            </a:r>
            <a:r>
              <a:rPr spc="-30">
                <a:solidFill>
                  <a:srgbClr val="7E7E7E"/>
                </a:solidFill>
              </a:rPr>
              <a:t>of</a:t>
            </a:r>
            <a:r>
              <a:rPr spc="-20">
                <a:solidFill>
                  <a:srgbClr val="7E7E7E"/>
                </a:solidFill>
              </a:rPr>
              <a:t> </a:t>
            </a:r>
            <a:r>
              <a:rPr spc="-85"/>
              <a:t>AIML</a:t>
            </a:r>
          </a:p>
        </p:txBody>
      </p:sp>
      <p:sp>
        <p:nvSpPr>
          <p:cNvPr id="10" name="object 10">
            <a:extLst>
              <a:ext uri="{FF2B5EF4-FFF2-40B4-BE49-F238E27FC236}">
                <a16:creationId xmlns:a16="http://schemas.microsoft.com/office/drawing/2014/main" id="{415A24EC-B21A-4DA0-8A2E-90E418F3DF0C}"/>
              </a:ext>
            </a:extLst>
          </p:cNvPr>
          <p:cNvSpPr>
            <a:spLocks noGrp="1"/>
          </p:cNvSpPr>
          <p:nvPr>
            <p:ph type="dt" idx="6"/>
          </p:nvPr>
        </p:nvSpPr>
        <p:spPr>
          <a:xfrm>
            <a:off x="1132803" y="6333334"/>
            <a:ext cx="869314" cy="205184"/>
          </a:xfrm>
          <a:prstGeom prst="rect">
            <a:avLst/>
          </a:prstGeom>
        </p:spPr>
        <p:txBody>
          <a:bodyPr vert="horz" wrap="square" lIns="0" tIns="0" rIns="0" bIns="0">
            <a:spAutoFit/>
          </a:bodyPr>
          <a:lstStyle/>
          <a:p>
            <a:pPr marL="12700">
              <a:lnSpc>
                <a:spcPts val="1635"/>
              </a:lnSpc>
              <a:buNone/>
            </a:pPr>
            <a:r>
              <a:t>22-08-2026</a:t>
            </a:r>
            <a:endParaRPr spc="-20"/>
          </a:p>
        </p:txBody>
      </p:sp>
      <p:sp>
        <p:nvSpPr>
          <p:cNvPr id="11" name="object 11">
            <a:extLst>
              <a:ext uri="{FF2B5EF4-FFF2-40B4-BE49-F238E27FC236}">
                <a16:creationId xmlns:a16="http://schemas.microsoft.com/office/drawing/2014/main" id="{1EDF6259-386E-400A-9B74-5FB3E8907439}"/>
              </a:ext>
            </a:extLst>
          </p:cNvPr>
          <p:cNvSpPr>
            <a:spLocks noGrp="1"/>
          </p:cNvSpPr>
          <p:nvPr>
            <p:ph type="sldNum" idx="7"/>
          </p:nvPr>
        </p:nvSpPr>
        <p:spPr>
          <a:prstGeom prst="rect">
            <a:avLst/>
          </a:prstGeom>
        </p:spPr>
        <p:txBody>
          <a:bodyPr vert="horz" wrap="square" lIns="0" tIns="0" rIns="0" bIns="0">
            <a:spAutoFit/>
          </a:bodyPr>
          <a:lstStyle/>
          <a:p>
            <a:pPr marL="12700">
              <a:lnSpc>
                <a:spcPts val="1600"/>
              </a:lnSpc>
              <a:buNone/>
            </a:pPr>
            <a:fld id="{81D60167-4931-47E6-BA6A-407CBD079E47}" type="slidenum">
              <a:rPr spc="-25"/>
              <a:t>1</a:t>
            </a:fld>
            <a:endParaRPr spc="-25"/>
          </a:p>
        </p:txBody>
      </p:sp>
      <p:sp>
        <p:nvSpPr>
          <p:cNvPr id="5" name="object 5">
            <a:extLst>
              <a:ext uri="{FF2B5EF4-FFF2-40B4-BE49-F238E27FC236}">
                <a16:creationId xmlns:a16="http://schemas.microsoft.com/office/drawing/2014/main" id="{F397AEF7-2C92-4C26-AE6F-3D1E68291B3E}"/>
              </a:ext>
            </a:extLst>
          </p:cNvPr>
          <p:cNvSpPr>
            <a:spLocks noGrp="1"/>
          </p:cNvSpPr>
          <p:nvPr/>
        </p:nvSpPr>
        <p:spPr>
          <a:xfrm>
            <a:off x="1613815" y="66498"/>
            <a:ext cx="10177780" cy="1268095"/>
          </a:xfrm>
          <a:prstGeom prst="rect">
            <a:avLst/>
          </a:prstGeom>
        </p:spPr>
        <p:txBody>
          <a:bodyPr vert="horz" wrap="square" lIns="0" tIns="15875" rIns="0" bIns="0">
            <a:spAutoFit/>
          </a:bodyPr>
          <a:lstStyle/>
          <a:p>
            <a:pPr marL="12700">
              <a:lnSpc>
                <a:spcPts val="3020"/>
              </a:lnSpc>
              <a:spcBef>
                <a:spcPts val="125"/>
              </a:spcBef>
              <a:buNone/>
              <a:tabLst>
                <a:tab pos="4298950" algn="l"/>
                <a:tab pos="7403465" algn="l"/>
              </a:tabLst>
            </a:pPr>
            <a:r>
              <a:rPr sz="2550" spc="140">
                <a:solidFill>
                  <a:srgbClr val="F90000"/>
                </a:solidFill>
                <a:latin typeface="Times New Roman"/>
                <a:ea typeface="Times New Roman"/>
                <a:cs typeface="Times New Roman"/>
              </a:rPr>
              <a:t>MANGALORE</a:t>
            </a:r>
            <a:r>
              <a:rPr sz="2550" spc="295">
                <a:solidFill>
                  <a:srgbClr val="F90000"/>
                </a:solidFill>
                <a:latin typeface="Times New Roman"/>
                <a:ea typeface="Times New Roman"/>
                <a:cs typeface="Times New Roman"/>
              </a:rPr>
              <a:t> </a:t>
            </a:r>
            <a:r>
              <a:rPr sz="2550" spc="114">
                <a:solidFill>
                  <a:srgbClr val="FB0000"/>
                </a:solidFill>
                <a:latin typeface="Times New Roman"/>
                <a:ea typeface="Times New Roman"/>
                <a:cs typeface="Times New Roman"/>
              </a:rPr>
              <a:t>INSTITUTE</a:t>
            </a:r>
            <a:r>
              <a:rPr sz="2550">
                <a:solidFill>
                  <a:srgbClr val="FB0000"/>
                </a:solidFill>
                <a:latin typeface="Times New Roman"/>
                <a:ea typeface="Times New Roman"/>
                <a:cs typeface="Times New Roman"/>
              </a:rPr>
              <a:t>	</a:t>
            </a:r>
            <a:r>
              <a:rPr sz="2550" spc="140">
                <a:solidFill>
                  <a:srgbClr val="F90001"/>
                </a:solidFill>
                <a:latin typeface="Times New Roman"/>
                <a:ea typeface="Times New Roman"/>
                <a:cs typeface="Times New Roman"/>
              </a:rPr>
              <a:t>OF</a:t>
            </a:r>
            <a:r>
              <a:rPr sz="2550" spc="165">
                <a:solidFill>
                  <a:srgbClr val="F90001"/>
                </a:solidFill>
                <a:latin typeface="Times New Roman"/>
                <a:ea typeface="Times New Roman"/>
                <a:cs typeface="Times New Roman"/>
              </a:rPr>
              <a:t> </a:t>
            </a:r>
            <a:r>
              <a:rPr sz="2550" spc="140">
                <a:solidFill>
                  <a:srgbClr val="FB0700"/>
                </a:solidFill>
                <a:latin typeface="Times New Roman"/>
                <a:ea typeface="Times New Roman"/>
                <a:cs typeface="Times New Roman"/>
              </a:rPr>
              <a:t>TECHNOLOGY</a:t>
            </a:r>
            <a:r>
              <a:rPr sz="2550">
                <a:solidFill>
                  <a:srgbClr val="FB0700"/>
                </a:solidFill>
                <a:latin typeface="Times New Roman"/>
                <a:ea typeface="Times New Roman"/>
                <a:cs typeface="Times New Roman"/>
              </a:rPr>
              <a:t>	</a:t>
            </a:r>
            <a:r>
              <a:rPr sz="2550" spc="135">
                <a:solidFill>
                  <a:srgbClr val="FB0001"/>
                </a:solidFill>
                <a:latin typeface="Times New Roman"/>
                <a:ea typeface="Times New Roman"/>
                <a:cs typeface="Times New Roman"/>
              </a:rPr>
              <a:t>&amp;</a:t>
            </a:r>
            <a:r>
              <a:rPr sz="2550" spc="105">
                <a:solidFill>
                  <a:srgbClr val="FB0001"/>
                </a:solidFill>
                <a:latin typeface="Times New Roman"/>
                <a:ea typeface="Times New Roman"/>
                <a:cs typeface="Times New Roman"/>
              </a:rPr>
              <a:t> </a:t>
            </a:r>
            <a:r>
              <a:rPr sz="2550" spc="125">
                <a:solidFill>
                  <a:srgbClr val="FB0300"/>
                </a:solidFill>
                <a:latin typeface="Times New Roman"/>
                <a:ea typeface="Times New Roman"/>
                <a:cs typeface="Times New Roman"/>
              </a:rPr>
              <a:t>ENGINEERING</a:t>
            </a:r>
            <a:endParaRPr sz="2550">
              <a:latin typeface="Times New Roman"/>
              <a:ea typeface="Times New Roman"/>
              <a:cs typeface="Times New Roman"/>
            </a:endParaRPr>
          </a:p>
          <a:p>
            <a:pPr marL="2484755">
              <a:lnSpc>
                <a:spcPts val="2220"/>
              </a:lnSpc>
              <a:buNone/>
            </a:pPr>
            <a:r>
              <a:rPr sz="1900">
                <a:solidFill>
                  <a:srgbClr val="001F5E"/>
                </a:solidFill>
                <a:latin typeface="Times New Roman"/>
                <a:ea typeface="Times New Roman"/>
                <a:cs typeface="Times New Roman"/>
              </a:rPr>
              <a:t>(A</a:t>
            </a:r>
            <a:r>
              <a:rPr sz="1900" spc="215">
                <a:solidFill>
                  <a:srgbClr val="001F5E"/>
                </a:solidFill>
                <a:latin typeface="Times New Roman"/>
                <a:ea typeface="Times New Roman"/>
                <a:cs typeface="Times New Roman"/>
              </a:rPr>
              <a:t> </a:t>
            </a:r>
            <a:r>
              <a:rPr sz="1900">
                <a:solidFill>
                  <a:srgbClr val="002167"/>
                </a:solidFill>
                <a:latin typeface="Times New Roman"/>
                <a:ea typeface="Times New Roman"/>
                <a:cs typeface="Times New Roman"/>
              </a:rPr>
              <a:t>Unit</a:t>
            </a:r>
            <a:r>
              <a:rPr sz="1900" spc="204">
                <a:solidFill>
                  <a:srgbClr val="002167"/>
                </a:solidFill>
                <a:latin typeface="Times New Roman"/>
                <a:ea typeface="Times New Roman"/>
                <a:cs typeface="Times New Roman"/>
              </a:rPr>
              <a:t> </a:t>
            </a:r>
            <a:r>
              <a:rPr sz="1900">
                <a:solidFill>
                  <a:srgbClr val="002156"/>
                </a:solidFill>
                <a:latin typeface="Times New Roman"/>
                <a:ea typeface="Times New Roman"/>
                <a:cs typeface="Times New Roman"/>
              </a:rPr>
              <a:t>of</a:t>
            </a:r>
            <a:r>
              <a:rPr sz="1900" spc="120">
                <a:solidFill>
                  <a:srgbClr val="002156"/>
                </a:solidFill>
                <a:latin typeface="Times New Roman"/>
                <a:ea typeface="Times New Roman"/>
                <a:cs typeface="Times New Roman"/>
              </a:rPr>
              <a:t> </a:t>
            </a:r>
            <a:r>
              <a:rPr sz="1900">
                <a:solidFill>
                  <a:srgbClr val="002162"/>
                </a:solidFill>
                <a:latin typeface="Times New Roman"/>
                <a:ea typeface="Times New Roman"/>
                <a:cs typeface="Times New Roman"/>
              </a:rPr>
              <a:t>Rajalaxmi</a:t>
            </a:r>
            <a:r>
              <a:rPr sz="1900" spc="204">
                <a:solidFill>
                  <a:srgbClr val="002162"/>
                </a:solidFill>
                <a:latin typeface="Times New Roman"/>
                <a:ea typeface="Times New Roman"/>
                <a:cs typeface="Times New Roman"/>
              </a:rPr>
              <a:t> </a:t>
            </a:r>
            <a:r>
              <a:rPr sz="1900">
                <a:solidFill>
                  <a:srgbClr val="031859"/>
                </a:solidFill>
                <a:latin typeface="Times New Roman"/>
                <a:ea typeface="Times New Roman"/>
                <a:cs typeface="Times New Roman"/>
              </a:rPr>
              <a:t>Education</a:t>
            </a:r>
            <a:r>
              <a:rPr sz="1900" spc="315">
                <a:solidFill>
                  <a:srgbClr val="031859"/>
                </a:solidFill>
                <a:latin typeface="Times New Roman"/>
                <a:ea typeface="Times New Roman"/>
                <a:cs typeface="Times New Roman"/>
              </a:rPr>
              <a:t> </a:t>
            </a:r>
            <a:r>
              <a:rPr sz="1900">
                <a:solidFill>
                  <a:srgbClr val="08216B"/>
                </a:solidFill>
                <a:latin typeface="Times New Roman"/>
                <a:ea typeface="Times New Roman"/>
                <a:cs typeface="Times New Roman"/>
              </a:rPr>
              <a:t>Trust</a:t>
            </a:r>
            <a:r>
              <a:rPr sz="1900">
                <a:solidFill>
                  <a:srgbClr val="051F5D"/>
                </a:solidFill>
                <a:latin typeface="Times New Roman"/>
                <a:ea typeface="Times New Roman"/>
                <a:cs typeface="Times New Roman"/>
              </a:rPr>
              <a:t>O,</a:t>
            </a:r>
            <a:r>
              <a:rPr sz="1900" spc="95">
                <a:solidFill>
                  <a:srgbClr val="051F5D"/>
                </a:solidFill>
                <a:latin typeface="Times New Roman"/>
                <a:ea typeface="Times New Roman"/>
                <a:cs typeface="Times New Roman"/>
              </a:rPr>
              <a:t> </a:t>
            </a:r>
            <a:r>
              <a:rPr sz="1900" spc="-10">
                <a:solidFill>
                  <a:srgbClr val="001F64"/>
                </a:solidFill>
                <a:latin typeface="Times New Roman"/>
                <a:ea typeface="Times New Roman"/>
                <a:cs typeface="Times New Roman"/>
              </a:rPr>
              <a:t>Mangalore)</a:t>
            </a:r>
            <a:endParaRPr sz="1900">
              <a:latin typeface="Times New Roman"/>
              <a:ea typeface="Times New Roman"/>
              <a:cs typeface="Times New Roman"/>
            </a:endParaRPr>
          </a:p>
          <a:p>
            <a:pPr marL="1743075" marR="562610" indent="-711200">
              <a:lnSpc>
                <a:spcPts val="2250"/>
              </a:lnSpc>
              <a:spcBef>
                <a:spcPts val="85"/>
              </a:spcBef>
              <a:buNone/>
            </a:pPr>
            <a:r>
              <a:rPr sz="1900">
                <a:solidFill>
                  <a:srgbClr val="011C5D"/>
                </a:solidFill>
                <a:latin typeface="Times New Roman"/>
                <a:ea typeface="Times New Roman"/>
                <a:cs typeface="Times New Roman"/>
              </a:rPr>
              <a:t>Autonomous</a:t>
            </a:r>
            <a:r>
              <a:rPr sz="1900" spc="200">
                <a:solidFill>
                  <a:srgbClr val="011C5D"/>
                </a:solidFill>
                <a:latin typeface="Times New Roman"/>
                <a:ea typeface="Times New Roman"/>
                <a:cs typeface="Times New Roman"/>
              </a:rPr>
              <a:t> </a:t>
            </a:r>
            <a:r>
              <a:rPr sz="1900">
                <a:solidFill>
                  <a:srgbClr val="052162"/>
                </a:solidFill>
                <a:latin typeface="Times New Roman"/>
                <a:ea typeface="Times New Roman"/>
                <a:cs typeface="Times New Roman"/>
              </a:rPr>
              <a:t>Institute</a:t>
            </a:r>
            <a:r>
              <a:rPr sz="1900" spc="170">
                <a:solidFill>
                  <a:srgbClr val="052162"/>
                </a:solidFill>
                <a:latin typeface="Times New Roman"/>
                <a:ea typeface="Times New Roman"/>
                <a:cs typeface="Times New Roman"/>
              </a:rPr>
              <a:t> </a:t>
            </a:r>
            <a:r>
              <a:rPr sz="1900">
                <a:solidFill>
                  <a:srgbClr val="011F62"/>
                </a:solidFill>
                <a:latin typeface="Times New Roman"/>
                <a:ea typeface="Times New Roman"/>
                <a:cs typeface="Times New Roman"/>
              </a:rPr>
              <a:t>affiEated</a:t>
            </a:r>
            <a:r>
              <a:rPr sz="1900" spc="155">
                <a:solidFill>
                  <a:srgbClr val="011F62"/>
                </a:solidFill>
                <a:latin typeface="Times New Roman"/>
                <a:ea typeface="Times New Roman"/>
                <a:cs typeface="Times New Roman"/>
              </a:rPr>
              <a:t> </a:t>
            </a:r>
            <a:r>
              <a:rPr sz="1900">
                <a:solidFill>
                  <a:srgbClr val="011C64"/>
                </a:solidFill>
                <a:latin typeface="Times New Roman"/>
                <a:ea typeface="Times New Roman"/>
                <a:cs typeface="Times New Roman"/>
              </a:rPr>
              <a:t>to </a:t>
            </a:r>
            <a:r>
              <a:rPr sz="1900" spc="-55">
                <a:solidFill>
                  <a:srgbClr val="052462"/>
                </a:solidFill>
                <a:latin typeface="Times New Roman"/>
                <a:ea typeface="Times New Roman"/>
                <a:cs typeface="Times New Roman"/>
              </a:rPr>
              <a:t>V.T.U.,</a:t>
            </a:r>
            <a:r>
              <a:rPr sz="1900" spc="60">
                <a:solidFill>
                  <a:srgbClr val="052462"/>
                </a:solidFill>
                <a:latin typeface="Times New Roman"/>
                <a:ea typeface="Times New Roman"/>
                <a:cs typeface="Times New Roman"/>
              </a:rPr>
              <a:t> </a:t>
            </a:r>
            <a:r>
              <a:rPr sz="1900">
                <a:solidFill>
                  <a:srgbClr val="032160"/>
                </a:solidFill>
                <a:latin typeface="Times New Roman"/>
                <a:ea typeface="Times New Roman"/>
                <a:cs typeface="Times New Roman"/>
              </a:rPr>
              <a:t>Belagavi,</a:t>
            </a:r>
            <a:r>
              <a:rPr sz="1900" spc="180">
                <a:solidFill>
                  <a:srgbClr val="032160"/>
                </a:solidFill>
                <a:latin typeface="Times New Roman"/>
                <a:ea typeface="Times New Roman"/>
                <a:cs typeface="Times New Roman"/>
              </a:rPr>
              <a:t> </a:t>
            </a:r>
            <a:r>
              <a:rPr sz="1900">
                <a:solidFill>
                  <a:srgbClr val="001D54"/>
                </a:solidFill>
                <a:latin typeface="Times New Roman"/>
                <a:ea typeface="Times New Roman"/>
                <a:cs typeface="Times New Roman"/>
              </a:rPr>
              <a:t>Approved</a:t>
            </a:r>
            <a:r>
              <a:rPr sz="1900" spc="320">
                <a:solidFill>
                  <a:srgbClr val="001D54"/>
                </a:solidFill>
                <a:latin typeface="Times New Roman"/>
                <a:ea typeface="Times New Roman"/>
                <a:cs typeface="Times New Roman"/>
              </a:rPr>
              <a:t> </a:t>
            </a:r>
            <a:r>
              <a:rPr sz="1900">
                <a:solidFill>
                  <a:srgbClr val="001F60"/>
                </a:solidFill>
                <a:latin typeface="Times New Roman"/>
                <a:ea typeface="Times New Roman"/>
                <a:cs typeface="Times New Roman"/>
              </a:rPr>
              <a:t>by</a:t>
            </a:r>
            <a:r>
              <a:rPr sz="1900" spc="70">
                <a:solidFill>
                  <a:srgbClr val="001F60"/>
                </a:solidFill>
                <a:latin typeface="Times New Roman"/>
                <a:ea typeface="Times New Roman"/>
                <a:cs typeface="Times New Roman"/>
              </a:rPr>
              <a:t> </a:t>
            </a:r>
            <a:r>
              <a:rPr sz="1900">
                <a:solidFill>
                  <a:srgbClr val="03215D"/>
                </a:solidFill>
                <a:latin typeface="Times New Roman"/>
                <a:ea typeface="Times New Roman"/>
                <a:cs typeface="Times New Roman"/>
              </a:rPr>
              <a:t>AICTE,</a:t>
            </a:r>
            <a:r>
              <a:rPr sz="1900" spc="165">
                <a:solidFill>
                  <a:srgbClr val="03215D"/>
                </a:solidFill>
                <a:latin typeface="Times New Roman"/>
                <a:ea typeface="Times New Roman"/>
                <a:cs typeface="Times New Roman"/>
              </a:rPr>
              <a:t> </a:t>
            </a:r>
            <a:r>
              <a:rPr sz="1900" spc="-30">
                <a:solidFill>
                  <a:srgbClr val="001C59"/>
                </a:solidFill>
                <a:latin typeface="Times New Roman"/>
                <a:ea typeface="Times New Roman"/>
                <a:cs typeface="Times New Roman"/>
              </a:rPr>
              <a:t>New</a:t>
            </a:r>
            <a:r>
              <a:rPr sz="1900" spc="150">
                <a:solidFill>
                  <a:srgbClr val="001C59"/>
                </a:solidFill>
                <a:latin typeface="Times New Roman"/>
                <a:ea typeface="Times New Roman"/>
                <a:cs typeface="Times New Roman"/>
              </a:rPr>
              <a:t> </a:t>
            </a:r>
            <a:r>
              <a:rPr sz="1900" spc="-10">
                <a:solidFill>
                  <a:srgbClr val="031C5B"/>
                </a:solidFill>
                <a:latin typeface="Times New Roman"/>
                <a:ea typeface="Times New Roman"/>
                <a:cs typeface="Times New Roman"/>
              </a:rPr>
              <a:t>Delhi. </a:t>
            </a:r>
            <a:r>
              <a:rPr sz="1900">
                <a:solidFill>
                  <a:srgbClr val="001F5D"/>
                </a:solidFill>
                <a:latin typeface="Times New Roman"/>
                <a:ea typeface="Times New Roman"/>
                <a:cs typeface="Times New Roman"/>
              </a:rPr>
              <a:t>Accredited</a:t>
            </a:r>
            <a:r>
              <a:rPr sz="1900" spc="265">
                <a:solidFill>
                  <a:srgbClr val="001F5D"/>
                </a:solidFill>
                <a:latin typeface="Times New Roman"/>
                <a:ea typeface="Times New Roman"/>
                <a:cs typeface="Times New Roman"/>
              </a:rPr>
              <a:t> </a:t>
            </a:r>
            <a:r>
              <a:rPr sz="1900">
                <a:solidFill>
                  <a:srgbClr val="011F64"/>
                </a:solidFill>
                <a:latin typeface="Times New Roman"/>
                <a:ea typeface="Times New Roman"/>
                <a:cs typeface="Times New Roman"/>
              </a:rPr>
              <a:t>by</a:t>
            </a:r>
            <a:r>
              <a:rPr sz="1900" spc="65">
                <a:solidFill>
                  <a:srgbClr val="011F64"/>
                </a:solidFill>
                <a:latin typeface="Times New Roman"/>
                <a:ea typeface="Times New Roman"/>
                <a:cs typeface="Times New Roman"/>
              </a:rPr>
              <a:t> </a:t>
            </a:r>
            <a:r>
              <a:rPr sz="1900" spc="-10">
                <a:solidFill>
                  <a:srgbClr val="031F5B"/>
                </a:solidFill>
                <a:latin typeface="Times New Roman"/>
                <a:ea typeface="Times New Roman"/>
                <a:cs typeface="Times New Roman"/>
              </a:rPr>
              <a:t>NAAC</a:t>
            </a:r>
            <a:r>
              <a:rPr sz="1900" spc="135">
                <a:solidFill>
                  <a:srgbClr val="031F5B"/>
                </a:solidFill>
                <a:latin typeface="Times New Roman"/>
                <a:ea typeface="Times New Roman"/>
                <a:cs typeface="Times New Roman"/>
              </a:rPr>
              <a:t> </a:t>
            </a:r>
            <a:r>
              <a:rPr sz="1900">
                <a:solidFill>
                  <a:srgbClr val="002360"/>
                </a:solidFill>
                <a:latin typeface="Times New Roman"/>
                <a:ea typeface="Times New Roman"/>
                <a:cs typeface="Times New Roman"/>
              </a:rPr>
              <a:t>with</a:t>
            </a:r>
            <a:r>
              <a:rPr sz="1900" spc="55">
                <a:solidFill>
                  <a:srgbClr val="002360"/>
                </a:solidFill>
                <a:latin typeface="Times New Roman"/>
                <a:ea typeface="Times New Roman"/>
                <a:cs typeface="Times New Roman"/>
              </a:rPr>
              <a:t> </a:t>
            </a:r>
            <a:r>
              <a:rPr sz="1900">
                <a:solidFill>
                  <a:srgbClr val="002164"/>
                </a:solidFill>
                <a:latin typeface="Times New Roman"/>
                <a:ea typeface="Times New Roman"/>
                <a:cs typeface="Times New Roman"/>
              </a:rPr>
              <a:t>A+</a:t>
            </a:r>
            <a:r>
              <a:rPr sz="1900" spc="85">
                <a:solidFill>
                  <a:srgbClr val="002164"/>
                </a:solidFill>
                <a:latin typeface="Times New Roman"/>
                <a:ea typeface="Times New Roman"/>
                <a:cs typeface="Times New Roman"/>
              </a:rPr>
              <a:t> </a:t>
            </a:r>
            <a:r>
              <a:rPr sz="1900" spc="55">
                <a:solidFill>
                  <a:srgbClr val="00215D"/>
                </a:solidFill>
                <a:latin typeface="Times New Roman"/>
                <a:ea typeface="Times New Roman"/>
                <a:cs typeface="Times New Roman"/>
              </a:rPr>
              <a:t>Grade,</a:t>
            </a:r>
            <a:r>
              <a:rPr sz="1900" spc="10">
                <a:solidFill>
                  <a:srgbClr val="00215D"/>
                </a:solidFill>
                <a:latin typeface="Times New Roman"/>
                <a:ea typeface="Times New Roman"/>
                <a:cs typeface="Times New Roman"/>
              </a:rPr>
              <a:t> </a:t>
            </a:r>
            <a:r>
              <a:rPr sz="1900">
                <a:solidFill>
                  <a:srgbClr val="001F60"/>
                </a:solidFill>
                <a:latin typeface="Times New Roman"/>
                <a:ea typeface="Times New Roman"/>
                <a:cs typeface="Times New Roman"/>
              </a:rPr>
              <a:t>An</a:t>
            </a:r>
            <a:r>
              <a:rPr sz="1900" spc="75">
                <a:solidFill>
                  <a:srgbClr val="001F60"/>
                </a:solidFill>
                <a:latin typeface="Times New Roman"/>
                <a:ea typeface="Times New Roman"/>
                <a:cs typeface="Times New Roman"/>
              </a:rPr>
              <a:t> </a:t>
            </a:r>
            <a:r>
              <a:rPr sz="1900">
                <a:solidFill>
                  <a:srgbClr val="001F5E"/>
                </a:solidFill>
                <a:latin typeface="Times New Roman"/>
                <a:ea typeface="Times New Roman"/>
                <a:cs typeface="Times New Roman"/>
              </a:rPr>
              <a:t>ISO</a:t>
            </a:r>
            <a:r>
              <a:rPr sz="1900" spc="-5">
                <a:solidFill>
                  <a:srgbClr val="001F5E"/>
                </a:solidFill>
                <a:latin typeface="Times New Roman"/>
                <a:ea typeface="Times New Roman"/>
                <a:cs typeface="Times New Roman"/>
              </a:rPr>
              <a:t> </a:t>
            </a:r>
            <a:r>
              <a:rPr sz="1900">
                <a:solidFill>
                  <a:srgbClr val="051856"/>
                </a:solidFill>
                <a:latin typeface="Times New Roman"/>
                <a:ea typeface="Times New Roman"/>
                <a:cs typeface="Times New Roman"/>
              </a:rPr>
              <a:t>9001:</a:t>
            </a:r>
            <a:r>
              <a:rPr sz="1900" spc="100">
                <a:solidFill>
                  <a:srgbClr val="051856"/>
                </a:solidFill>
                <a:latin typeface="Times New Roman"/>
                <a:ea typeface="Times New Roman"/>
                <a:cs typeface="Times New Roman"/>
              </a:rPr>
              <a:t> </a:t>
            </a:r>
            <a:r>
              <a:rPr sz="1900" spc="-10">
                <a:solidFill>
                  <a:srgbClr val="00235B"/>
                </a:solidFill>
                <a:latin typeface="Times New Roman"/>
                <a:ea typeface="Times New Roman"/>
                <a:cs typeface="Times New Roman"/>
              </a:rPr>
              <a:t>2015</a:t>
            </a:r>
            <a:r>
              <a:rPr sz="1900" spc="15">
                <a:solidFill>
                  <a:srgbClr val="00235B"/>
                </a:solidFill>
                <a:latin typeface="Times New Roman"/>
                <a:ea typeface="Times New Roman"/>
                <a:cs typeface="Times New Roman"/>
              </a:rPr>
              <a:t> </a:t>
            </a:r>
            <a:r>
              <a:rPr sz="1900">
                <a:solidFill>
                  <a:srgbClr val="001F5B"/>
                </a:solidFill>
                <a:latin typeface="Times New Roman"/>
                <a:ea typeface="Times New Roman"/>
                <a:cs typeface="Times New Roman"/>
              </a:rPr>
              <a:t>Certified</a:t>
            </a:r>
            <a:r>
              <a:rPr sz="1900" spc="90">
                <a:solidFill>
                  <a:srgbClr val="001F5B"/>
                </a:solidFill>
                <a:latin typeface="Times New Roman"/>
                <a:ea typeface="Times New Roman"/>
                <a:cs typeface="Times New Roman"/>
              </a:rPr>
              <a:t> </a:t>
            </a:r>
            <a:r>
              <a:rPr sz="1900" spc="-10">
                <a:solidFill>
                  <a:srgbClr val="071D64"/>
                </a:solidFill>
                <a:latin typeface="Times New Roman"/>
                <a:ea typeface="Times New Roman"/>
                <a:cs typeface="Times New Roman"/>
              </a:rPr>
              <a:t>Institution</a:t>
            </a:r>
            <a:endParaRPr sz="1900">
              <a:latin typeface="Times New Roman"/>
              <a:ea typeface="Times New Roman"/>
              <a:cs typeface="Times New Roman"/>
            </a:endParaRPr>
          </a:p>
        </p:txBody>
      </p:sp>
      <p:sp>
        <p:nvSpPr>
          <p:cNvPr id="6" name="object 6">
            <a:extLst>
              <a:ext uri="{FF2B5EF4-FFF2-40B4-BE49-F238E27FC236}">
                <a16:creationId xmlns:a16="http://schemas.microsoft.com/office/drawing/2014/main" id="{0E99A6E3-ACA1-4107-B004-09A2CB57B598}"/>
              </a:ext>
            </a:extLst>
          </p:cNvPr>
          <p:cNvSpPr>
            <a:spLocks noGrp="1"/>
          </p:cNvSpPr>
          <p:nvPr/>
        </p:nvSpPr>
        <p:spPr>
          <a:xfrm>
            <a:off x="109583" y="1693421"/>
            <a:ext cx="11999595" cy="3192028"/>
          </a:xfrm>
          <a:prstGeom prst="rect">
            <a:avLst/>
          </a:prstGeom>
        </p:spPr>
        <p:txBody>
          <a:bodyPr vert="horz" wrap="square" lIns="0" tIns="119380" rIns="0" bIns="0">
            <a:spAutoFit/>
          </a:bodyPr>
          <a:lstStyle/>
          <a:p>
            <a:pPr marL="1536700">
              <a:lnSpc>
                <a:spcPct val="100000"/>
              </a:lnSpc>
              <a:spcBef>
                <a:spcPts val="940"/>
              </a:spcBef>
              <a:buNone/>
            </a:pPr>
            <a:r>
              <a:rPr sz="2100">
                <a:solidFill>
                  <a:srgbClr val="006EC3"/>
                </a:solidFill>
                <a:latin typeface="Times New Roman"/>
                <a:ea typeface="Times New Roman"/>
                <a:cs typeface="Times New Roman"/>
              </a:rPr>
              <a:t>DEPARTMENT</a:t>
            </a:r>
            <a:r>
              <a:rPr sz="2100" spc="370">
                <a:solidFill>
                  <a:srgbClr val="006EC3"/>
                </a:solidFill>
                <a:latin typeface="Times New Roman"/>
                <a:ea typeface="Times New Roman"/>
                <a:cs typeface="Times New Roman"/>
              </a:rPr>
              <a:t> </a:t>
            </a:r>
            <a:r>
              <a:rPr sz="2100" spc="140">
                <a:solidFill>
                  <a:srgbClr val="0070C1"/>
                </a:solidFill>
                <a:latin typeface="Times New Roman"/>
                <a:ea typeface="Times New Roman"/>
                <a:cs typeface="Times New Roman"/>
              </a:rPr>
              <a:t>OF</a:t>
            </a:r>
            <a:r>
              <a:rPr sz="2100" spc="50">
                <a:solidFill>
                  <a:srgbClr val="0070C1"/>
                </a:solidFill>
                <a:latin typeface="Times New Roman"/>
                <a:ea typeface="Times New Roman"/>
                <a:cs typeface="Times New Roman"/>
              </a:rPr>
              <a:t> </a:t>
            </a:r>
            <a:r>
              <a:rPr sz="2100" spc="95">
                <a:solidFill>
                  <a:srgbClr val="0072C3"/>
                </a:solidFill>
                <a:latin typeface="Times New Roman"/>
                <a:ea typeface="Times New Roman"/>
                <a:cs typeface="Times New Roman"/>
              </a:rPr>
              <a:t>ARTIFICIAL</a:t>
            </a:r>
            <a:r>
              <a:rPr sz="2100" spc="-5">
                <a:solidFill>
                  <a:srgbClr val="0072C3"/>
                </a:solidFill>
                <a:latin typeface="Times New Roman"/>
                <a:ea typeface="Times New Roman"/>
                <a:cs typeface="Times New Roman"/>
              </a:rPr>
              <a:t> </a:t>
            </a:r>
            <a:r>
              <a:rPr sz="2100" spc="70">
                <a:solidFill>
                  <a:srgbClr val="0570B5"/>
                </a:solidFill>
                <a:latin typeface="Times New Roman"/>
                <a:ea typeface="Times New Roman"/>
                <a:cs typeface="Times New Roman"/>
              </a:rPr>
              <a:t>INTELLIGENCE</a:t>
            </a:r>
            <a:r>
              <a:rPr sz="2100" spc="490">
                <a:solidFill>
                  <a:srgbClr val="0570B5"/>
                </a:solidFill>
                <a:latin typeface="Times New Roman"/>
                <a:ea typeface="Times New Roman"/>
                <a:cs typeface="Times New Roman"/>
              </a:rPr>
              <a:t> </a:t>
            </a:r>
            <a:r>
              <a:rPr sz="2100">
                <a:solidFill>
                  <a:srgbClr val="0072C4"/>
                </a:solidFill>
                <a:latin typeface="Times New Roman"/>
                <a:ea typeface="Times New Roman"/>
                <a:cs typeface="Times New Roman"/>
              </a:rPr>
              <a:t>AND</a:t>
            </a:r>
            <a:r>
              <a:rPr sz="2100" spc="185">
                <a:solidFill>
                  <a:srgbClr val="0072C4"/>
                </a:solidFill>
                <a:latin typeface="Times New Roman"/>
                <a:ea typeface="Times New Roman"/>
                <a:cs typeface="Times New Roman"/>
              </a:rPr>
              <a:t> </a:t>
            </a:r>
            <a:r>
              <a:rPr sz="2100" spc="65">
                <a:solidFill>
                  <a:srgbClr val="0070BF"/>
                </a:solidFill>
                <a:latin typeface="Times New Roman"/>
                <a:ea typeface="Times New Roman"/>
                <a:cs typeface="Times New Roman"/>
              </a:rPr>
              <a:t>MACHINE</a:t>
            </a:r>
            <a:r>
              <a:rPr sz="2100" spc="330">
                <a:solidFill>
                  <a:srgbClr val="0070BF"/>
                </a:solidFill>
                <a:latin typeface="Times New Roman"/>
                <a:ea typeface="Times New Roman"/>
                <a:cs typeface="Times New Roman"/>
              </a:rPr>
              <a:t> </a:t>
            </a:r>
            <a:r>
              <a:rPr sz="2100" spc="-10">
                <a:solidFill>
                  <a:srgbClr val="0172BF"/>
                </a:solidFill>
                <a:latin typeface="Times New Roman"/>
                <a:ea typeface="Times New Roman"/>
                <a:cs typeface="Times New Roman"/>
              </a:rPr>
              <a:t>LEARNING</a:t>
            </a:r>
            <a:endParaRPr sz="2100">
              <a:latin typeface="Times New Roman"/>
              <a:ea typeface="Times New Roman"/>
              <a:cs typeface="Times New Roman"/>
            </a:endParaRPr>
          </a:p>
          <a:p>
            <a:pPr marL="635" algn="ctr">
              <a:lnSpc>
                <a:spcPct val="100000"/>
              </a:lnSpc>
              <a:spcBef>
                <a:spcPts val="1505"/>
              </a:spcBef>
              <a:buNone/>
            </a:pPr>
            <a:r>
              <a:rPr sz="3850">
                <a:solidFill>
                  <a:srgbClr val="0C54DF"/>
                </a:solidFill>
                <a:latin typeface="Times New Roman"/>
                <a:ea typeface="Times New Roman"/>
                <a:cs typeface="Times New Roman"/>
              </a:rPr>
              <a:t>Project</a:t>
            </a:r>
            <a:r>
              <a:rPr sz="3850" spc="500">
                <a:solidFill>
                  <a:srgbClr val="0C54DF"/>
                </a:solidFill>
                <a:latin typeface="Times New Roman"/>
                <a:ea typeface="Times New Roman"/>
                <a:cs typeface="Times New Roman"/>
              </a:rPr>
              <a:t> </a:t>
            </a:r>
            <a:r>
              <a:rPr sz="3850" spc="-10">
                <a:solidFill>
                  <a:srgbClr val="0A5DD6"/>
                </a:solidFill>
                <a:latin typeface="Times New Roman"/>
                <a:ea typeface="Times New Roman"/>
                <a:cs typeface="Times New Roman"/>
              </a:rPr>
              <a:t>Phase-1</a:t>
            </a:r>
            <a:endParaRPr sz="3850">
              <a:latin typeface="Times New Roman"/>
              <a:ea typeface="Times New Roman"/>
              <a:cs typeface="Times New Roman"/>
            </a:endParaRPr>
          </a:p>
          <a:p>
            <a:pPr marL="375920" algn="ctr">
              <a:lnSpc>
                <a:spcPct val="100000"/>
              </a:lnSpc>
              <a:spcBef>
                <a:spcPts val="555"/>
              </a:spcBef>
              <a:buNone/>
            </a:pPr>
            <a:r>
              <a:rPr sz="1850">
                <a:solidFill>
                  <a:srgbClr val="0F59DA"/>
                </a:solidFill>
                <a:latin typeface="Times New Roman"/>
                <a:ea typeface="Times New Roman"/>
                <a:cs typeface="Times New Roman"/>
              </a:rPr>
              <a:t>(Subject</a:t>
            </a:r>
            <a:r>
              <a:rPr sz="1850" spc="409">
                <a:solidFill>
                  <a:srgbClr val="0F59DA"/>
                </a:solidFill>
                <a:latin typeface="Times New Roman"/>
                <a:ea typeface="Times New Roman"/>
                <a:cs typeface="Times New Roman"/>
              </a:rPr>
              <a:t> </a:t>
            </a:r>
            <a:r>
              <a:rPr sz="1850" spc="-10">
                <a:solidFill>
                  <a:srgbClr val="135DDD"/>
                </a:solidFill>
                <a:latin typeface="Times New Roman"/>
                <a:ea typeface="Times New Roman"/>
                <a:cs typeface="Times New Roman"/>
              </a:rPr>
              <a:t>Code:23AISE309)</a:t>
            </a:r>
            <a:endParaRPr sz="1850">
              <a:latin typeface="Times New Roman"/>
              <a:ea typeface="Times New Roman"/>
              <a:cs typeface="Times New Roman"/>
            </a:endParaRPr>
          </a:p>
          <a:p>
            <a:pPr marL="2326005" marR="2372360" algn="ctr">
              <a:lnSpc>
                <a:spcPts val="3200"/>
              </a:lnSpc>
              <a:spcBef>
                <a:spcPts val="1120"/>
              </a:spcBef>
              <a:buNone/>
              <a:tabLst>
                <a:tab pos="6251575" algn="l"/>
              </a:tabLst>
            </a:pPr>
            <a:r>
              <a:rPr sz="2600">
                <a:solidFill>
                  <a:srgbClr val="F20305"/>
                </a:solidFill>
                <a:latin typeface="Times New Roman"/>
                <a:ea typeface="Times New Roman"/>
                <a:cs typeface="Times New Roman"/>
              </a:rPr>
              <a:t>"</a:t>
            </a:r>
            <a:r>
              <a:rPr sz="2800">
                <a:solidFill>
                  <a:srgbClr val="FF0000"/>
                </a:solidFill>
              </a:rPr>
              <a:t>HYBRID ADAPTIVE RISK-AWARE SECURITY PLATFORM FOR HEALTHCARE LLM SYSTEMS</a:t>
            </a:r>
            <a:r>
              <a:rPr sz="2600" spc="-10">
                <a:solidFill>
                  <a:srgbClr val="FB0000"/>
                </a:solidFill>
                <a:latin typeface="Times New Roman"/>
                <a:ea typeface="Times New Roman"/>
                <a:cs typeface="Times New Roman"/>
              </a:rPr>
              <a:t>"</a:t>
            </a:r>
            <a:endParaRPr sz="2600">
              <a:latin typeface="Times New Roman"/>
              <a:ea typeface="Times New Roman"/>
              <a:cs typeface="Times New Roman"/>
            </a:endParaRPr>
          </a:p>
          <a:p>
            <a:pPr marL="12700">
              <a:lnSpc>
                <a:spcPts val="1700"/>
              </a:lnSpc>
              <a:buNone/>
            </a:pPr>
            <a:r>
              <a:rPr sz="2200">
                <a:solidFill>
                  <a:srgbClr val="232323"/>
                </a:solidFill>
                <a:latin typeface="Times New Roman"/>
                <a:ea typeface="Times New Roman"/>
                <a:cs typeface="Times New Roman"/>
              </a:rPr>
              <a:t> </a:t>
            </a:r>
            <a:r>
              <a:rPr sz="2200">
                <a:solidFill>
                  <a:srgbClr val="FF0000"/>
                </a:solidFill>
                <a:latin typeface="Times New Roman"/>
                <a:ea typeface="Times New Roman"/>
                <a:cs typeface="Times New Roman"/>
              </a:rPr>
              <a:t>Project</a:t>
            </a:r>
            <a:r>
              <a:rPr sz="2200" spc="275">
                <a:solidFill>
                  <a:srgbClr val="FF0000"/>
                </a:solidFill>
                <a:latin typeface="Times New Roman"/>
                <a:ea typeface="Times New Roman"/>
                <a:cs typeface="Times New Roman"/>
              </a:rPr>
              <a:t> </a:t>
            </a:r>
            <a:r>
              <a:rPr sz="2200" spc="-10">
                <a:solidFill>
                  <a:srgbClr val="FF0000"/>
                </a:solidFill>
                <a:latin typeface="Times New Roman"/>
                <a:ea typeface="Times New Roman"/>
                <a:cs typeface="Times New Roman"/>
              </a:rPr>
              <a:t>Associates:</a:t>
            </a:r>
            <a:endParaRPr sz="2200">
              <a:solidFill>
                <a:srgbClr val="FF0000"/>
              </a:solidFill>
              <a:latin typeface="Times New Roman"/>
              <a:ea typeface="Times New Roman"/>
              <a:cs typeface="Times New Roman"/>
            </a:endParaRPr>
          </a:p>
        </p:txBody>
      </p:sp>
      <p:sp>
        <p:nvSpPr>
          <p:cNvPr id="7" name="object 7">
            <a:extLst>
              <a:ext uri="{FF2B5EF4-FFF2-40B4-BE49-F238E27FC236}">
                <a16:creationId xmlns:a16="http://schemas.microsoft.com/office/drawing/2014/main" id="{F0204539-2A30-4A95-BCCD-6865EC43059D}"/>
              </a:ext>
            </a:extLst>
          </p:cNvPr>
          <p:cNvSpPr>
            <a:spLocks noGrp="1"/>
          </p:cNvSpPr>
          <p:nvPr/>
        </p:nvSpPr>
        <p:spPr>
          <a:xfrm>
            <a:off x="461486" y="4825294"/>
            <a:ext cx="3196114" cy="1317668"/>
          </a:xfrm>
          <a:prstGeom prst="rect">
            <a:avLst/>
          </a:prstGeom>
        </p:spPr>
        <p:txBody>
          <a:bodyPr vert="horz" wrap="square" lIns="0" tIns="10795" rIns="0" bIns="0">
            <a:spAutoFit/>
          </a:bodyPr>
          <a:lstStyle/>
          <a:p>
            <a:pPr marL="12700" marR="5080" indent="4445">
              <a:lnSpc>
                <a:spcPct val="115599"/>
              </a:lnSpc>
              <a:spcBef>
                <a:spcPts val="85"/>
              </a:spcBef>
              <a:buNone/>
            </a:pPr>
            <a:r>
              <a:rPr sz="1850" spc="45">
                <a:latin typeface="Times New Roman"/>
                <a:ea typeface="Times New Roman"/>
                <a:cs typeface="Times New Roman"/>
              </a:rPr>
              <a:t>Aakruthi Rao </a:t>
            </a:r>
            <a:r>
              <a:rPr sz="1850" spc="-10">
                <a:latin typeface="Times New Roman"/>
                <a:ea typeface="Times New Roman"/>
                <a:cs typeface="Times New Roman"/>
              </a:rPr>
              <a:t>(4MT23AI001) Jnanesh (4MT23AI026)</a:t>
            </a:r>
          </a:p>
          <a:p>
            <a:pPr marL="12700" marR="5080" indent="4445">
              <a:lnSpc>
                <a:spcPct val="115599"/>
              </a:lnSpc>
              <a:spcBef>
                <a:spcPts val="85"/>
              </a:spcBef>
              <a:buNone/>
            </a:pPr>
            <a:r>
              <a:rPr sz="1850">
                <a:latin typeface="Times New Roman"/>
                <a:ea typeface="Times New Roman"/>
                <a:cs typeface="Times New Roman"/>
              </a:rPr>
              <a:t>Likitha Rai</a:t>
            </a:r>
            <a:r>
              <a:rPr sz="1850" spc="10">
                <a:latin typeface="Times New Roman"/>
                <a:ea typeface="Times New Roman"/>
                <a:cs typeface="Times New Roman"/>
              </a:rPr>
              <a:t> B S </a:t>
            </a:r>
            <a:r>
              <a:rPr sz="1850" spc="-10">
                <a:latin typeface="Times New Roman"/>
                <a:ea typeface="Times New Roman"/>
                <a:cs typeface="Times New Roman"/>
              </a:rPr>
              <a:t>(4MT23AI028)</a:t>
            </a:r>
            <a:r>
              <a:rPr sz="1850" spc="500">
                <a:latin typeface="Times New Roman"/>
                <a:ea typeface="Times New Roman"/>
                <a:cs typeface="Times New Roman"/>
              </a:rPr>
              <a:t> </a:t>
            </a:r>
            <a:r>
              <a:rPr sz="1850" spc="-100">
                <a:latin typeface="Times New Roman"/>
                <a:ea typeface="Times New Roman"/>
                <a:cs typeface="Times New Roman"/>
              </a:rPr>
              <a:t> Sujal </a:t>
            </a:r>
            <a:r>
              <a:rPr sz="1850" spc="-10">
                <a:latin typeface="Times New Roman"/>
                <a:ea typeface="Times New Roman"/>
                <a:cs typeface="Times New Roman"/>
              </a:rPr>
              <a:t>(4MT23AI054)</a:t>
            </a:r>
            <a:endParaRPr sz="1850">
              <a:latin typeface="Times New Roman"/>
              <a:ea typeface="Times New Roman"/>
              <a:cs typeface="Times New Roman"/>
            </a:endParaRPr>
          </a:p>
        </p:txBody>
      </p:sp>
      <p:sp>
        <p:nvSpPr>
          <p:cNvPr id="8" name="object 8">
            <a:extLst>
              <a:ext uri="{FF2B5EF4-FFF2-40B4-BE49-F238E27FC236}">
                <a16:creationId xmlns:a16="http://schemas.microsoft.com/office/drawing/2014/main" id="{5575F813-526A-4501-925D-9D5600E442B0}"/>
              </a:ext>
            </a:extLst>
          </p:cNvPr>
          <p:cNvSpPr>
            <a:spLocks noGrp="1"/>
          </p:cNvSpPr>
          <p:nvPr/>
        </p:nvSpPr>
        <p:spPr>
          <a:xfrm>
            <a:off x="8915400" y="4756679"/>
            <a:ext cx="2948281" cy="1007455"/>
          </a:xfrm>
          <a:prstGeom prst="rect">
            <a:avLst/>
          </a:prstGeom>
        </p:spPr>
        <p:txBody>
          <a:bodyPr vert="horz" wrap="square" lIns="0" tIns="15875" rIns="0" bIns="0">
            <a:spAutoFit/>
          </a:bodyPr>
          <a:lstStyle/>
          <a:p>
            <a:pPr marL="333375" marR="5080" indent="-321310">
              <a:lnSpc>
                <a:spcPct val="112900"/>
              </a:lnSpc>
              <a:spcBef>
                <a:spcPts val="125"/>
              </a:spcBef>
              <a:buNone/>
            </a:pPr>
            <a:r>
              <a:rPr sz="1900" u="heavy">
                <a:solidFill>
                  <a:srgbClr val="C30000"/>
                </a:solidFill>
                <a:latin typeface="Times New Roman"/>
                <a:ea typeface="Times New Roman"/>
                <a:cs typeface="Times New Roman"/>
              </a:rPr>
              <a:t>Under the</a:t>
            </a:r>
            <a:r>
              <a:rPr sz="1900" u="heavy" spc="165">
                <a:solidFill>
                  <a:srgbClr val="C30000"/>
                </a:solidFill>
                <a:latin typeface="Times New Roman"/>
                <a:ea typeface="Times New Roman"/>
                <a:cs typeface="Times New Roman"/>
              </a:rPr>
              <a:t> </a:t>
            </a:r>
            <a:r>
              <a:rPr sz="1900" u="heavy">
                <a:solidFill>
                  <a:srgbClr val="BA0301"/>
                </a:solidFill>
                <a:latin typeface="Times New Roman"/>
                <a:ea typeface="Times New Roman"/>
                <a:cs typeface="Times New Roman"/>
              </a:rPr>
              <a:t>Guidance</a:t>
            </a:r>
            <a:r>
              <a:rPr sz="1900" u="heavy" spc="280">
                <a:solidFill>
                  <a:srgbClr val="BA0301"/>
                </a:solidFill>
                <a:latin typeface="Times New Roman"/>
                <a:ea typeface="Times New Roman"/>
                <a:cs typeface="Times New Roman"/>
              </a:rPr>
              <a:t> </a:t>
            </a:r>
            <a:r>
              <a:rPr sz="1900" u="heavy">
                <a:solidFill>
                  <a:srgbClr val="B80000"/>
                </a:solidFill>
                <a:latin typeface="Times New Roman"/>
                <a:ea typeface="Times New Roman"/>
                <a:cs typeface="Times New Roman"/>
              </a:rPr>
              <a:t>of:</a:t>
            </a:r>
            <a:r>
              <a:rPr sz="1900" u="heavy" spc="125">
                <a:solidFill>
                  <a:srgbClr val="B80000"/>
                </a:solidFill>
                <a:latin typeface="Times New Roman"/>
                <a:ea typeface="Times New Roman"/>
                <a:cs typeface="Times New Roman"/>
              </a:rPr>
              <a:t> </a:t>
            </a:r>
            <a:r>
              <a:rPr sz="1900" spc="125">
                <a:solidFill>
                  <a:srgbClr val="B80000"/>
                </a:solidFill>
                <a:latin typeface="Times New Roman"/>
                <a:ea typeface="Times New Roman"/>
                <a:cs typeface="Times New Roman"/>
              </a:rPr>
              <a:t> </a:t>
            </a:r>
          </a:p>
          <a:p>
            <a:pPr marL="333375" marR="5080" indent="-321310" algn="ctr">
              <a:lnSpc>
                <a:spcPct val="112900"/>
              </a:lnSpc>
              <a:spcBef>
                <a:spcPts val="125"/>
              </a:spcBef>
              <a:buNone/>
            </a:pPr>
            <a:r>
              <a:rPr sz="1900" spc="125">
                <a:solidFill>
                  <a:schemeClr val="tx1"/>
                </a:solidFill>
                <a:latin typeface="Times New Roman"/>
                <a:ea typeface="Times New Roman"/>
                <a:cs typeface="Times New Roman"/>
              </a:rPr>
              <a:t>Mr.Srivatsa Upadhya P</a:t>
            </a:r>
          </a:p>
          <a:p>
            <a:pPr marL="333375" marR="5080" indent="-321310" algn="ctr">
              <a:lnSpc>
                <a:spcPct val="112900"/>
              </a:lnSpc>
              <a:spcBef>
                <a:spcPts val="125"/>
              </a:spcBef>
              <a:buNone/>
            </a:pPr>
            <a:r>
              <a:rPr sz="1900" spc="-25">
                <a:latin typeface="Times New Roman"/>
                <a:ea typeface="Times New Roman"/>
                <a:cs typeface="Times New Roman"/>
              </a:rPr>
              <a:t> Assistant </a:t>
            </a:r>
            <a:r>
              <a:rPr sz="1900" spc="-10">
                <a:latin typeface="Times New Roman"/>
                <a:ea typeface="Times New Roman"/>
                <a:cs typeface="Times New Roman"/>
              </a:rPr>
              <a:t>Professor</a:t>
            </a:r>
          </a:p>
        </p:txBody>
      </p:sp>
      <p:sp>
        <p:nvSpPr>
          <p:cNvPr id="12" name="Rectangle 11">
            <a:extLst>
              <a:ext uri="{FF2B5EF4-FFF2-40B4-BE49-F238E27FC236}">
                <a16:creationId xmlns:a16="http://schemas.microsoft.com/office/drawing/2014/main" id="{BA3A7BF0-AF1E-F44B-94EC-654D196FE633}"/>
              </a:ext>
            </a:extLst>
          </p:cNvPr>
          <p:cNvSpPr>
            <a:spLocks noGrp="1"/>
          </p:cNvSpPr>
          <p:nvPr/>
        </p:nvSpPr>
        <p:spPr>
          <a:xfrm>
            <a:off x="203200" y="2133600"/>
            <a:ext cx="1549400" cy="3048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24" name="Image 25"/>
          <p:cNvPicPr>
            <a:picLocks noChangeAspect="1"/>
          </p:cNvPicPr>
          <p:nvPr/>
        </p:nvPicPr>
        <p:blipFill>
          <a:blip r:embed="rId4"/>
          <a:stretch>
            <a:fillRect/>
          </a:stretch>
        </p:blipFill>
        <p:spPr>
          <a:xfrm>
            <a:off x="123993" y="197812"/>
            <a:ext cx="1400007" cy="1136781"/>
          </a:xfrm>
          <a:prstGeom prst="rect">
            <a:avLst/>
          </a:prstGeom>
        </p:spPr>
      </p:pic>
    </p:spTree>
    <p:extLst>
      <p:ext uri="{BB962C8B-B14F-4D97-AF65-F5344CB8AC3E}">
        <p14:creationId xmlns:p14="http://schemas.microsoft.com/office/powerpoint/2010/main" val="18641880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A2BD294E-398C-4998-BC35-690F753CE124}"/>
              </a:ext>
            </a:extLst>
          </p:cNvPr>
          <p:cNvSpPr>
            <a:spLocks noGrp="1"/>
          </p:cNvSpPr>
          <p:nvPr/>
        </p:nvSpPr>
        <p:spPr>
          <a:xfrm>
            <a:off x="394336" y="1209566"/>
            <a:ext cx="45719" cy="4907811"/>
          </a:xfrm>
          <a:custGeom>
            <a:avLst/>
            <a:gdLst/>
            <a:ahLst/>
            <a:cxnLst/>
            <a:rect l="l" t="t" r="r" b="b"/>
            <a:pathLst>
              <a:path h="4581525">
                <a:moveTo>
                  <a:pt x="0" y="4581312"/>
                </a:moveTo>
                <a:lnTo>
                  <a:pt x="0" y="0"/>
                </a:lnTo>
              </a:path>
            </a:pathLst>
          </a:custGeom>
          <a:ln w="14816">
            <a:solidFill>
              <a:srgbClr val="1F1F1F"/>
            </a:solidFill>
          </a:ln>
        </p:spPr>
        <p:txBody>
          <a:bodyPr wrap="square" lIns="0" tIns="0" rIns="0" bIns="0"/>
          <a:lstStyle/>
          <a:p>
            <a:endParaRPr/>
          </a:p>
        </p:txBody>
      </p:sp>
      <p:sp>
        <p:nvSpPr>
          <p:cNvPr id="4" name="object 4">
            <a:extLst>
              <a:ext uri="{FF2B5EF4-FFF2-40B4-BE49-F238E27FC236}">
                <a16:creationId xmlns:a16="http://schemas.microsoft.com/office/drawing/2014/main" id="{E2BA023B-D483-4503-A1C0-DA7BF2E2057C}"/>
              </a:ext>
            </a:extLst>
          </p:cNvPr>
          <p:cNvSpPr>
            <a:spLocks noGrp="1"/>
          </p:cNvSpPr>
          <p:nvPr/>
        </p:nvSpPr>
        <p:spPr>
          <a:xfrm>
            <a:off x="11774803" y="1209566"/>
            <a:ext cx="0" cy="4907811"/>
          </a:xfrm>
          <a:custGeom>
            <a:avLst/>
            <a:gdLst/>
            <a:ahLst/>
            <a:cxnLst/>
            <a:rect l="l" t="t" r="r" b="b"/>
            <a:pathLst>
              <a:path h="4581525">
                <a:moveTo>
                  <a:pt x="0" y="4581312"/>
                </a:moveTo>
                <a:lnTo>
                  <a:pt x="0" y="0"/>
                </a:lnTo>
              </a:path>
            </a:pathLst>
          </a:custGeom>
          <a:ln w="14816">
            <a:solidFill>
              <a:srgbClr val="1F1F1F"/>
            </a:solidFill>
          </a:ln>
        </p:spPr>
        <p:txBody>
          <a:bodyPr wrap="square" lIns="0" tIns="0" rIns="0" bIns="0"/>
          <a:lstStyle/>
          <a:p>
            <a:endParaRPr/>
          </a:p>
        </p:txBody>
      </p:sp>
      <p:sp>
        <p:nvSpPr>
          <p:cNvPr id="5" name="object 5">
            <a:extLst>
              <a:ext uri="{FF2B5EF4-FFF2-40B4-BE49-F238E27FC236}">
                <a16:creationId xmlns:a16="http://schemas.microsoft.com/office/drawing/2014/main" id="{B217114D-A300-4C4E-BA02-7799BC11CC07}"/>
              </a:ext>
            </a:extLst>
          </p:cNvPr>
          <p:cNvSpPr>
            <a:spLocks noGrp="1"/>
          </p:cNvSpPr>
          <p:nvPr/>
        </p:nvSpPr>
        <p:spPr>
          <a:xfrm>
            <a:off x="394123" y="1217503"/>
            <a:ext cx="11388090" cy="0"/>
          </a:xfrm>
          <a:custGeom>
            <a:avLst/>
            <a:gdLst/>
            <a:ahLst/>
            <a:cxnLst/>
            <a:rect l="l" t="t" r="r" b="b"/>
            <a:pathLst>
              <a:path w="11388090">
                <a:moveTo>
                  <a:pt x="0" y="0"/>
                </a:moveTo>
                <a:lnTo>
                  <a:pt x="11388087" y="0"/>
                </a:lnTo>
              </a:path>
            </a:pathLst>
          </a:custGeom>
          <a:ln w="14816">
            <a:solidFill>
              <a:srgbClr val="1F1F1F"/>
            </a:solidFill>
          </a:ln>
        </p:spPr>
        <p:txBody>
          <a:bodyPr wrap="square" lIns="0" tIns="0" rIns="0" bIns="0"/>
          <a:lstStyle/>
          <a:p>
            <a:endParaRPr/>
          </a:p>
        </p:txBody>
      </p:sp>
      <p:sp>
        <p:nvSpPr>
          <p:cNvPr id="6" name="object 6">
            <a:extLst>
              <a:ext uri="{FF2B5EF4-FFF2-40B4-BE49-F238E27FC236}">
                <a16:creationId xmlns:a16="http://schemas.microsoft.com/office/drawing/2014/main" id="{7E9258B7-B35C-4AE4-B3C9-1E5D1EBF07B0}"/>
              </a:ext>
            </a:extLst>
          </p:cNvPr>
          <p:cNvSpPr>
            <a:spLocks noGrp="1"/>
          </p:cNvSpPr>
          <p:nvPr/>
        </p:nvSpPr>
        <p:spPr>
          <a:xfrm>
            <a:off x="394123" y="6109216"/>
            <a:ext cx="11388090" cy="0"/>
          </a:xfrm>
          <a:custGeom>
            <a:avLst/>
            <a:gdLst/>
            <a:ahLst/>
            <a:cxnLst/>
            <a:rect l="l" t="t" r="r" b="b"/>
            <a:pathLst>
              <a:path w="11388090">
                <a:moveTo>
                  <a:pt x="0" y="0"/>
                </a:moveTo>
                <a:lnTo>
                  <a:pt x="11388087" y="0"/>
                </a:lnTo>
              </a:path>
            </a:pathLst>
          </a:custGeom>
          <a:ln w="14816">
            <a:solidFill>
              <a:srgbClr val="1F1F1F"/>
            </a:solidFill>
          </a:ln>
        </p:spPr>
        <p:txBody>
          <a:bodyPr wrap="square" lIns="0" tIns="0" rIns="0" bIns="0"/>
          <a:lstStyle/>
          <a:p>
            <a:endParaRPr/>
          </a:p>
        </p:txBody>
      </p:sp>
      <p:sp>
        <p:nvSpPr>
          <p:cNvPr id="7" name="object 7">
            <a:extLst>
              <a:ext uri="{FF2B5EF4-FFF2-40B4-BE49-F238E27FC236}">
                <a16:creationId xmlns:a16="http://schemas.microsoft.com/office/drawing/2014/main" id="{97553DC9-83D8-4491-954D-49FAC459B60A}"/>
              </a:ext>
            </a:extLst>
          </p:cNvPr>
          <p:cNvSpPr>
            <a:spLocks noGrp="1"/>
          </p:cNvSpPr>
          <p:nvPr/>
        </p:nvSpPr>
        <p:spPr>
          <a:xfrm>
            <a:off x="750876" y="1383139"/>
            <a:ext cx="4224655" cy="5094536"/>
          </a:xfrm>
          <a:prstGeom prst="rect">
            <a:avLst/>
          </a:prstGeom>
        </p:spPr>
        <p:txBody>
          <a:bodyPr vert="horz" wrap="square" lIns="0" tIns="16510" rIns="0" bIns="0">
            <a:spAutoFit/>
          </a:bodyPr>
          <a:lstStyle/>
          <a:p>
            <a:pPr marL="12700">
              <a:lnSpc>
                <a:spcPct val="100000"/>
              </a:lnSpc>
              <a:spcBef>
                <a:spcPts val="130"/>
              </a:spcBef>
              <a:buNone/>
            </a:pPr>
            <a:r>
              <a:rPr sz="2300" spc="-10">
                <a:latin typeface="Times New Roman"/>
                <a:ea typeface="Times New Roman"/>
                <a:cs typeface="Times New Roman"/>
              </a:rPr>
              <a:t>Abstract</a:t>
            </a:r>
            <a:endParaRPr sz="2300">
              <a:latin typeface="Times New Roman"/>
              <a:ea typeface="Times New Roman"/>
              <a:cs typeface="Times New Roman"/>
            </a:endParaRPr>
          </a:p>
          <a:p>
            <a:pPr marL="13970">
              <a:lnSpc>
                <a:spcPct val="100000"/>
              </a:lnSpc>
              <a:spcBef>
                <a:spcPts val="1839"/>
              </a:spcBef>
              <a:buNone/>
            </a:pPr>
            <a:r>
              <a:rPr sz="2300" spc="-10">
                <a:latin typeface="Times New Roman"/>
                <a:ea typeface="Times New Roman"/>
                <a:cs typeface="Times New Roman"/>
              </a:rPr>
              <a:t>Introduction</a:t>
            </a:r>
            <a:endParaRPr sz="2300">
              <a:latin typeface="Times New Roman"/>
              <a:ea typeface="Times New Roman"/>
              <a:cs typeface="Times New Roman"/>
            </a:endParaRPr>
          </a:p>
          <a:p>
            <a:pPr marL="15240">
              <a:lnSpc>
                <a:spcPct val="100000"/>
              </a:lnSpc>
              <a:spcBef>
                <a:spcPts val="1789"/>
              </a:spcBef>
              <a:buNone/>
            </a:pPr>
            <a:r>
              <a:rPr sz="2350">
                <a:latin typeface="Times New Roman"/>
                <a:ea typeface="Times New Roman"/>
                <a:cs typeface="Times New Roman"/>
              </a:rPr>
              <a:t>Literature</a:t>
            </a:r>
            <a:r>
              <a:rPr sz="2350" spc="130">
                <a:latin typeface="Times New Roman"/>
                <a:ea typeface="Times New Roman"/>
                <a:cs typeface="Times New Roman"/>
              </a:rPr>
              <a:t> </a:t>
            </a:r>
            <a:r>
              <a:rPr sz="2350" spc="-10">
                <a:latin typeface="Times New Roman"/>
                <a:ea typeface="Times New Roman"/>
                <a:cs typeface="Times New Roman"/>
              </a:rPr>
              <a:t>Survey</a:t>
            </a:r>
            <a:endParaRPr sz="2350">
              <a:latin typeface="Times New Roman"/>
              <a:ea typeface="Times New Roman"/>
              <a:cs typeface="Times New Roman"/>
            </a:endParaRPr>
          </a:p>
          <a:p>
            <a:pPr marL="15875" marR="5080">
              <a:lnSpc>
                <a:spcPct val="166700"/>
              </a:lnSpc>
              <a:spcBef>
                <a:spcPts val="40"/>
              </a:spcBef>
              <a:buNone/>
            </a:pPr>
            <a:r>
              <a:rPr sz="2300">
                <a:latin typeface="Times New Roman"/>
                <a:ea typeface="Times New Roman"/>
                <a:cs typeface="Times New Roman"/>
              </a:rPr>
              <a:t>Problem</a:t>
            </a:r>
            <a:r>
              <a:rPr sz="2300" spc="235">
                <a:latin typeface="Times New Roman"/>
                <a:ea typeface="Times New Roman"/>
                <a:cs typeface="Times New Roman"/>
              </a:rPr>
              <a:t> </a:t>
            </a:r>
            <a:r>
              <a:rPr sz="2300">
                <a:latin typeface="Times New Roman"/>
                <a:ea typeface="Times New Roman"/>
                <a:cs typeface="Times New Roman"/>
              </a:rPr>
              <a:t>Statement</a:t>
            </a:r>
            <a:r>
              <a:rPr sz="2300" spc="335">
                <a:latin typeface="Times New Roman"/>
                <a:ea typeface="Times New Roman"/>
                <a:cs typeface="Times New Roman"/>
              </a:rPr>
              <a:t> </a:t>
            </a:r>
            <a:r>
              <a:rPr sz="2300">
                <a:latin typeface="Times New Roman"/>
                <a:ea typeface="Times New Roman"/>
                <a:cs typeface="Times New Roman"/>
              </a:rPr>
              <a:t>and</a:t>
            </a:r>
            <a:r>
              <a:rPr sz="2300" spc="200">
                <a:latin typeface="Times New Roman"/>
                <a:ea typeface="Times New Roman"/>
                <a:cs typeface="Times New Roman"/>
              </a:rPr>
              <a:t> </a:t>
            </a:r>
            <a:r>
              <a:rPr sz="2300" spc="-10">
                <a:latin typeface="Times New Roman"/>
                <a:ea typeface="Times New Roman"/>
                <a:cs typeface="Times New Roman"/>
              </a:rPr>
              <a:t>Objectives</a:t>
            </a:r>
          </a:p>
          <a:p>
            <a:pPr marL="15875" marR="5080">
              <a:lnSpc>
                <a:spcPct val="166700"/>
              </a:lnSpc>
              <a:spcBef>
                <a:spcPts val="40"/>
              </a:spcBef>
              <a:buNone/>
            </a:pPr>
            <a:r>
              <a:rPr sz="2300">
                <a:latin typeface="Times New Roman"/>
                <a:ea typeface="Times New Roman"/>
                <a:cs typeface="Times New Roman"/>
              </a:rPr>
              <a:t>Requirements</a:t>
            </a:r>
            <a:r>
              <a:rPr sz="2300" spc="459">
                <a:latin typeface="Times New Roman"/>
                <a:ea typeface="Times New Roman"/>
                <a:cs typeface="Times New Roman"/>
              </a:rPr>
              <a:t> </a:t>
            </a:r>
            <a:r>
              <a:rPr sz="2300" spc="-10">
                <a:latin typeface="Times New Roman"/>
                <a:ea typeface="Times New Roman"/>
                <a:cs typeface="Times New Roman"/>
              </a:rPr>
              <a:t>Analysis</a:t>
            </a:r>
          </a:p>
          <a:p>
            <a:pPr marL="15875" marR="5080">
              <a:lnSpc>
                <a:spcPct val="166700"/>
              </a:lnSpc>
              <a:spcBef>
                <a:spcPts val="40"/>
              </a:spcBef>
              <a:buNone/>
            </a:pPr>
            <a:r>
              <a:rPr sz="2300" spc="-10">
                <a:latin typeface="Times New Roman"/>
                <a:ea typeface="Times New Roman"/>
                <a:cs typeface="Times New Roman"/>
              </a:rPr>
              <a:t>Research Gap</a:t>
            </a:r>
          </a:p>
          <a:p>
            <a:pPr marL="15875" marR="5080">
              <a:lnSpc>
                <a:spcPct val="166700"/>
              </a:lnSpc>
              <a:spcBef>
                <a:spcPts val="40"/>
              </a:spcBef>
              <a:buNone/>
            </a:pPr>
            <a:r>
              <a:rPr sz="2350" spc="-10">
                <a:latin typeface="Times New Roman"/>
                <a:ea typeface="Times New Roman"/>
                <a:cs typeface="Times New Roman"/>
              </a:rPr>
              <a:t>Methodology</a:t>
            </a:r>
            <a:endParaRPr sz="2350">
              <a:latin typeface="Times New Roman"/>
              <a:ea typeface="Times New Roman"/>
              <a:cs typeface="Times New Roman"/>
            </a:endParaRPr>
          </a:p>
          <a:p>
            <a:pPr marL="15240">
              <a:lnSpc>
                <a:spcPct val="100000"/>
              </a:lnSpc>
              <a:spcBef>
                <a:spcPts val="1830"/>
              </a:spcBef>
              <a:buNone/>
            </a:pPr>
            <a:r>
              <a:rPr sz="2300">
                <a:latin typeface="Times New Roman"/>
                <a:ea typeface="Times New Roman"/>
                <a:cs typeface="Times New Roman"/>
              </a:rPr>
              <a:t>System</a:t>
            </a:r>
            <a:r>
              <a:rPr sz="2300" spc="260">
                <a:latin typeface="Times New Roman"/>
                <a:ea typeface="Times New Roman"/>
                <a:cs typeface="Times New Roman"/>
              </a:rPr>
              <a:t> </a:t>
            </a:r>
            <a:r>
              <a:rPr sz="2300" spc="-10">
                <a:latin typeface="Times New Roman"/>
                <a:ea typeface="Times New Roman"/>
                <a:cs typeface="Times New Roman"/>
              </a:rPr>
              <a:t>Design</a:t>
            </a:r>
          </a:p>
          <a:p>
            <a:pPr marL="15240">
              <a:lnSpc>
                <a:spcPct val="100000"/>
              </a:lnSpc>
              <a:spcBef>
                <a:spcPts val="1830"/>
              </a:spcBef>
              <a:buNone/>
            </a:pPr>
            <a:endParaRPr sz="2300">
              <a:latin typeface="Times New Roman"/>
              <a:ea typeface="Times New Roman"/>
              <a:cs typeface="Times New Roman"/>
            </a:endParaRPr>
          </a:p>
        </p:txBody>
      </p:sp>
      <p:sp>
        <p:nvSpPr>
          <p:cNvPr id="9" name="object 9">
            <a:extLst>
              <a:ext uri="{FF2B5EF4-FFF2-40B4-BE49-F238E27FC236}">
                <a16:creationId xmlns:a16="http://schemas.microsoft.com/office/drawing/2014/main" id="{34C5C1FA-D4DE-421F-B888-E10EF98ED487}"/>
              </a:ext>
            </a:extLst>
          </p:cNvPr>
          <p:cNvSpPr>
            <a:spLocks noGrp="1"/>
          </p:cNvSpPr>
          <p:nvPr>
            <p:ph type="ftr" idx="5"/>
          </p:nvPr>
        </p:nvSpPr>
        <p:spPr>
          <a:prstGeom prst="rect">
            <a:avLst/>
          </a:prstGeom>
        </p:spPr>
        <p:txBody>
          <a:bodyPr vert="horz" wrap="square" lIns="0" tIns="0" rIns="0" bIns="0">
            <a:spAutoFit/>
          </a:bodyPr>
          <a:lstStyle/>
          <a:p>
            <a:pPr marL="12700">
              <a:lnSpc>
                <a:spcPts val="1689"/>
              </a:lnSpc>
              <a:buNone/>
            </a:pPr>
            <a:r>
              <a:rPr spc="-10"/>
              <a:t>Dept of AIML</a:t>
            </a:r>
            <a:endParaRPr spc="-85"/>
          </a:p>
        </p:txBody>
      </p:sp>
      <p:sp>
        <p:nvSpPr>
          <p:cNvPr id="11" name="object 11">
            <a:extLst>
              <a:ext uri="{FF2B5EF4-FFF2-40B4-BE49-F238E27FC236}">
                <a16:creationId xmlns:a16="http://schemas.microsoft.com/office/drawing/2014/main" id="{3E0B8365-2D8F-49E0-A503-312D01A609BA}"/>
              </a:ext>
            </a:extLst>
          </p:cNvPr>
          <p:cNvSpPr>
            <a:spLocks noGrp="1"/>
          </p:cNvSpPr>
          <p:nvPr>
            <p:ph type="sldNum" idx="7"/>
          </p:nvPr>
        </p:nvSpPr>
        <p:spPr>
          <a:prstGeom prst="rect">
            <a:avLst/>
          </a:prstGeom>
        </p:spPr>
        <p:txBody>
          <a:bodyPr vert="horz" wrap="square" lIns="0" tIns="0" rIns="0" bIns="0">
            <a:spAutoFit/>
          </a:bodyPr>
          <a:lstStyle/>
          <a:p>
            <a:pPr marL="12700">
              <a:lnSpc>
                <a:spcPts val="1600"/>
              </a:lnSpc>
              <a:buNone/>
            </a:pPr>
            <a:fld id="{81D60167-4931-47E6-BA6A-407CBD079E47}" type="slidenum">
              <a:rPr spc="-25"/>
              <a:t>2</a:t>
            </a:fld>
            <a:endParaRPr spc="-25"/>
          </a:p>
        </p:txBody>
      </p:sp>
      <p:sp>
        <p:nvSpPr>
          <p:cNvPr id="8" name="object 8">
            <a:extLst>
              <a:ext uri="{FF2B5EF4-FFF2-40B4-BE49-F238E27FC236}">
                <a16:creationId xmlns:a16="http://schemas.microsoft.com/office/drawing/2014/main" id="{9F928AA1-E6A0-4090-B07E-08BBBE263994}"/>
              </a:ext>
            </a:extLst>
          </p:cNvPr>
          <p:cNvSpPr>
            <a:spLocks noGrp="1"/>
          </p:cNvSpPr>
          <p:nvPr>
            <p:ph type="title"/>
          </p:nvPr>
        </p:nvSpPr>
        <p:spPr>
          <a:xfrm>
            <a:off x="520388" y="688269"/>
            <a:ext cx="11151223" cy="521297"/>
          </a:xfrm>
          <a:prstGeom prst="rect">
            <a:avLst/>
          </a:prstGeom>
        </p:spPr>
        <p:txBody>
          <a:bodyPr vert="horz" wrap="square" lIns="0" tIns="13335" rIns="0" bIns="0">
            <a:spAutoFit/>
          </a:bodyPr>
          <a:lstStyle/>
          <a:p>
            <a:pPr marL="4398010">
              <a:lnSpc>
                <a:spcPct val="100000"/>
              </a:lnSpc>
              <a:spcBef>
                <a:spcPts val="105"/>
              </a:spcBef>
              <a:buNone/>
            </a:pPr>
            <a:r>
              <a:rPr b="1" spc="110"/>
              <a:t>CONTENTS</a:t>
            </a:r>
          </a:p>
        </p:txBody>
      </p:sp>
      <p:sp>
        <p:nvSpPr>
          <p:cNvPr id="16" name="object 10">
            <a:extLst>
              <a:ext uri="{FF2B5EF4-FFF2-40B4-BE49-F238E27FC236}">
                <a16:creationId xmlns:a16="http://schemas.microsoft.com/office/drawing/2014/main" id="{43528B36-8125-F4E0-324B-D9D6434E998D}"/>
              </a:ext>
            </a:extLst>
          </p:cNvPr>
          <p:cNvSpPr>
            <a:spLocks noGrp="1"/>
          </p:cNvSpPr>
          <p:nvPr>
            <p:ph type="dt" idx="6"/>
          </p:nvPr>
        </p:nvSpPr>
        <p:spPr>
          <a:xfrm>
            <a:off x="1132803" y="6333334"/>
            <a:ext cx="869314" cy="205184"/>
          </a:xfrm>
          <a:prstGeom prst="rect">
            <a:avLst/>
          </a:prstGeom>
        </p:spPr>
        <p:txBody>
          <a:bodyPr vert="horz" wrap="square" lIns="0" tIns="0" rIns="0" bIns="0">
            <a:spAutoFit/>
          </a:bodyPr>
          <a:lstStyle/>
          <a:p>
            <a:pPr marL="12700">
              <a:lnSpc>
                <a:spcPts val="1635"/>
              </a:lnSpc>
              <a:buNone/>
            </a:pPr>
            <a:r>
              <a:t>22-08-2026</a:t>
            </a:r>
            <a:endParaRPr spc="-20"/>
          </a:p>
        </p:txBody>
      </p:sp>
    </p:spTree>
    <p:extLst>
      <p:ext uri="{BB962C8B-B14F-4D97-AF65-F5344CB8AC3E}">
        <p14:creationId xmlns:p14="http://schemas.microsoft.com/office/powerpoint/2010/main" val="12647229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a:extLst>
              <a:ext uri="{FF2B5EF4-FFF2-40B4-BE49-F238E27FC236}">
                <a16:creationId xmlns:a16="http://schemas.microsoft.com/office/drawing/2014/main" id="{95141037-862F-4966-A2EB-5A4E7CC5ACD9}"/>
              </a:ext>
            </a:extLst>
          </p:cNvPr>
          <p:cNvSpPr>
            <a:spLocks noGrp="1"/>
          </p:cNvSpPr>
          <p:nvPr>
            <p:ph type="ftr" idx="5"/>
          </p:nvPr>
        </p:nvSpPr>
        <p:spPr>
          <a:prstGeom prst="rect">
            <a:avLst/>
          </a:prstGeom>
        </p:spPr>
        <p:txBody>
          <a:bodyPr vert="horz" wrap="square" lIns="0" tIns="0" rIns="0" bIns="0">
            <a:spAutoFit/>
          </a:bodyPr>
          <a:lstStyle/>
          <a:p>
            <a:pPr marL="12700">
              <a:lnSpc>
                <a:spcPts val="1689"/>
              </a:lnSpc>
              <a:buNone/>
            </a:pPr>
            <a:r>
              <a:rPr spc="-10"/>
              <a:t>Dept of AIML</a:t>
            </a:r>
            <a:endParaRPr spc="-85"/>
          </a:p>
        </p:txBody>
      </p:sp>
      <p:sp>
        <p:nvSpPr>
          <p:cNvPr id="6" name="object 6">
            <a:extLst>
              <a:ext uri="{FF2B5EF4-FFF2-40B4-BE49-F238E27FC236}">
                <a16:creationId xmlns:a16="http://schemas.microsoft.com/office/drawing/2014/main" id="{2AEBB1F4-C224-4470-8B83-012C4982339E}"/>
              </a:ext>
            </a:extLst>
          </p:cNvPr>
          <p:cNvSpPr>
            <a:spLocks noGrp="1"/>
          </p:cNvSpPr>
          <p:nvPr>
            <p:ph type="sldNum" idx="7"/>
          </p:nvPr>
        </p:nvSpPr>
        <p:spPr>
          <a:prstGeom prst="rect">
            <a:avLst/>
          </a:prstGeom>
        </p:spPr>
        <p:txBody>
          <a:bodyPr vert="horz" wrap="square" lIns="0" tIns="0" rIns="0" bIns="0">
            <a:spAutoFit/>
          </a:bodyPr>
          <a:lstStyle/>
          <a:p>
            <a:pPr marL="12700">
              <a:lnSpc>
                <a:spcPts val="1600"/>
              </a:lnSpc>
              <a:buNone/>
            </a:pPr>
            <a:fld id="{81D60167-4931-47E6-BA6A-407CBD079E47}" type="slidenum">
              <a:rPr spc="-25"/>
              <a:t>3</a:t>
            </a:fld>
            <a:endParaRPr spc="-25"/>
          </a:p>
        </p:txBody>
      </p:sp>
      <p:sp>
        <p:nvSpPr>
          <p:cNvPr id="2" name="object 2">
            <a:extLst>
              <a:ext uri="{FF2B5EF4-FFF2-40B4-BE49-F238E27FC236}">
                <a16:creationId xmlns:a16="http://schemas.microsoft.com/office/drawing/2014/main" id="{B7612667-98FA-4E00-A21C-E67AC5E4A4FA}"/>
              </a:ext>
            </a:extLst>
          </p:cNvPr>
          <p:cNvSpPr>
            <a:spLocks noGrp="1"/>
          </p:cNvSpPr>
          <p:nvPr>
            <p:ph type="title"/>
          </p:nvPr>
        </p:nvSpPr>
        <p:spPr>
          <a:xfrm>
            <a:off x="520388" y="533400"/>
            <a:ext cx="11151223" cy="521297"/>
          </a:xfrm>
          <a:prstGeom prst="rect">
            <a:avLst/>
          </a:prstGeom>
        </p:spPr>
        <p:txBody>
          <a:bodyPr vert="horz" wrap="square" lIns="0" tIns="13335" rIns="0" bIns="0">
            <a:spAutoFit/>
          </a:bodyPr>
          <a:lstStyle/>
          <a:p>
            <a:pPr marL="4410075">
              <a:lnSpc>
                <a:spcPct val="100000"/>
              </a:lnSpc>
              <a:spcBef>
                <a:spcPts val="105"/>
              </a:spcBef>
              <a:buNone/>
            </a:pPr>
            <a:r>
              <a:rPr b="1" spc="70"/>
              <a:t>ABSTRACT</a:t>
            </a:r>
          </a:p>
        </p:txBody>
      </p:sp>
      <p:sp>
        <p:nvSpPr>
          <p:cNvPr id="3" name="object 3">
            <a:extLst>
              <a:ext uri="{FF2B5EF4-FFF2-40B4-BE49-F238E27FC236}">
                <a16:creationId xmlns:a16="http://schemas.microsoft.com/office/drawing/2014/main" id="{1239C5AD-2CD6-4681-985E-7EBD55FFC273}"/>
              </a:ext>
            </a:extLst>
          </p:cNvPr>
          <p:cNvSpPr>
            <a:spLocks noGrp="1"/>
          </p:cNvSpPr>
          <p:nvPr/>
        </p:nvSpPr>
        <p:spPr>
          <a:xfrm>
            <a:off x="671053" y="1371600"/>
            <a:ext cx="11259446" cy="4187237"/>
          </a:xfrm>
          <a:prstGeom prst="rect">
            <a:avLst/>
          </a:prstGeom>
        </p:spPr>
        <p:txBody>
          <a:bodyPr vert="horz" wrap="square" lIns="0" tIns="12065" rIns="0" bIns="0">
            <a:spAutoFit/>
          </a:bodyPr>
          <a:lstStyle/>
          <a:p>
            <a:pPr marL="458470" marR="12065" indent="-446405">
              <a:lnSpc>
                <a:spcPct val="141800"/>
              </a:lnSpc>
              <a:spcBef>
                <a:spcPts val="95"/>
              </a:spcBef>
              <a:buChar char="•"/>
              <a:tabLst>
                <a:tab pos="458470" algn="l"/>
                <a:tab pos="461009" algn="l"/>
                <a:tab pos="2157730" algn="l"/>
                <a:tab pos="3422015" algn="l"/>
                <a:tab pos="4171315" algn="l"/>
                <a:tab pos="4978400" algn="l"/>
                <a:tab pos="5544185" algn="l"/>
                <a:tab pos="5909945" algn="l"/>
                <a:tab pos="6662420" algn="l"/>
                <a:tab pos="7491095" algn="l"/>
                <a:tab pos="8173720" algn="l"/>
                <a:tab pos="9530080" algn="l"/>
                <a:tab pos="10097770" algn="l"/>
              </a:tabLst>
            </a:pPr>
            <a:r>
              <a:rPr sz="2400" spc="-10">
                <a:solidFill>
                  <a:schemeClr val="tx1"/>
                </a:solidFill>
                <a:latin typeface="Times New Roman"/>
                <a:ea typeface="Times New Roman"/>
                <a:cs typeface="Times New Roman"/>
              </a:rPr>
              <a:t>Large Language Models (LLMs) are widely integrated into healthcare SaaS platforms for documentation, triage, summarization, and clinical support.</a:t>
            </a:r>
          </a:p>
          <a:p>
            <a:pPr marL="458470" marR="12065" indent="-446405">
              <a:lnSpc>
                <a:spcPct val="141800"/>
              </a:lnSpc>
              <a:spcBef>
                <a:spcPts val="95"/>
              </a:spcBef>
              <a:buChar char="•"/>
              <a:tabLst>
                <a:tab pos="458470" algn="l"/>
                <a:tab pos="461009" algn="l"/>
                <a:tab pos="2157730" algn="l"/>
                <a:tab pos="3422015" algn="l"/>
                <a:tab pos="4171315" algn="l"/>
                <a:tab pos="4978400" algn="l"/>
                <a:tab pos="5544185" algn="l"/>
                <a:tab pos="5909945" algn="l"/>
                <a:tab pos="6662420" algn="l"/>
                <a:tab pos="7491095" algn="l"/>
                <a:tab pos="8173720" algn="l"/>
                <a:tab pos="9530080" algn="l"/>
                <a:tab pos="10097770" algn="l"/>
              </a:tabLst>
            </a:pPr>
            <a:r>
              <a:rPr sz="2400" spc="-10">
                <a:solidFill>
                  <a:schemeClr val="tx2"/>
                </a:solidFill>
                <a:latin typeface="Times New Roman"/>
                <a:ea typeface="Times New Roman"/>
                <a:cs typeface="Times New Roman"/>
              </a:rPr>
              <a:t>These systems are vulnerable to semantic adversarial attacks such as prompt injection and PHI extraction.</a:t>
            </a:r>
          </a:p>
          <a:p>
            <a:pPr marL="458470" marR="12065" indent="-446405">
              <a:lnSpc>
                <a:spcPct val="141800"/>
              </a:lnSpc>
              <a:spcBef>
                <a:spcPts val="95"/>
              </a:spcBef>
              <a:buChar char="•"/>
              <a:tabLst>
                <a:tab pos="458470" algn="l"/>
                <a:tab pos="461009" algn="l"/>
                <a:tab pos="2157730" algn="l"/>
                <a:tab pos="3422015" algn="l"/>
                <a:tab pos="4171315" algn="l"/>
                <a:tab pos="4978400" algn="l"/>
                <a:tab pos="5544185" algn="l"/>
                <a:tab pos="5909945" algn="l"/>
                <a:tab pos="6662420" algn="l"/>
                <a:tab pos="7491095" algn="l"/>
                <a:tab pos="8173720" algn="l"/>
                <a:tab pos="9530080" algn="l"/>
                <a:tab pos="10097770" algn="l"/>
              </a:tabLst>
            </a:pPr>
            <a:r>
              <a:rPr sz="2400" spc="-10">
                <a:solidFill>
                  <a:schemeClr val="tx1"/>
                </a:solidFill>
                <a:latin typeface="Times New Roman"/>
                <a:ea typeface="Times New Roman"/>
                <a:cs typeface="Times New Roman"/>
              </a:rPr>
              <a:t>Traditional cybersecurity mechanisms cannot detect natural language-based manipulation.</a:t>
            </a:r>
          </a:p>
          <a:p>
            <a:pPr marL="458470" marR="12065" indent="-446405">
              <a:lnSpc>
                <a:spcPct val="141800"/>
              </a:lnSpc>
              <a:spcBef>
                <a:spcPts val="95"/>
              </a:spcBef>
              <a:buChar char="•"/>
              <a:tabLst>
                <a:tab pos="458470" algn="l"/>
                <a:tab pos="461009" algn="l"/>
                <a:tab pos="2157730" algn="l"/>
                <a:tab pos="3422015" algn="l"/>
                <a:tab pos="4171315" algn="l"/>
                <a:tab pos="4978400" algn="l"/>
                <a:tab pos="5544185" algn="l"/>
                <a:tab pos="5909945" algn="l"/>
                <a:tab pos="6662420" algn="l"/>
                <a:tab pos="7491095" algn="l"/>
                <a:tab pos="8173720" algn="l"/>
                <a:tab pos="9530080" algn="l"/>
                <a:tab pos="10097770" algn="l"/>
              </a:tabLst>
            </a:pPr>
            <a:r>
              <a:rPr sz="2400" spc="-10">
                <a:solidFill>
                  <a:schemeClr val="tx2"/>
                </a:solidFill>
                <a:latin typeface="Times New Roman"/>
                <a:ea typeface="Times New Roman"/>
                <a:cs typeface="Times New Roman"/>
              </a:rPr>
              <a:t>We propose a hybrid, risk-aware, healthcare-specific security framework for real-time LLM protection.</a:t>
            </a:r>
            <a:endParaRPr sz="2400">
              <a:solidFill>
                <a:schemeClr val="tx2"/>
              </a:solidFill>
              <a:latin typeface="Times New Roman"/>
              <a:ea typeface="Times New Roman"/>
              <a:cs typeface="Times New Roman"/>
            </a:endParaRPr>
          </a:p>
        </p:txBody>
      </p:sp>
      <p:sp>
        <p:nvSpPr>
          <p:cNvPr id="8" name="object 10">
            <a:extLst>
              <a:ext uri="{FF2B5EF4-FFF2-40B4-BE49-F238E27FC236}">
                <a16:creationId xmlns:a16="http://schemas.microsoft.com/office/drawing/2014/main" id="{497A15AB-10E3-B857-3646-C9E89B5FA3A3}"/>
              </a:ext>
            </a:extLst>
          </p:cNvPr>
          <p:cNvSpPr>
            <a:spLocks noGrp="1"/>
          </p:cNvSpPr>
          <p:nvPr>
            <p:ph type="dt" idx="6"/>
          </p:nvPr>
        </p:nvSpPr>
        <p:spPr>
          <a:xfrm>
            <a:off x="1132803" y="6333334"/>
            <a:ext cx="869314" cy="205184"/>
          </a:xfrm>
          <a:prstGeom prst="rect">
            <a:avLst/>
          </a:prstGeom>
        </p:spPr>
        <p:txBody>
          <a:bodyPr vert="horz" wrap="square" lIns="0" tIns="0" rIns="0" bIns="0">
            <a:spAutoFit/>
          </a:bodyPr>
          <a:lstStyle/>
          <a:p>
            <a:pPr marL="12700">
              <a:lnSpc>
                <a:spcPts val="1635"/>
              </a:lnSpc>
              <a:buNone/>
            </a:pPr>
            <a:r>
              <a:t>22-08-2026</a:t>
            </a:r>
            <a:endParaRPr spc="-20"/>
          </a:p>
        </p:txBody>
      </p:sp>
    </p:spTree>
    <p:extLst>
      <p:ext uri="{BB962C8B-B14F-4D97-AF65-F5344CB8AC3E}">
        <p14:creationId xmlns:p14="http://schemas.microsoft.com/office/powerpoint/2010/main" val="17861390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a:extLst>
              <a:ext uri="{FF2B5EF4-FFF2-40B4-BE49-F238E27FC236}">
                <a16:creationId xmlns:a16="http://schemas.microsoft.com/office/drawing/2014/main" id="{A619AAC1-B585-42CC-ADCF-B9405CFA58D9}"/>
              </a:ext>
            </a:extLst>
          </p:cNvPr>
          <p:cNvSpPr>
            <a:spLocks noGrp="1"/>
          </p:cNvSpPr>
          <p:nvPr>
            <p:ph type="ftr" idx="5"/>
          </p:nvPr>
        </p:nvSpPr>
        <p:spPr>
          <a:prstGeom prst="rect">
            <a:avLst/>
          </a:prstGeom>
        </p:spPr>
        <p:txBody>
          <a:bodyPr vert="horz" wrap="square" lIns="0" tIns="0" rIns="0" bIns="0">
            <a:spAutoFit/>
          </a:bodyPr>
          <a:lstStyle/>
          <a:p>
            <a:pPr marL="12700">
              <a:lnSpc>
                <a:spcPts val="1689"/>
              </a:lnSpc>
              <a:buNone/>
            </a:pPr>
            <a:r>
              <a:rPr spc="-10"/>
              <a:t>Dept of AIML</a:t>
            </a:r>
            <a:endParaRPr spc="-85"/>
          </a:p>
        </p:txBody>
      </p:sp>
      <p:sp>
        <p:nvSpPr>
          <p:cNvPr id="6" name="object 6">
            <a:extLst>
              <a:ext uri="{FF2B5EF4-FFF2-40B4-BE49-F238E27FC236}">
                <a16:creationId xmlns:a16="http://schemas.microsoft.com/office/drawing/2014/main" id="{E61B2001-1F8A-4F17-BE01-0363268A52BA}"/>
              </a:ext>
            </a:extLst>
          </p:cNvPr>
          <p:cNvSpPr>
            <a:spLocks noGrp="1"/>
          </p:cNvSpPr>
          <p:nvPr>
            <p:ph type="sldNum" idx="7"/>
          </p:nvPr>
        </p:nvSpPr>
        <p:spPr>
          <a:prstGeom prst="rect">
            <a:avLst/>
          </a:prstGeom>
        </p:spPr>
        <p:txBody>
          <a:bodyPr vert="horz" wrap="square" lIns="0" tIns="0" rIns="0" bIns="0">
            <a:spAutoFit/>
          </a:bodyPr>
          <a:lstStyle/>
          <a:p>
            <a:pPr marL="12700">
              <a:lnSpc>
                <a:spcPts val="1600"/>
              </a:lnSpc>
              <a:buNone/>
            </a:pPr>
            <a:fld id="{81D60167-4931-47E6-BA6A-407CBD079E47}" type="slidenum">
              <a:rPr spc="-25"/>
              <a:t>4</a:t>
            </a:fld>
            <a:endParaRPr spc="-25"/>
          </a:p>
        </p:txBody>
      </p:sp>
      <p:sp>
        <p:nvSpPr>
          <p:cNvPr id="2" name="object 2">
            <a:extLst>
              <a:ext uri="{FF2B5EF4-FFF2-40B4-BE49-F238E27FC236}">
                <a16:creationId xmlns:a16="http://schemas.microsoft.com/office/drawing/2014/main" id="{9310D779-DCC2-45D0-AE5E-E18F7BE9B474}"/>
              </a:ext>
            </a:extLst>
          </p:cNvPr>
          <p:cNvSpPr>
            <a:spLocks noGrp="1"/>
          </p:cNvSpPr>
          <p:nvPr>
            <p:ph type="title"/>
          </p:nvPr>
        </p:nvSpPr>
        <p:spPr>
          <a:xfrm>
            <a:off x="472771" y="533400"/>
            <a:ext cx="11151223" cy="521297"/>
          </a:xfrm>
          <a:prstGeom prst="rect">
            <a:avLst/>
          </a:prstGeom>
        </p:spPr>
        <p:txBody>
          <a:bodyPr vert="horz" wrap="square" lIns="0" tIns="13335" rIns="0" bIns="0">
            <a:spAutoFit/>
          </a:bodyPr>
          <a:lstStyle/>
          <a:p>
            <a:pPr marL="3806190">
              <a:lnSpc>
                <a:spcPct val="100000"/>
              </a:lnSpc>
              <a:spcBef>
                <a:spcPts val="105"/>
              </a:spcBef>
              <a:buNone/>
            </a:pPr>
            <a:r>
              <a:rPr b="1" spc="105"/>
              <a:t>INTRODUCTION</a:t>
            </a:r>
          </a:p>
        </p:txBody>
      </p:sp>
      <p:sp>
        <p:nvSpPr>
          <p:cNvPr id="3" name="object 3">
            <a:extLst>
              <a:ext uri="{FF2B5EF4-FFF2-40B4-BE49-F238E27FC236}">
                <a16:creationId xmlns:a16="http://schemas.microsoft.com/office/drawing/2014/main" id="{83421F70-865B-4715-B417-5353B3AC66CE}"/>
              </a:ext>
            </a:extLst>
          </p:cNvPr>
          <p:cNvSpPr>
            <a:spLocks noGrp="1"/>
          </p:cNvSpPr>
          <p:nvPr/>
        </p:nvSpPr>
        <p:spPr>
          <a:xfrm>
            <a:off x="644966" y="1444955"/>
            <a:ext cx="11014971" cy="3138360"/>
          </a:xfrm>
          <a:prstGeom prst="rect">
            <a:avLst/>
          </a:prstGeom>
        </p:spPr>
        <p:txBody>
          <a:bodyPr vert="horz" wrap="square" lIns="0" tIns="12065" rIns="0" bIns="0">
            <a:spAutoFit/>
          </a:bodyPr>
          <a:lstStyle/>
          <a:p>
            <a:pPr marL="457200" marR="15240" indent="-445134">
              <a:lnSpc>
                <a:spcPct val="141800"/>
              </a:lnSpc>
              <a:spcBef>
                <a:spcPts val="95"/>
              </a:spcBef>
              <a:buChar char="•"/>
              <a:tabLst>
                <a:tab pos="457200" algn="l"/>
                <a:tab pos="458470" algn="l"/>
                <a:tab pos="2198370" algn="l"/>
                <a:tab pos="3362325" algn="l"/>
                <a:tab pos="3931920" algn="l"/>
                <a:tab pos="5068570" algn="l"/>
                <a:tab pos="5639435" algn="l"/>
                <a:tab pos="6418580" algn="l"/>
                <a:tab pos="7028815" algn="l"/>
                <a:tab pos="7753984" algn="l"/>
                <a:tab pos="8153400" algn="l"/>
                <a:tab pos="9043670" algn="l"/>
                <a:tab pos="10281920" algn="l"/>
              </a:tabLst>
            </a:pPr>
            <a:r>
              <a:rPr sz="2400">
                <a:latin typeface="Times New Roman"/>
                <a:ea typeface="Times New Roman"/>
                <a:cs typeface="Times New Roman"/>
              </a:rPr>
              <a:t>Healthcare LLM systems process sensitive data including electronic health records and patient interactions.</a:t>
            </a:r>
          </a:p>
          <a:p>
            <a:pPr marL="457200" marR="15240" indent="-445134">
              <a:lnSpc>
                <a:spcPct val="141800"/>
              </a:lnSpc>
              <a:spcBef>
                <a:spcPts val="95"/>
              </a:spcBef>
              <a:buChar char="•"/>
              <a:tabLst>
                <a:tab pos="457200" algn="l"/>
                <a:tab pos="458470" algn="l"/>
                <a:tab pos="2198370" algn="l"/>
                <a:tab pos="3362325" algn="l"/>
                <a:tab pos="3931920" algn="l"/>
                <a:tab pos="5068570" algn="l"/>
                <a:tab pos="5639435" algn="l"/>
                <a:tab pos="6418580" algn="l"/>
                <a:tab pos="7028815" algn="l"/>
                <a:tab pos="7753984" algn="l"/>
                <a:tab pos="8153400" algn="l"/>
                <a:tab pos="9043670" algn="l"/>
                <a:tab pos="10281920" algn="l"/>
              </a:tabLst>
            </a:pPr>
            <a:r>
              <a:rPr sz="2400">
                <a:solidFill>
                  <a:schemeClr val="tx2"/>
                </a:solidFill>
                <a:latin typeface="Times New Roman"/>
                <a:ea typeface="Times New Roman"/>
                <a:cs typeface="Times New Roman"/>
              </a:rPr>
              <a:t>Prompt injection attacks exploit contextual reasoning by embedding malicious instructions within legitimate queries.</a:t>
            </a:r>
          </a:p>
          <a:p>
            <a:pPr marL="457200" marR="15240" indent="-445134">
              <a:lnSpc>
                <a:spcPct val="141800"/>
              </a:lnSpc>
              <a:spcBef>
                <a:spcPts val="95"/>
              </a:spcBef>
              <a:buChar char="•"/>
              <a:tabLst>
                <a:tab pos="457200" algn="l"/>
                <a:tab pos="458470" algn="l"/>
                <a:tab pos="2198370" algn="l"/>
                <a:tab pos="3362325" algn="l"/>
                <a:tab pos="3931920" algn="l"/>
                <a:tab pos="5068570" algn="l"/>
                <a:tab pos="5639435" algn="l"/>
                <a:tab pos="6418580" algn="l"/>
                <a:tab pos="7028815" algn="l"/>
                <a:tab pos="7753984" algn="l"/>
                <a:tab pos="8153400" algn="l"/>
                <a:tab pos="9043670" algn="l"/>
                <a:tab pos="10281920" algn="l"/>
              </a:tabLst>
            </a:pPr>
            <a:r>
              <a:rPr sz="2400">
                <a:latin typeface="Times New Roman"/>
                <a:ea typeface="Times New Roman"/>
                <a:cs typeface="Times New Roman"/>
              </a:rPr>
              <a:t>Such attacks can override policies and extract confidential patient information.</a:t>
            </a:r>
          </a:p>
          <a:p>
            <a:pPr marL="457200" marR="15240" indent="-445134">
              <a:lnSpc>
                <a:spcPct val="141800"/>
              </a:lnSpc>
              <a:spcBef>
                <a:spcPts val="95"/>
              </a:spcBef>
              <a:buChar char="•"/>
              <a:tabLst>
                <a:tab pos="457200" algn="l"/>
                <a:tab pos="458470" algn="l"/>
                <a:tab pos="2198370" algn="l"/>
                <a:tab pos="3362325" algn="l"/>
                <a:tab pos="3931920" algn="l"/>
                <a:tab pos="5068570" algn="l"/>
                <a:tab pos="5639435" algn="l"/>
                <a:tab pos="6418580" algn="l"/>
                <a:tab pos="7028815" algn="l"/>
                <a:tab pos="7753984" algn="l"/>
                <a:tab pos="8153400" algn="l"/>
                <a:tab pos="9043670" algn="l"/>
                <a:tab pos="10281920" algn="l"/>
              </a:tabLst>
            </a:pPr>
            <a:r>
              <a:rPr sz="2400">
                <a:solidFill>
                  <a:schemeClr val="tx2"/>
                </a:solidFill>
                <a:latin typeface="Times New Roman"/>
                <a:ea typeface="Times New Roman"/>
                <a:cs typeface="Times New Roman"/>
              </a:rPr>
              <a:t>There is a need for domain-aware, adaptive, and explainable LLM guardrails.</a:t>
            </a:r>
          </a:p>
        </p:txBody>
      </p:sp>
      <p:sp>
        <p:nvSpPr>
          <p:cNvPr id="7" name="object 10">
            <a:extLst>
              <a:ext uri="{FF2B5EF4-FFF2-40B4-BE49-F238E27FC236}">
                <a16:creationId xmlns:a16="http://schemas.microsoft.com/office/drawing/2014/main" id="{D03B2FD8-5117-D8A0-4A1D-BA14C212AA34}"/>
              </a:ext>
            </a:extLst>
          </p:cNvPr>
          <p:cNvSpPr>
            <a:spLocks noGrp="1"/>
          </p:cNvSpPr>
          <p:nvPr>
            <p:ph type="dt" idx="6"/>
          </p:nvPr>
        </p:nvSpPr>
        <p:spPr>
          <a:xfrm>
            <a:off x="1132803" y="6333334"/>
            <a:ext cx="869314" cy="205184"/>
          </a:xfrm>
          <a:prstGeom prst="rect">
            <a:avLst/>
          </a:prstGeom>
        </p:spPr>
        <p:txBody>
          <a:bodyPr vert="horz" wrap="square" lIns="0" tIns="0" rIns="0" bIns="0">
            <a:spAutoFit/>
          </a:bodyPr>
          <a:lstStyle/>
          <a:p>
            <a:pPr marL="12700">
              <a:lnSpc>
                <a:spcPts val="1635"/>
              </a:lnSpc>
              <a:buNone/>
            </a:pPr>
            <a:r>
              <a:t>22-08-2026</a:t>
            </a:r>
            <a:endParaRPr spc="-20"/>
          </a:p>
        </p:txBody>
      </p:sp>
    </p:spTree>
    <p:extLst>
      <p:ext uri="{BB962C8B-B14F-4D97-AF65-F5344CB8AC3E}">
        <p14:creationId xmlns:p14="http://schemas.microsoft.com/office/powerpoint/2010/main" val="18581124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a:extLst>
              <a:ext uri="{FF2B5EF4-FFF2-40B4-BE49-F238E27FC236}">
                <a16:creationId xmlns:a16="http://schemas.microsoft.com/office/drawing/2014/main" id="{CD54A4F8-620F-4537-B509-E7429DF2A869}"/>
              </a:ext>
            </a:extLst>
          </p:cNvPr>
          <p:cNvSpPr>
            <a:spLocks noGrp="1"/>
          </p:cNvSpPr>
          <p:nvPr>
            <p:ph type="ftr" idx="5"/>
          </p:nvPr>
        </p:nvSpPr>
        <p:spPr>
          <a:prstGeom prst="rect">
            <a:avLst/>
          </a:prstGeom>
        </p:spPr>
        <p:txBody>
          <a:bodyPr vert="horz" wrap="square" lIns="0" tIns="0" rIns="0" bIns="0">
            <a:spAutoFit/>
          </a:bodyPr>
          <a:lstStyle/>
          <a:p>
            <a:pPr marL="12700">
              <a:lnSpc>
                <a:spcPts val="1689"/>
              </a:lnSpc>
              <a:buNone/>
            </a:pPr>
            <a:r>
              <a:rPr spc="-10"/>
              <a:t>Dept of AIML</a:t>
            </a:r>
            <a:endParaRPr spc="-85"/>
          </a:p>
        </p:txBody>
      </p:sp>
      <p:sp>
        <p:nvSpPr>
          <p:cNvPr id="6" name="object 6">
            <a:extLst>
              <a:ext uri="{FF2B5EF4-FFF2-40B4-BE49-F238E27FC236}">
                <a16:creationId xmlns:a16="http://schemas.microsoft.com/office/drawing/2014/main" id="{47434C60-A986-4F6C-81FB-10EE0A406456}"/>
              </a:ext>
            </a:extLst>
          </p:cNvPr>
          <p:cNvSpPr>
            <a:spLocks noGrp="1"/>
          </p:cNvSpPr>
          <p:nvPr>
            <p:ph type="sldNum" idx="7"/>
          </p:nvPr>
        </p:nvSpPr>
        <p:spPr>
          <a:prstGeom prst="rect">
            <a:avLst/>
          </a:prstGeom>
        </p:spPr>
        <p:txBody>
          <a:bodyPr vert="horz" wrap="square" lIns="0" tIns="0" rIns="0" bIns="0">
            <a:spAutoFit/>
          </a:bodyPr>
          <a:lstStyle/>
          <a:p>
            <a:pPr marL="12700">
              <a:lnSpc>
                <a:spcPts val="1600"/>
              </a:lnSpc>
              <a:buNone/>
            </a:pPr>
            <a:fld id="{81D60167-4931-47E6-BA6A-407CBD079E47}" type="slidenum">
              <a:rPr spc="-25"/>
              <a:t>5</a:t>
            </a:fld>
            <a:endParaRPr spc="-25"/>
          </a:p>
        </p:txBody>
      </p:sp>
      <p:sp>
        <p:nvSpPr>
          <p:cNvPr id="3" name="object 3">
            <a:extLst>
              <a:ext uri="{FF2B5EF4-FFF2-40B4-BE49-F238E27FC236}">
                <a16:creationId xmlns:a16="http://schemas.microsoft.com/office/drawing/2014/main" id="{D154D2BB-1B98-4304-9AF0-44C4CD0E56BD}"/>
              </a:ext>
            </a:extLst>
          </p:cNvPr>
          <p:cNvSpPr>
            <a:spLocks noGrp="1"/>
          </p:cNvSpPr>
          <p:nvPr>
            <p:ph type="title"/>
          </p:nvPr>
        </p:nvSpPr>
        <p:spPr>
          <a:xfrm>
            <a:off x="3764107" y="205669"/>
            <a:ext cx="4628515" cy="529590"/>
          </a:xfrm>
          <a:prstGeom prst="rect">
            <a:avLst/>
          </a:prstGeom>
        </p:spPr>
        <p:txBody>
          <a:bodyPr vert="horz" wrap="square" lIns="0" tIns="13335" rIns="0" bIns="0">
            <a:spAutoFit/>
          </a:bodyPr>
          <a:lstStyle/>
          <a:p>
            <a:pPr marL="12700">
              <a:lnSpc>
                <a:spcPct val="100000"/>
              </a:lnSpc>
              <a:spcBef>
                <a:spcPts val="105"/>
              </a:spcBef>
              <a:buNone/>
            </a:pPr>
            <a:r>
              <a:rPr b="1">
                <a:latin typeface="Times New Roman"/>
                <a:ea typeface="Times New Roman"/>
                <a:cs typeface="Times New Roman"/>
              </a:rPr>
              <a:t>LITERATURE</a:t>
            </a:r>
            <a:r>
              <a:rPr b="1" spc="85">
                <a:latin typeface="Times New Roman"/>
                <a:ea typeface="Times New Roman"/>
                <a:cs typeface="Times New Roman"/>
              </a:rPr>
              <a:t> </a:t>
            </a:r>
            <a:r>
              <a:rPr b="1" spc="-10">
                <a:latin typeface="Times New Roman"/>
                <a:ea typeface="Times New Roman"/>
                <a:cs typeface="Times New Roman"/>
              </a:rPr>
              <a:t>SURVEY</a:t>
            </a:r>
          </a:p>
        </p:txBody>
      </p:sp>
      <p:graphicFrame>
        <p:nvGraphicFramePr>
          <p:cNvPr id="11" name="Table 6"/>
          <p:cNvGraphicFramePr/>
          <p:nvPr/>
        </p:nvGraphicFramePr>
        <p:xfrm>
          <a:off x="352246" y="917813"/>
          <a:ext cx="11322276" cy="5386397"/>
        </p:xfrm>
        <a:graphic>
          <a:graphicData uri="http://schemas.openxmlformats.org/drawingml/2006/table">
            <a:tbl>
              <a:tblPr firstRow="1" firstCol="1" bandRow="1">
                <a:tableStyleId>{5940675A-B579-460E-94D1-54222C63F5DA}</a:tableStyleId>
              </a:tblPr>
              <a:tblGrid>
                <a:gridCol w="457201">
                  <a:extLst>
                    <a:ext uri="{9D8B030D-6E8A-4147-A177-3AD203B41FA5}">
                      <a16:colId xmlns:a16="http://schemas.microsoft.com/office/drawing/2014/main" val="20000"/>
                    </a:ext>
                  </a:extLst>
                </a:gridCol>
                <a:gridCol w="1219200">
                  <a:extLst>
                    <a:ext uri="{9D8B030D-6E8A-4147-A177-3AD203B41FA5}">
                      <a16:colId xmlns:a16="http://schemas.microsoft.com/office/drawing/2014/main" val="20001"/>
                    </a:ext>
                  </a:extLst>
                </a:gridCol>
                <a:gridCol w="1600200">
                  <a:extLst>
                    <a:ext uri="{9D8B030D-6E8A-4147-A177-3AD203B41FA5}">
                      <a16:colId xmlns:a16="http://schemas.microsoft.com/office/drawing/2014/main" val="20002"/>
                    </a:ext>
                  </a:extLst>
                </a:gridCol>
                <a:gridCol w="609600">
                  <a:extLst>
                    <a:ext uri="{9D8B030D-6E8A-4147-A177-3AD203B41FA5}">
                      <a16:colId xmlns:a16="http://schemas.microsoft.com/office/drawing/2014/main" val="20003"/>
                    </a:ext>
                  </a:extLst>
                </a:gridCol>
                <a:gridCol w="3200400">
                  <a:extLst>
                    <a:ext uri="{9D8B030D-6E8A-4147-A177-3AD203B41FA5}">
                      <a16:colId xmlns:a16="http://schemas.microsoft.com/office/drawing/2014/main" val="20004"/>
                    </a:ext>
                  </a:extLst>
                </a:gridCol>
                <a:gridCol w="4235675">
                  <a:extLst>
                    <a:ext uri="{9D8B030D-6E8A-4147-A177-3AD203B41FA5}">
                      <a16:colId xmlns:a16="http://schemas.microsoft.com/office/drawing/2014/main" val="20005"/>
                    </a:ext>
                  </a:extLst>
                </a:gridCol>
              </a:tblGrid>
              <a:tr h="473367">
                <a:tc>
                  <a:txBody>
                    <a:bodyPr/>
                    <a:lstStyle/>
                    <a:p>
                      <a:pPr marL="0" marR="0">
                        <a:lnSpc>
                          <a:spcPct val="115000"/>
                        </a:lnSpc>
                        <a:spcAft>
                          <a:spcPts val="800"/>
                        </a:spcAft>
                        <a:buNone/>
                      </a:pPr>
                      <a:r>
                        <a:rPr sz="1600"/>
                        <a:t>S. No</a:t>
                      </a:r>
                      <a:endParaRPr sz="1600" kern="100">
                        <a:latin typeface="Times New Roman"/>
                        <a:ea typeface="Times New Roman"/>
                        <a:cs typeface="Times New Roman"/>
                      </a:endParaRPr>
                    </a:p>
                  </a:txBody>
                  <a:tcPr marL="39541" marR="39541" marT="0" marB="0"/>
                </a:tc>
                <a:tc>
                  <a:txBody>
                    <a:bodyPr/>
                    <a:lstStyle/>
                    <a:p>
                      <a:pPr marL="0" marR="0">
                        <a:lnSpc>
                          <a:spcPct val="115000"/>
                        </a:lnSpc>
                        <a:spcAft>
                          <a:spcPts val="800"/>
                        </a:spcAft>
                        <a:buNone/>
                      </a:pPr>
                      <a:r>
                        <a:rPr sz="1600"/>
                        <a:t>Author</a:t>
                      </a:r>
                      <a:endParaRPr sz="1600" kern="100">
                        <a:latin typeface="Times New Roman"/>
                        <a:ea typeface="Times New Roman"/>
                        <a:cs typeface="Times New Roman"/>
                      </a:endParaRPr>
                    </a:p>
                  </a:txBody>
                  <a:tcPr marL="39541" marR="39541" marT="0" marB="0"/>
                </a:tc>
                <a:tc>
                  <a:txBody>
                    <a:bodyPr/>
                    <a:lstStyle/>
                    <a:p>
                      <a:pPr marL="0" marR="0">
                        <a:lnSpc>
                          <a:spcPct val="115000"/>
                        </a:lnSpc>
                        <a:spcAft>
                          <a:spcPts val="800"/>
                        </a:spcAft>
                        <a:buNone/>
                      </a:pPr>
                      <a:r>
                        <a:rPr sz="1600"/>
                        <a:t>Paper Title</a:t>
                      </a:r>
                      <a:endParaRPr sz="1600" kern="100">
                        <a:latin typeface="Times New Roman"/>
                        <a:ea typeface="Times New Roman"/>
                        <a:cs typeface="Times New Roman"/>
                      </a:endParaRPr>
                    </a:p>
                  </a:txBody>
                  <a:tcPr marL="39541" marR="39541" marT="0" marB="0"/>
                </a:tc>
                <a:tc>
                  <a:txBody>
                    <a:bodyPr/>
                    <a:lstStyle/>
                    <a:p>
                      <a:pPr marL="0" marR="0">
                        <a:lnSpc>
                          <a:spcPct val="115000"/>
                        </a:lnSpc>
                        <a:spcAft>
                          <a:spcPts val="800"/>
                        </a:spcAft>
                        <a:buNone/>
                      </a:pPr>
                      <a:r>
                        <a:rPr sz="1600"/>
                        <a:t>Year</a:t>
                      </a:r>
                      <a:endParaRPr sz="1600" kern="100">
                        <a:latin typeface="Times New Roman"/>
                        <a:ea typeface="Times New Roman"/>
                        <a:cs typeface="Times New Roman"/>
                      </a:endParaRPr>
                    </a:p>
                  </a:txBody>
                  <a:tcPr marL="39541" marR="39541" marT="0" marB="0"/>
                </a:tc>
                <a:tc>
                  <a:txBody>
                    <a:bodyPr/>
                    <a:lstStyle/>
                    <a:p>
                      <a:pPr marL="0" marR="0">
                        <a:lnSpc>
                          <a:spcPct val="115000"/>
                        </a:lnSpc>
                        <a:spcAft>
                          <a:spcPts val="800"/>
                        </a:spcAft>
                        <a:buNone/>
                      </a:pPr>
                      <a:r>
                        <a:rPr sz="1600"/>
                        <a:t>Methods Used</a:t>
                      </a:r>
                      <a:endParaRPr sz="1600" kern="100">
                        <a:latin typeface="Times New Roman"/>
                        <a:ea typeface="Times New Roman"/>
                        <a:cs typeface="Times New Roman"/>
                      </a:endParaRPr>
                    </a:p>
                  </a:txBody>
                  <a:tcPr marL="39541" marR="39541" marT="0" marB="0"/>
                </a:tc>
                <a:tc>
                  <a:txBody>
                    <a:bodyPr/>
                    <a:lstStyle/>
                    <a:p>
                      <a:pPr marL="0" marR="0">
                        <a:lnSpc>
                          <a:spcPct val="115000"/>
                        </a:lnSpc>
                        <a:spcAft>
                          <a:spcPts val="800"/>
                        </a:spcAft>
                        <a:buNone/>
                      </a:pPr>
                      <a:r>
                        <a:rPr sz="1600"/>
                        <a:t>Limitations / Gaps Identified</a:t>
                      </a:r>
                      <a:endParaRPr sz="1600" kern="100">
                        <a:latin typeface="Times New Roman"/>
                        <a:ea typeface="Times New Roman"/>
                        <a:cs typeface="Times New Roman"/>
                      </a:endParaRPr>
                    </a:p>
                  </a:txBody>
                  <a:tcPr marL="39541" marR="39541" marT="0" marB="0"/>
                </a:tc>
                <a:extLst>
                  <a:ext uri="{0D108BD9-81ED-4DB2-BD59-A6C34878D82A}">
                    <a16:rowId xmlns:a16="http://schemas.microsoft.com/office/drawing/2014/main" val="10000"/>
                  </a:ext>
                </a:extLst>
              </a:tr>
              <a:tr h="2425335">
                <a:tc>
                  <a:txBody>
                    <a:bodyPr/>
                    <a:lstStyle/>
                    <a:p>
                      <a:pPr marL="0" marR="0">
                        <a:lnSpc>
                          <a:spcPct val="115000"/>
                        </a:lnSpc>
                        <a:spcAft>
                          <a:spcPts val="800"/>
                        </a:spcAft>
                        <a:buNone/>
                      </a:pPr>
                      <a:r>
                        <a:rPr sz="1600"/>
                        <a:t>1</a:t>
                      </a:r>
                      <a:endParaRPr sz="1600" kern="100">
                        <a:latin typeface="Times New Roman"/>
                        <a:ea typeface="Times New Roman"/>
                        <a:cs typeface="Times New Roman"/>
                      </a:endParaRPr>
                    </a:p>
                  </a:txBody>
                  <a:tcPr marL="39541" marR="39541" marT="0" marB="0"/>
                </a:tc>
                <a:tc>
                  <a:txBody>
                    <a:bodyPr/>
                    <a:lstStyle/>
                    <a:p>
                      <a:pPr marL="0" marR="0">
                        <a:lnSpc>
                          <a:spcPct val="115000"/>
                        </a:lnSpc>
                        <a:spcAft>
                          <a:spcPts val="800"/>
                        </a:spcAft>
                        <a:buNone/>
                      </a:pPr>
                      <a:r>
                        <a:rPr sz="1600"/>
                        <a:t>R. W. Lee et al.</a:t>
                      </a:r>
                      <a:endParaRPr sz="1600" kern="100">
                        <a:latin typeface="Times New Roman"/>
                        <a:ea typeface="Times New Roman"/>
                        <a:cs typeface="Times New Roman"/>
                      </a:endParaRPr>
                    </a:p>
                  </a:txBody>
                  <a:tcPr marL="39541" marR="39541" marT="0" marB="0"/>
                </a:tc>
                <a:tc>
                  <a:txBody>
                    <a:bodyPr/>
                    <a:lstStyle/>
                    <a:p>
                      <a:pPr marL="0" marR="0">
                        <a:lnSpc>
                          <a:spcPct val="115000"/>
                        </a:lnSpc>
                        <a:spcAft>
                          <a:spcPts val="800"/>
                        </a:spcAft>
                        <a:buNone/>
                      </a:pPr>
                      <a:r>
                        <a:rPr sz="1600"/>
                        <a:t>Vulnerability of Large Language Models to Prompt Injection When Providing Medical Advice</a:t>
                      </a:r>
                      <a:endParaRPr sz="1600" kern="100">
                        <a:latin typeface="Times New Roman"/>
                        <a:ea typeface="Times New Roman"/>
                        <a:cs typeface="Times New Roman"/>
                      </a:endParaRPr>
                    </a:p>
                  </a:txBody>
                  <a:tcPr marL="39541" marR="39541" marT="0" marB="0"/>
                </a:tc>
                <a:tc>
                  <a:txBody>
                    <a:bodyPr/>
                    <a:lstStyle/>
                    <a:p>
                      <a:pPr marL="0" marR="0">
                        <a:lnSpc>
                          <a:spcPct val="115000"/>
                        </a:lnSpc>
                        <a:spcAft>
                          <a:spcPts val="800"/>
                        </a:spcAft>
                        <a:buNone/>
                      </a:pPr>
                      <a:r>
                        <a:rPr sz="1600"/>
                        <a:t>2025</a:t>
                      </a:r>
                      <a:endParaRPr sz="1600" kern="100">
                        <a:latin typeface="Times New Roman"/>
                        <a:ea typeface="Times New Roman"/>
                        <a:cs typeface="Times New Roman"/>
                      </a:endParaRPr>
                    </a:p>
                  </a:txBody>
                  <a:tcPr marL="39541" marR="39541" marT="0" marB="0"/>
                </a:tc>
                <a:tc>
                  <a:txBody>
                    <a:bodyPr/>
                    <a:lstStyle/>
                    <a:p>
                      <a:pPr marL="0" marR="0">
                        <a:lnSpc>
                          <a:spcPct val="115000"/>
                        </a:lnSpc>
                        <a:spcAft>
                          <a:spcPts val="800"/>
                        </a:spcAft>
                        <a:buNone/>
                      </a:pPr>
                      <a:r>
                        <a:rPr sz="1600"/>
                        <a:t>Conducts 216 simulated medical consultation scenarios to evaluate prompt injection attacks on LLMs. Measures attack success rate and persistence of unsafe medical advice generation. Results show 94.4% attack success rate and 69.4% persistence in follow-up responses.</a:t>
                      </a:r>
                      <a:endParaRPr sz="1600" kern="100">
                        <a:latin typeface="Times New Roman"/>
                        <a:ea typeface="Times New Roman"/>
                        <a:cs typeface="Times New Roman"/>
                      </a:endParaRPr>
                    </a:p>
                  </a:txBody>
                  <a:tcPr marL="39541" marR="39541" marT="0" marB="0"/>
                </a:tc>
                <a:tc>
                  <a:txBody>
                    <a:bodyPr/>
                    <a:lstStyle/>
                    <a:p>
                      <a:pPr marL="0" marR="0">
                        <a:lnSpc>
                          <a:spcPct val="115000"/>
                        </a:lnSpc>
                        <a:spcAft>
                          <a:spcPts val="800"/>
                        </a:spcAft>
                        <a:buNone/>
                      </a:pPr>
                      <a:r>
                        <a:rPr sz="1600"/>
                        <a:t>The study mainly identifies vulnerabilities but does not implement a real-time defense system. It lacks automated protection such as PHI detection, semantic filtering, anomaly scoring, or risk classification required for safe healthcare LLM deployment.</a:t>
                      </a:r>
                      <a:endParaRPr sz="1600" kern="100">
                        <a:latin typeface="Times New Roman"/>
                        <a:ea typeface="Times New Roman"/>
                        <a:cs typeface="Times New Roman"/>
                      </a:endParaRPr>
                    </a:p>
                  </a:txBody>
                  <a:tcPr marL="39541" marR="39541" marT="0" marB="0"/>
                </a:tc>
                <a:extLst>
                  <a:ext uri="{0D108BD9-81ED-4DB2-BD59-A6C34878D82A}">
                    <a16:rowId xmlns:a16="http://schemas.microsoft.com/office/drawing/2014/main" val="10001"/>
                  </a:ext>
                </a:extLst>
              </a:tr>
              <a:tr h="2418010">
                <a:tc>
                  <a:txBody>
                    <a:bodyPr/>
                    <a:lstStyle/>
                    <a:p>
                      <a:pPr marL="0" marR="0">
                        <a:lnSpc>
                          <a:spcPct val="115000"/>
                        </a:lnSpc>
                        <a:spcAft>
                          <a:spcPts val="800"/>
                        </a:spcAft>
                        <a:buNone/>
                      </a:pPr>
                      <a:r>
                        <a:rPr sz="1600"/>
                        <a:t>2</a:t>
                      </a:r>
                      <a:endParaRPr sz="1600" kern="100">
                        <a:latin typeface="Times New Roman"/>
                        <a:ea typeface="Times New Roman"/>
                        <a:cs typeface="Times New Roman"/>
                      </a:endParaRPr>
                    </a:p>
                  </a:txBody>
                  <a:tcPr marL="39541" marR="39541" marT="0" marB="0"/>
                </a:tc>
                <a:tc>
                  <a:txBody>
                    <a:bodyPr/>
                    <a:lstStyle/>
                    <a:p>
                      <a:pPr marL="0" marR="0">
                        <a:lnSpc>
                          <a:spcPct val="115000"/>
                        </a:lnSpc>
                        <a:spcAft>
                          <a:spcPts val="800"/>
                        </a:spcAft>
                        <a:buNone/>
                      </a:pPr>
                      <a:r>
                        <a:rPr sz="1600"/>
                        <a:t>X. Deng et al.</a:t>
                      </a:r>
                      <a:endParaRPr sz="1600" kern="100">
                        <a:latin typeface="Times New Roman"/>
                        <a:ea typeface="Times New Roman"/>
                        <a:cs typeface="Times New Roman"/>
                      </a:endParaRPr>
                    </a:p>
                  </a:txBody>
                  <a:tcPr marL="39541" marR="39541" marT="0" marB="0"/>
                </a:tc>
                <a:tc>
                  <a:txBody>
                    <a:bodyPr/>
                    <a:lstStyle/>
                    <a:p>
                      <a:pPr marL="0" marR="0">
                        <a:lnSpc>
                          <a:spcPct val="115000"/>
                        </a:lnSpc>
                        <a:spcAft>
                          <a:spcPts val="800"/>
                        </a:spcAft>
                        <a:buNone/>
                      </a:pPr>
                      <a:r>
                        <a:rPr sz="1600"/>
                        <a:t>MPIB: A Benchmark for Medical Prompt Injection Attacks and Clinical Safety in LLMs</a:t>
                      </a:r>
                      <a:endParaRPr sz="1600" kern="100">
                        <a:latin typeface="Times New Roman"/>
                        <a:ea typeface="Times New Roman"/>
                        <a:cs typeface="Times New Roman"/>
                      </a:endParaRPr>
                    </a:p>
                  </a:txBody>
                  <a:tcPr marL="39541" marR="39541" marT="0" marB="0"/>
                </a:tc>
                <a:tc>
                  <a:txBody>
                    <a:bodyPr/>
                    <a:lstStyle/>
                    <a:p>
                      <a:pPr marL="0" marR="0">
                        <a:lnSpc>
                          <a:spcPct val="115000"/>
                        </a:lnSpc>
                        <a:spcAft>
                          <a:spcPts val="800"/>
                        </a:spcAft>
                        <a:buNone/>
                      </a:pPr>
                      <a:r>
                        <a:rPr sz="1600"/>
                        <a:t>2025</a:t>
                      </a:r>
                      <a:endParaRPr sz="1600" kern="100">
                        <a:latin typeface="Times New Roman"/>
                        <a:ea typeface="Times New Roman"/>
                        <a:cs typeface="Times New Roman"/>
                      </a:endParaRPr>
                    </a:p>
                  </a:txBody>
                  <a:tcPr marL="39541" marR="39541" marT="0" marB="0"/>
                </a:tc>
                <a:tc>
                  <a:txBody>
                    <a:bodyPr/>
                    <a:lstStyle/>
                    <a:p>
                      <a:pPr marL="0" marR="0">
                        <a:lnSpc>
                          <a:spcPct val="115000"/>
                        </a:lnSpc>
                        <a:spcAft>
                          <a:spcPts val="800"/>
                        </a:spcAft>
                        <a:buNone/>
                      </a:pPr>
                      <a:r>
                        <a:rPr sz="1600"/>
                        <a:t>Introduces the MPIB benchmark to evaluate prompt injection attacks in healthcare LLM applications. Uses metrics like Attack Success Rate and Clinical Harm Event Rate (CHER) to measure the safety impact of malicious prompts in clinical scenarios.</a:t>
                      </a:r>
                      <a:endParaRPr sz="1600" kern="100">
                        <a:latin typeface="Times New Roman"/>
                        <a:ea typeface="Times New Roman"/>
                        <a:cs typeface="Times New Roman"/>
                      </a:endParaRPr>
                    </a:p>
                  </a:txBody>
                  <a:tcPr marL="39541" marR="39541" marT="0" marB="0"/>
                </a:tc>
                <a:tc>
                  <a:txBody>
                    <a:bodyPr/>
                    <a:lstStyle/>
                    <a:p>
                      <a:pPr marL="0" marR="0">
                        <a:lnSpc>
                          <a:spcPct val="115000"/>
                        </a:lnSpc>
                        <a:spcAft>
                          <a:spcPts val="800"/>
                        </a:spcAft>
                        <a:buNone/>
                      </a:pPr>
                      <a:r>
                        <a:rPr sz="1600"/>
                        <a:t>Focuses mainly on benchmarking and evaluation, without proposing a multi-layer defense framework. Does not integrate runtime protection mechanisms like PHI filtering, behavioral monitoring, or adaptive defense models for healthcare AI systems.</a:t>
                      </a:r>
                      <a:endParaRPr sz="1600" kern="100">
                        <a:latin typeface="Times New Roman"/>
                        <a:ea typeface="Times New Roman"/>
                        <a:cs typeface="Times New Roman"/>
                      </a:endParaRPr>
                    </a:p>
                  </a:txBody>
                  <a:tcPr marL="39541" marR="39541" marT="0" marB="0"/>
                </a:tc>
                <a:extLst>
                  <a:ext uri="{0D108BD9-81ED-4DB2-BD59-A6C34878D82A}">
                    <a16:rowId xmlns:a16="http://schemas.microsoft.com/office/drawing/2014/main" val="10002"/>
                  </a:ext>
                </a:extLst>
              </a:tr>
            </a:tbl>
          </a:graphicData>
        </a:graphic>
      </p:graphicFrame>
      <p:sp>
        <p:nvSpPr>
          <p:cNvPr id="2" name="object 10">
            <a:extLst>
              <a:ext uri="{FF2B5EF4-FFF2-40B4-BE49-F238E27FC236}">
                <a16:creationId xmlns:a16="http://schemas.microsoft.com/office/drawing/2014/main" id="{568FF5D1-329C-348F-7631-D9F19A0B6246}"/>
              </a:ext>
            </a:extLst>
          </p:cNvPr>
          <p:cNvSpPr>
            <a:spLocks noGrp="1"/>
          </p:cNvSpPr>
          <p:nvPr>
            <p:ph type="dt" idx="6"/>
          </p:nvPr>
        </p:nvSpPr>
        <p:spPr>
          <a:xfrm>
            <a:off x="1132803" y="6333334"/>
            <a:ext cx="869314" cy="205184"/>
          </a:xfrm>
          <a:prstGeom prst="rect">
            <a:avLst/>
          </a:prstGeom>
        </p:spPr>
        <p:txBody>
          <a:bodyPr vert="horz" wrap="square" lIns="0" tIns="0" rIns="0" bIns="0">
            <a:spAutoFit/>
          </a:bodyPr>
          <a:lstStyle/>
          <a:p>
            <a:pPr marL="12700">
              <a:lnSpc>
                <a:spcPts val="1635"/>
              </a:lnSpc>
              <a:buNone/>
            </a:pPr>
            <a:r>
              <a:t>22-08-2026</a:t>
            </a:r>
            <a:endParaRPr spc="-20"/>
          </a:p>
        </p:txBody>
      </p:sp>
    </p:spTree>
    <p:extLst>
      <p:ext uri="{BB962C8B-B14F-4D97-AF65-F5344CB8AC3E}">
        <p14:creationId xmlns:p14="http://schemas.microsoft.com/office/powerpoint/2010/main" val="14385112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a:extLst>
              <a:ext uri="{FF2B5EF4-FFF2-40B4-BE49-F238E27FC236}">
                <a16:creationId xmlns:a16="http://schemas.microsoft.com/office/drawing/2014/main" id="{4740E0F0-FFED-4946-AFA5-8C6A99248681}"/>
              </a:ext>
            </a:extLst>
          </p:cNvPr>
          <p:cNvSpPr>
            <a:spLocks noGrp="1"/>
          </p:cNvSpPr>
          <p:nvPr>
            <p:ph type="title"/>
          </p:nvPr>
        </p:nvSpPr>
        <p:spPr>
          <a:xfrm>
            <a:off x="2848972" y="189970"/>
            <a:ext cx="6904627" cy="528991"/>
          </a:xfrm>
          <a:prstGeom prst="rect">
            <a:avLst/>
          </a:prstGeom>
        </p:spPr>
        <p:txBody>
          <a:bodyPr vert="horz" wrap="square" lIns="0" tIns="13335" rIns="0" bIns="0">
            <a:spAutoFit/>
          </a:bodyPr>
          <a:lstStyle/>
          <a:p>
            <a:pPr marL="12700">
              <a:lnSpc>
                <a:spcPct val="100000"/>
              </a:lnSpc>
              <a:spcBef>
                <a:spcPts val="105"/>
              </a:spcBef>
              <a:buNone/>
              <a:tabLst>
                <a:tab pos="2883535" algn="l"/>
              </a:tabLst>
            </a:pPr>
            <a:r>
              <a:rPr sz="3350" b="1" spc="-10"/>
              <a:t>LITERATURE</a:t>
            </a:r>
            <a:r>
              <a:rPr sz="3350" b="1"/>
              <a:t>	SURVEY</a:t>
            </a:r>
            <a:r>
              <a:rPr sz="3350" b="1" spc="25"/>
              <a:t> </a:t>
            </a:r>
            <a:r>
              <a:rPr sz="3350" b="1" spc="130"/>
              <a:t>CONT....</a:t>
            </a:r>
            <a:endParaRPr sz="3350" b="1"/>
          </a:p>
        </p:txBody>
      </p:sp>
      <p:sp>
        <p:nvSpPr>
          <p:cNvPr id="12" name="object 12">
            <a:extLst>
              <a:ext uri="{FF2B5EF4-FFF2-40B4-BE49-F238E27FC236}">
                <a16:creationId xmlns:a16="http://schemas.microsoft.com/office/drawing/2014/main" id="{CF5A820E-AD04-459E-96D1-C4F27FA3DCB9}"/>
              </a:ext>
            </a:extLst>
          </p:cNvPr>
          <p:cNvSpPr>
            <a:spLocks noGrp="1"/>
          </p:cNvSpPr>
          <p:nvPr>
            <p:ph type="ftr" idx="5"/>
          </p:nvPr>
        </p:nvSpPr>
        <p:spPr>
          <a:prstGeom prst="rect">
            <a:avLst/>
          </a:prstGeom>
        </p:spPr>
        <p:txBody>
          <a:bodyPr vert="horz" wrap="square" lIns="0" tIns="0" rIns="0" bIns="0">
            <a:spAutoFit/>
          </a:bodyPr>
          <a:lstStyle/>
          <a:p>
            <a:pPr marL="12700">
              <a:lnSpc>
                <a:spcPts val="1689"/>
              </a:lnSpc>
              <a:buNone/>
            </a:pPr>
            <a:r>
              <a:rPr spc="-10"/>
              <a:t>Dept of AIML</a:t>
            </a:r>
            <a:endParaRPr spc="-85"/>
          </a:p>
        </p:txBody>
      </p:sp>
      <p:sp>
        <p:nvSpPr>
          <p:cNvPr id="14" name="object 14">
            <a:extLst>
              <a:ext uri="{FF2B5EF4-FFF2-40B4-BE49-F238E27FC236}">
                <a16:creationId xmlns:a16="http://schemas.microsoft.com/office/drawing/2014/main" id="{FAA3E2B1-BDC6-4DAA-AAEB-125947CF9405}"/>
              </a:ext>
            </a:extLst>
          </p:cNvPr>
          <p:cNvSpPr>
            <a:spLocks noGrp="1"/>
          </p:cNvSpPr>
          <p:nvPr>
            <p:ph type="sldNum" idx="7"/>
          </p:nvPr>
        </p:nvSpPr>
        <p:spPr>
          <a:prstGeom prst="rect">
            <a:avLst/>
          </a:prstGeom>
        </p:spPr>
        <p:txBody>
          <a:bodyPr vert="horz" wrap="square" lIns="0" tIns="0" rIns="0" bIns="0">
            <a:spAutoFit/>
          </a:bodyPr>
          <a:lstStyle/>
          <a:p>
            <a:pPr marL="12700">
              <a:lnSpc>
                <a:spcPts val="1600"/>
              </a:lnSpc>
              <a:buNone/>
            </a:pPr>
            <a:fld id="{81D60167-4931-47E6-BA6A-407CBD079E47}" type="slidenum">
              <a:rPr spc="-25"/>
              <a:t>6</a:t>
            </a:fld>
            <a:endParaRPr spc="-25"/>
          </a:p>
        </p:txBody>
      </p:sp>
      <p:graphicFrame>
        <p:nvGraphicFramePr>
          <p:cNvPr id="19" name="Table 1"/>
          <p:cNvGraphicFramePr/>
          <p:nvPr/>
        </p:nvGraphicFramePr>
        <p:xfrm>
          <a:off x="381000" y="990600"/>
          <a:ext cx="11353800" cy="5181600"/>
        </p:xfrm>
        <a:graphic>
          <a:graphicData uri="http://schemas.openxmlformats.org/drawingml/2006/table">
            <a:tbl>
              <a:tblPr firstRow="1" firstCol="1" bandRow="1">
                <a:tableStyleId>{5940675A-B579-460E-94D1-54222C63F5DA}</a:tableStyleId>
              </a:tblPr>
              <a:tblGrid>
                <a:gridCol w="45720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533400">
                  <a:extLst>
                    <a:ext uri="{9D8B030D-6E8A-4147-A177-3AD203B41FA5}">
                      <a16:colId xmlns:a16="http://schemas.microsoft.com/office/drawing/2014/main" val="20003"/>
                    </a:ext>
                  </a:extLst>
                </a:gridCol>
                <a:gridCol w="3505200">
                  <a:extLst>
                    <a:ext uri="{9D8B030D-6E8A-4147-A177-3AD203B41FA5}">
                      <a16:colId xmlns:a16="http://schemas.microsoft.com/office/drawing/2014/main" val="20004"/>
                    </a:ext>
                  </a:extLst>
                </a:gridCol>
                <a:gridCol w="3886200">
                  <a:extLst>
                    <a:ext uri="{9D8B030D-6E8A-4147-A177-3AD203B41FA5}">
                      <a16:colId xmlns:a16="http://schemas.microsoft.com/office/drawing/2014/main" val="20005"/>
                    </a:ext>
                  </a:extLst>
                </a:gridCol>
              </a:tblGrid>
              <a:tr h="2553191">
                <a:tc>
                  <a:txBody>
                    <a:bodyPr/>
                    <a:lstStyle/>
                    <a:p>
                      <a:pPr marL="0" marR="0">
                        <a:lnSpc>
                          <a:spcPct val="115000"/>
                        </a:lnSpc>
                        <a:spcAft>
                          <a:spcPts val="800"/>
                        </a:spcAft>
                        <a:buNone/>
                      </a:pPr>
                      <a:r>
                        <a:rPr sz="1600"/>
                        <a:t>3</a:t>
                      </a:r>
                      <a:endParaRPr sz="1600" kern="100">
                        <a:latin typeface="Times New Roman"/>
                        <a:ea typeface="Times New Roman"/>
                        <a:cs typeface="Times New Roman"/>
                      </a:endParaRPr>
                    </a:p>
                  </a:txBody>
                  <a:tcPr marL="35839" marR="35839" marT="0" marB="0"/>
                </a:tc>
                <a:tc>
                  <a:txBody>
                    <a:bodyPr/>
                    <a:lstStyle/>
                    <a:p>
                      <a:pPr marL="0" marR="0">
                        <a:lnSpc>
                          <a:spcPct val="115000"/>
                        </a:lnSpc>
                        <a:spcAft>
                          <a:spcPts val="800"/>
                        </a:spcAft>
                        <a:buNone/>
                      </a:pPr>
                      <a:r>
                        <a:rPr sz="1600"/>
                        <a:t>Y. Liu, T. Zhang, M. Chen, L. Wang</a:t>
                      </a:r>
                      <a:endParaRPr sz="1600" kern="100">
                        <a:latin typeface="Times New Roman"/>
                        <a:ea typeface="Times New Roman"/>
                        <a:cs typeface="Times New Roman"/>
                      </a:endParaRPr>
                    </a:p>
                  </a:txBody>
                  <a:tcPr marL="35839" marR="35839" marT="0" marB="0"/>
                </a:tc>
                <a:tc>
                  <a:txBody>
                    <a:bodyPr/>
                    <a:lstStyle/>
                    <a:p>
                      <a:pPr marL="0" marR="0">
                        <a:lnSpc>
                          <a:spcPct val="115000"/>
                        </a:lnSpc>
                        <a:spcAft>
                          <a:spcPts val="800"/>
                        </a:spcAft>
                        <a:buNone/>
                      </a:pPr>
                      <a:r>
                        <a:rPr sz="1600"/>
                        <a:t>DataSentinel: A Game-Theoretic Detection of Prompt Injection Attacks</a:t>
                      </a:r>
                      <a:endParaRPr sz="1600" kern="100">
                        <a:latin typeface="Times New Roman"/>
                        <a:ea typeface="Times New Roman"/>
                        <a:cs typeface="Times New Roman"/>
                      </a:endParaRPr>
                    </a:p>
                  </a:txBody>
                  <a:tcPr marL="35839" marR="35839" marT="0" marB="0"/>
                </a:tc>
                <a:tc>
                  <a:txBody>
                    <a:bodyPr/>
                    <a:lstStyle/>
                    <a:p>
                      <a:pPr marL="0" marR="0">
                        <a:lnSpc>
                          <a:spcPct val="115000"/>
                        </a:lnSpc>
                        <a:spcAft>
                          <a:spcPts val="800"/>
                        </a:spcAft>
                        <a:buNone/>
                      </a:pPr>
                      <a:r>
                        <a:rPr sz="1600"/>
                        <a:t>2025</a:t>
                      </a:r>
                      <a:endParaRPr sz="1600" kern="100">
                        <a:latin typeface="Times New Roman"/>
                        <a:ea typeface="Times New Roman"/>
                        <a:cs typeface="Times New Roman"/>
                      </a:endParaRPr>
                    </a:p>
                  </a:txBody>
                  <a:tcPr marL="35839" marR="35839" marT="0" marB="0"/>
                </a:tc>
                <a:tc>
                  <a:txBody>
                    <a:bodyPr/>
                    <a:lstStyle/>
                    <a:p>
                      <a:pPr marL="0" marR="0">
                        <a:lnSpc>
                          <a:spcPct val="115000"/>
                        </a:lnSpc>
                        <a:spcAft>
                          <a:spcPts val="800"/>
                        </a:spcAft>
                        <a:buNone/>
                      </a:pPr>
                      <a:r>
                        <a:rPr sz="1600"/>
                        <a:t>Proposes DataSentinel, a prompt injection detection system using a game-theoretic model to model attacker–defender interactions. Uses classifier-based detection and optimizes defense strategies using payoff matrices and equilibrium analysis.</a:t>
                      </a:r>
                      <a:endParaRPr sz="1600" kern="100">
                        <a:latin typeface="Times New Roman"/>
                        <a:ea typeface="Times New Roman"/>
                        <a:cs typeface="Times New Roman"/>
                      </a:endParaRPr>
                    </a:p>
                  </a:txBody>
                  <a:tcPr marL="35839" marR="35839" marT="0" marB="0"/>
                </a:tc>
                <a:tc>
                  <a:txBody>
                    <a:bodyPr/>
                    <a:lstStyle/>
                    <a:p>
                      <a:pPr marL="0" marR="0">
                        <a:lnSpc>
                          <a:spcPct val="115000"/>
                        </a:lnSpc>
                        <a:spcAft>
                          <a:spcPts val="800"/>
                        </a:spcAft>
                        <a:buNone/>
                      </a:pPr>
                      <a:r>
                        <a:rPr sz="1600"/>
                        <a:t>The approach focuses primarily on text-level attack detection and lacks healthcare-specific safeguards. It does not consider PHI protection, semantic context validation, or multi-layer security integration needed for secure clinical AI applications.</a:t>
                      </a:r>
                      <a:endParaRPr sz="1600" kern="100">
                        <a:latin typeface="Times New Roman"/>
                        <a:ea typeface="Times New Roman"/>
                        <a:cs typeface="Times New Roman"/>
                      </a:endParaRPr>
                    </a:p>
                  </a:txBody>
                  <a:tcPr marL="35839" marR="35839" marT="0" marB="0"/>
                </a:tc>
                <a:extLst>
                  <a:ext uri="{0D108BD9-81ED-4DB2-BD59-A6C34878D82A}">
                    <a16:rowId xmlns:a16="http://schemas.microsoft.com/office/drawing/2014/main" val="10000"/>
                  </a:ext>
                </a:extLst>
              </a:tr>
              <a:tr h="2628409">
                <a:tc>
                  <a:txBody>
                    <a:bodyPr/>
                    <a:lstStyle/>
                    <a:p>
                      <a:pPr marL="0" marR="0">
                        <a:lnSpc>
                          <a:spcPct val="115000"/>
                        </a:lnSpc>
                        <a:spcAft>
                          <a:spcPts val="800"/>
                        </a:spcAft>
                        <a:buNone/>
                      </a:pPr>
                      <a:r>
                        <a:rPr sz="1600"/>
                        <a:t>4</a:t>
                      </a:r>
                      <a:endParaRPr sz="1600" kern="100">
                        <a:latin typeface="Times New Roman"/>
                        <a:ea typeface="Times New Roman"/>
                        <a:cs typeface="Times New Roman"/>
                      </a:endParaRPr>
                    </a:p>
                  </a:txBody>
                  <a:tcPr marL="35839" marR="35839" marT="0" marB="0"/>
                </a:tc>
                <a:tc>
                  <a:txBody>
                    <a:bodyPr/>
                    <a:lstStyle/>
                    <a:p>
                      <a:pPr marL="0" marR="0">
                        <a:lnSpc>
                          <a:spcPct val="115000"/>
                        </a:lnSpc>
                        <a:spcAft>
                          <a:spcPts val="800"/>
                        </a:spcAft>
                        <a:buNone/>
                      </a:pPr>
                      <a:r>
                        <a:rPr sz="1600"/>
                        <a:t>K. Greshake, M. Abdelnabi, K. Sun, M. Fritz</a:t>
                      </a:r>
                      <a:endParaRPr sz="1600" kern="100">
                        <a:latin typeface="Times New Roman"/>
                        <a:ea typeface="Times New Roman"/>
                        <a:cs typeface="Times New Roman"/>
                      </a:endParaRPr>
                    </a:p>
                  </a:txBody>
                  <a:tcPr marL="35839" marR="35839" marT="0" marB="0"/>
                </a:tc>
                <a:tc>
                  <a:txBody>
                    <a:bodyPr/>
                    <a:lstStyle/>
                    <a:p>
                      <a:pPr marL="0" marR="0">
                        <a:lnSpc>
                          <a:spcPct val="115000"/>
                        </a:lnSpc>
                        <a:spcAft>
                          <a:spcPts val="800"/>
                        </a:spcAft>
                        <a:buNone/>
                      </a:pPr>
                      <a:r>
                        <a:rPr sz="1600"/>
                        <a:t>Not What You've Signed Up For: Compromising Real-World LLM-Integrated Applications with Indirect Prompt Injection</a:t>
                      </a:r>
                      <a:endParaRPr sz="1600" kern="100">
                        <a:latin typeface="Times New Roman"/>
                        <a:ea typeface="Times New Roman"/>
                        <a:cs typeface="Times New Roman"/>
                      </a:endParaRPr>
                    </a:p>
                  </a:txBody>
                  <a:tcPr marL="35839" marR="35839" marT="0" marB="0"/>
                </a:tc>
                <a:tc>
                  <a:txBody>
                    <a:bodyPr/>
                    <a:lstStyle/>
                    <a:p>
                      <a:pPr marL="0" marR="0">
                        <a:lnSpc>
                          <a:spcPct val="115000"/>
                        </a:lnSpc>
                        <a:spcAft>
                          <a:spcPts val="800"/>
                        </a:spcAft>
                        <a:buNone/>
                      </a:pPr>
                      <a:r>
                        <a:rPr sz="1600"/>
                        <a:t>2023</a:t>
                      </a:r>
                      <a:endParaRPr sz="1600" kern="100">
                        <a:latin typeface="Times New Roman"/>
                        <a:ea typeface="Times New Roman"/>
                        <a:cs typeface="Times New Roman"/>
                      </a:endParaRPr>
                    </a:p>
                  </a:txBody>
                  <a:tcPr marL="35839" marR="35839" marT="0" marB="0"/>
                </a:tc>
                <a:tc>
                  <a:txBody>
                    <a:bodyPr/>
                    <a:lstStyle/>
                    <a:p>
                      <a:pPr marL="0" marR="0">
                        <a:lnSpc>
                          <a:spcPct val="115000"/>
                        </a:lnSpc>
                        <a:spcAft>
                          <a:spcPts val="800"/>
                        </a:spcAft>
                        <a:buNone/>
                      </a:pPr>
                      <a:r>
                        <a:rPr sz="1600"/>
                        <a:t>Demonstrates indirect prompt injection attacks through external sources such as web pages, emails, documents, and APIs. Shows how attackers manipulate LLM-integrated tools, plugins, and retrieval systems to bypass security mechanisms.</a:t>
                      </a:r>
                      <a:endParaRPr sz="1600" kern="100">
                        <a:latin typeface="Times New Roman"/>
                        <a:ea typeface="Times New Roman"/>
                        <a:cs typeface="Times New Roman"/>
                      </a:endParaRPr>
                    </a:p>
                  </a:txBody>
                  <a:tcPr marL="35839" marR="35839" marT="0" marB="0"/>
                </a:tc>
                <a:tc>
                  <a:txBody>
                    <a:bodyPr/>
                    <a:lstStyle/>
                    <a:p>
                      <a:pPr marL="0" marR="0">
                        <a:lnSpc>
                          <a:spcPct val="115000"/>
                        </a:lnSpc>
                        <a:spcAft>
                          <a:spcPts val="800"/>
                        </a:spcAft>
                        <a:buNone/>
                      </a:pPr>
                      <a:r>
                        <a:rPr sz="1600"/>
                        <a:t>While it reveals serious vulnerabilities in LLM applications, the study does not propose a comprehensive mitigation framework combining detection, risk scoring, and real-time blocking mechanisms required for secure deployment in healthcare AI systems.</a:t>
                      </a:r>
                      <a:endParaRPr sz="1600" kern="100">
                        <a:latin typeface="Times New Roman"/>
                        <a:ea typeface="Times New Roman"/>
                        <a:cs typeface="Times New Roman"/>
                      </a:endParaRPr>
                    </a:p>
                  </a:txBody>
                  <a:tcPr marL="35839" marR="35839" marT="0" marB="0"/>
                </a:tc>
                <a:extLst>
                  <a:ext uri="{0D108BD9-81ED-4DB2-BD59-A6C34878D82A}">
                    <a16:rowId xmlns:a16="http://schemas.microsoft.com/office/drawing/2014/main" val="10001"/>
                  </a:ext>
                </a:extLst>
              </a:tr>
            </a:tbl>
          </a:graphicData>
        </a:graphic>
      </p:graphicFrame>
      <p:sp>
        <p:nvSpPr>
          <p:cNvPr id="4" name="object 10">
            <a:extLst>
              <a:ext uri="{FF2B5EF4-FFF2-40B4-BE49-F238E27FC236}">
                <a16:creationId xmlns:a16="http://schemas.microsoft.com/office/drawing/2014/main" id="{AB1F5ACC-54B7-1AE8-DD30-3A3847F4CAB0}"/>
              </a:ext>
            </a:extLst>
          </p:cNvPr>
          <p:cNvSpPr>
            <a:spLocks noGrp="1"/>
          </p:cNvSpPr>
          <p:nvPr>
            <p:ph type="dt" idx="6"/>
          </p:nvPr>
        </p:nvSpPr>
        <p:spPr>
          <a:xfrm>
            <a:off x="1132803" y="6333334"/>
            <a:ext cx="869314" cy="205184"/>
          </a:xfrm>
          <a:prstGeom prst="rect">
            <a:avLst/>
          </a:prstGeom>
        </p:spPr>
        <p:txBody>
          <a:bodyPr vert="horz" wrap="square" lIns="0" tIns="0" rIns="0" bIns="0">
            <a:spAutoFit/>
          </a:bodyPr>
          <a:lstStyle/>
          <a:p>
            <a:pPr marL="12700">
              <a:lnSpc>
                <a:spcPts val="1635"/>
              </a:lnSpc>
              <a:buNone/>
            </a:pPr>
            <a:r>
              <a:t>22-08-2026</a:t>
            </a:r>
            <a:endParaRPr spc="-20"/>
          </a:p>
        </p:txBody>
      </p:sp>
    </p:spTree>
    <p:extLst>
      <p:ext uri="{BB962C8B-B14F-4D97-AF65-F5344CB8AC3E}">
        <p14:creationId xmlns:p14="http://schemas.microsoft.com/office/powerpoint/2010/main" val="912413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a:extLst>
              <a:ext uri="{FF2B5EF4-FFF2-40B4-BE49-F238E27FC236}">
                <a16:creationId xmlns:a16="http://schemas.microsoft.com/office/drawing/2014/main" id="{9ECBFD2E-CC1E-4269-8101-2615618697C8}"/>
              </a:ext>
            </a:extLst>
          </p:cNvPr>
          <p:cNvSpPr>
            <a:spLocks noGrp="1"/>
          </p:cNvSpPr>
          <p:nvPr>
            <p:ph type="ftr" idx="5"/>
          </p:nvPr>
        </p:nvSpPr>
        <p:spPr>
          <a:prstGeom prst="rect">
            <a:avLst/>
          </a:prstGeom>
        </p:spPr>
        <p:txBody>
          <a:bodyPr vert="horz" wrap="square" lIns="0" tIns="0" rIns="0" bIns="0">
            <a:spAutoFit/>
          </a:bodyPr>
          <a:lstStyle/>
          <a:p>
            <a:pPr marL="12700">
              <a:lnSpc>
                <a:spcPts val="1689"/>
              </a:lnSpc>
              <a:buNone/>
            </a:pPr>
            <a:r>
              <a:rPr spc="-10"/>
              <a:t>Dept of AIML</a:t>
            </a:r>
            <a:endParaRPr spc="-85"/>
          </a:p>
        </p:txBody>
      </p:sp>
      <p:sp>
        <p:nvSpPr>
          <p:cNvPr id="6" name="object 6">
            <a:extLst>
              <a:ext uri="{FF2B5EF4-FFF2-40B4-BE49-F238E27FC236}">
                <a16:creationId xmlns:a16="http://schemas.microsoft.com/office/drawing/2014/main" id="{2F97808D-BF95-4429-B3E0-2545668613AF}"/>
              </a:ext>
            </a:extLst>
          </p:cNvPr>
          <p:cNvSpPr>
            <a:spLocks noGrp="1"/>
          </p:cNvSpPr>
          <p:nvPr>
            <p:ph type="sldNum" idx="7"/>
          </p:nvPr>
        </p:nvSpPr>
        <p:spPr>
          <a:prstGeom prst="rect">
            <a:avLst/>
          </a:prstGeom>
        </p:spPr>
        <p:txBody>
          <a:bodyPr vert="horz" wrap="square" lIns="0" tIns="0" rIns="0" bIns="0">
            <a:spAutoFit/>
          </a:bodyPr>
          <a:lstStyle/>
          <a:p>
            <a:pPr marL="12700">
              <a:lnSpc>
                <a:spcPts val="1600"/>
              </a:lnSpc>
              <a:buNone/>
            </a:pPr>
            <a:fld id="{81D60167-4931-47E6-BA6A-407CBD079E47}" type="slidenum">
              <a:rPr spc="-25"/>
              <a:t>7</a:t>
            </a:fld>
            <a:endParaRPr spc="-25"/>
          </a:p>
        </p:txBody>
      </p:sp>
      <p:sp>
        <p:nvSpPr>
          <p:cNvPr id="3" name="object 3">
            <a:extLst>
              <a:ext uri="{FF2B5EF4-FFF2-40B4-BE49-F238E27FC236}">
                <a16:creationId xmlns:a16="http://schemas.microsoft.com/office/drawing/2014/main" id="{7FECBA10-551A-48B7-8FC7-69B2EF187A52}"/>
              </a:ext>
            </a:extLst>
          </p:cNvPr>
          <p:cNvSpPr>
            <a:spLocks noGrp="1"/>
          </p:cNvSpPr>
          <p:nvPr>
            <p:ph type="title"/>
          </p:nvPr>
        </p:nvSpPr>
        <p:spPr>
          <a:xfrm>
            <a:off x="2848972" y="189970"/>
            <a:ext cx="7285627" cy="536575"/>
          </a:xfrm>
          <a:prstGeom prst="rect">
            <a:avLst/>
          </a:prstGeom>
        </p:spPr>
        <p:txBody>
          <a:bodyPr vert="horz" wrap="square" lIns="0" tIns="13335" rIns="0" bIns="0">
            <a:spAutoFit/>
          </a:bodyPr>
          <a:lstStyle/>
          <a:p>
            <a:pPr marL="12700">
              <a:lnSpc>
                <a:spcPct val="100000"/>
              </a:lnSpc>
              <a:spcBef>
                <a:spcPts val="105"/>
              </a:spcBef>
              <a:buNone/>
              <a:tabLst>
                <a:tab pos="2883535" algn="l"/>
              </a:tabLst>
            </a:pPr>
            <a:r>
              <a:rPr sz="3350" b="1" spc="-10"/>
              <a:t>LITERATURE</a:t>
            </a:r>
            <a:r>
              <a:rPr sz="3350" b="1"/>
              <a:t>	SURVEY</a:t>
            </a:r>
            <a:r>
              <a:rPr sz="3350" b="1" spc="25"/>
              <a:t> </a:t>
            </a:r>
            <a:r>
              <a:rPr sz="3350" b="1" spc="130"/>
              <a:t>CONT....</a:t>
            </a:r>
            <a:endParaRPr sz="3350" b="1"/>
          </a:p>
        </p:txBody>
      </p:sp>
      <p:graphicFrame>
        <p:nvGraphicFramePr>
          <p:cNvPr id="12" name="Table 1"/>
          <p:cNvGraphicFramePr/>
          <p:nvPr/>
        </p:nvGraphicFramePr>
        <p:xfrm>
          <a:off x="438842" y="1219200"/>
          <a:ext cx="11219082" cy="2438400"/>
        </p:xfrm>
        <a:graphic>
          <a:graphicData uri="http://schemas.openxmlformats.org/drawingml/2006/table">
            <a:tbl>
              <a:tblPr firstRow="1" firstCol="1" bandRow="1">
                <a:tableStyleId>{5940675A-B579-460E-94D1-54222C63F5DA}</a:tableStyleId>
              </a:tblPr>
              <a:tblGrid>
                <a:gridCol w="354005">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1905000">
                  <a:extLst>
                    <a:ext uri="{9D8B030D-6E8A-4147-A177-3AD203B41FA5}">
                      <a16:colId xmlns:a16="http://schemas.microsoft.com/office/drawing/2014/main" val="20002"/>
                    </a:ext>
                  </a:extLst>
                </a:gridCol>
                <a:gridCol w="685800">
                  <a:extLst>
                    <a:ext uri="{9D8B030D-6E8A-4147-A177-3AD203B41FA5}">
                      <a16:colId xmlns:a16="http://schemas.microsoft.com/office/drawing/2014/main" val="20003"/>
                    </a:ext>
                  </a:extLst>
                </a:gridCol>
                <a:gridCol w="3429000">
                  <a:extLst>
                    <a:ext uri="{9D8B030D-6E8A-4147-A177-3AD203B41FA5}">
                      <a16:colId xmlns:a16="http://schemas.microsoft.com/office/drawing/2014/main" val="20004"/>
                    </a:ext>
                  </a:extLst>
                </a:gridCol>
                <a:gridCol w="3702277">
                  <a:extLst>
                    <a:ext uri="{9D8B030D-6E8A-4147-A177-3AD203B41FA5}">
                      <a16:colId xmlns:a16="http://schemas.microsoft.com/office/drawing/2014/main" val="20005"/>
                    </a:ext>
                  </a:extLst>
                </a:gridCol>
              </a:tblGrid>
              <a:tr h="2438400">
                <a:tc>
                  <a:txBody>
                    <a:bodyPr/>
                    <a:lstStyle/>
                    <a:p>
                      <a:pPr marL="0" marR="0">
                        <a:lnSpc>
                          <a:spcPct val="115000"/>
                        </a:lnSpc>
                        <a:spcAft>
                          <a:spcPts val="800"/>
                        </a:spcAft>
                        <a:buNone/>
                      </a:pPr>
                      <a:r>
                        <a:rPr sz="1600"/>
                        <a:t>5</a:t>
                      </a:r>
                      <a:endParaRPr sz="1600" kern="100">
                        <a:latin typeface="Times New Roman"/>
                        <a:ea typeface="Times New Roman"/>
                        <a:cs typeface="Times New Roman"/>
                      </a:endParaRPr>
                    </a:p>
                  </a:txBody>
                  <a:tcPr marL="68580" marR="68580" marT="0" marB="0"/>
                </a:tc>
                <a:tc>
                  <a:txBody>
                    <a:bodyPr/>
                    <a:lstStyle/>
                    <a:p>
                      <a:pPr marL="0" marR="0">
                        <a:lnSpc>
                          <a:spcPct val="115000"/>
                        </a:lnSpc>
                        <a:spcAft>
                          <a:spcPts val="800"/>
                        </a:spcAft>
                        <a:buNone/>
                      </a:pPr>
                      <a:r>
                        <a:rPr sz="1600"/>
                        <a:t>D. Shen, Y. Zhang, H. Wang, J. Li</a:t>
                      </a:r>
                      <a:endParaRPr sz="1600" kern="100">
                        <a:latin typeface="Times New Roman"/>
                        <a:ea typeface="Times New Roman"/>
                        <a:cs typeface="Times New Roman"/>
                      </a:endParaRPr>
                    </a:p>
                  </a:txBody>
                  <a:tcPr marL="68580" marR="68580" marT="0" marB="0"/>
                </a:tc>
                <a:tc>
                  <a:txBody>
                    <a:bodyPr/>
                    <a:lstStyle/>
                    <a:p>
                      <a:pPr marL="0" marR="0">
                        <a:lnSpc>
                          <a:spcPct val="115000"/>
                        </a:lnSpc>
                        <a:spcAft>
                          <a:spcPts val="800"/>
                        </a:spcAft>
                        <a:buNone/>
                      </a:pPr>
                      <a:r>
                        <a:rPr sz="1600"/>
                        <a:t>Safeguarding Large Language Models: A Survey</a:t>
                      </a:r>
                      <a:endParaRPr sz="1600" kern="100">
                        <a:latin typeface="Times New Roman"/>
                        <a:ea typeface="Times New Roman"/>
                        <a:cs typeface="Times New Roman"/>
                      </a:endParaRPr>
                    </a:p>
                  </a:txBody>
                  <a:tcPr marL="68580" marR="68580" marT="0" marB="0"/>
                </a:tc>
                <a:tc>
                  <a:txBody>
                    <a:bodyPr/>
                    <a:lstStyle/>
                    <a:p>
                      <a:pPr marL="0" marR="0">
                        <a:lnSpc>
                          <a:spcPct val="115000"/>
                        </a:lnSpc>
                        <a:spcAft>
                          <a:spcPts val="800"/>
                        </a:spcAft>
                        <a:buNone/>
                      </a:pPr>
                      <a:r>
                        <a:rPr sz="1600"/>
                        <a:t>2024</a:t>
                      </a:r>
                      <a:endParaRPr sz="1600" kern="100">
                        <a:latin typeface="Times New Roman"/>
                        <a:ea typeface="Times New Roman"/>
                        <a:cs typeface="Times New Roman"/>
                      </a:endParaRPr>
                    </a:p>
                  </a:txBody>
                  <a:tcPr marL="68580" marR="68580" marT="0" marB="0"/>
                </a:tc>
                <a:tc>
                  <a:txBody>
                    <a:bodyPr/>
                    <a:lstStyle/>
                    <a:p>
                      <a:pPr marL="0" marR="0">
                        <a:lnSpc>
                          <a:spcPct val="115000"/>
                        </a:lnSpc>
                        <a:spcAft>
                          <a:spcPts val="800"/>
                        </a:spcAft>
                        <a:buNone/>
                      </a:pPr>
                      <a:r>
                        <a:rPr sz="1600"/>
                        <a:t>Provides a comprehensive survey of LLM safety techniques, including guardrails, input filtering, output moderation, bias mitigation, privacy protection, and adversarial attack detection. Reviews frameworks such as Llama Guard, Nvidia NeMo Guardrails, and Guardrails AI.</a:t>
                      </a:r>
                      <a:endParaRPr sz="1600" kern="100">
                        <a:latin typeface="Times New Roman"/>
                        <a:ea typeface="Times New Roman"/>
                        <a:cs typeface="Times New Roman"/>
                      </a:endParaRPr>
                    </a:p>
                  </a:txBody>
                  <a:tcPr marL="68580" marR="68580" marT="0" marB="0"/>
                </a:tc>
                <a:tc>
                  <a:txBody>
                    <a:bodyPr/>
                    <a:lstStyle/>
                    <a:p>
                      <a:pPr marL="0" marR="0">
                        <a:lnSpc>
                          <a:spcPct val="115000"/>
                        </a:lnSpc>
                        <a:spcAft>
                          <a:spcPts val="800"/>
                        </a:spcAft>
                        <a:buNone/>
                      </a:pPr>
                      <a:r>
                        <a:rPr sz="1600"/>
                        <a:t>The paper mainly reviews existing techniques but does not provide an integrated architecture combining multiple defense layers. It lacks practical guidance for building a hybrid security framework specifically designed for healthcare LLM systems.</a:t>
                      </a:r>
                      <a:endParaRPr sz="1600" kern="100">
                        <a:latin typeface="Times New Roman"/>
                        <a:ea typeface="Times New Roman"/>
                        <a:cs typeface="Times New Roman"/>
                      </a:endParaRPr>
                    </a:p>
                  </a:txBody>
                  <a:tcPr marL="68580" marR="68580" marT="0" marB="0"/>
                </a:tc>
                <a:extLst>
                  <a:ext uri="{0D108BD9-81ED-4DB2-BD59-A6C34878D82A}">
                    <a16:rowId xmlns:a16="http://schemas.microsoft.com/office/drawing/2014/main" val="10000"/>
                  </a:ext>
                </a:extLst>
              </a:tr>
            </a:tbl>
          </a:graphicData>
        </a:graphic>
      </p:graphicFrame>
      <p:sp>
        <p:nvSpPr>
          <p:cNvPr id="7" name="object 10">
            <a:extLst>
              <a:ext uri="{FF2B5EF4-FFF2-40B4-BE49-F238E27FC236}">
                <a16:creationId xmlns:a16="http://schemas.microsoft.com/office/drawing/2014/main" id="{417532EF-E14D-6671-3374-D9650E485437}"/>
              </a:ext>
            </a:extLst>
          </p:cNvPr>
          <p:cNvSpPr>
            <a:spLocks noGrp="1"/>
          </p:cNvSpPr>
          <p:nvPr>
            <p:ph type="dt" idx="6"/>
          </p:nvPr>
        </p:nvSpPr>
        <p:spPr>
          <a:xfrm>
            <a:off x="1132803" y="6333334"/>
            <a:ext cx="869314" cy="205184"/>
          </a:xfrm>
          <a:prstGeom prst="rect">
            <a:avLst/>
          </a:prstGeom>
        </p:spPr>
        <p:txBody>
          <a:bodyPr vert="horz" wrap="square" lIns="0" tIns="0" rIns="0" bIns="0">
            <a:spAutoFit/>
          </a:bodyPr>
          <a:lstStyle/>
          <a:p>
            <a:pPr marL="12700">
              <a:lnSpc>
                <a:spcPts val="1635"/>
              </a:lnSpc>
              <a:buNone/>
            </a:pPr>
            <a:r>
              <a:t>28-04-2026</a:t>
            </a:r>
            <a:endParaRPr spc="-20"/>
          </a:p>
        </p:txBody>
      </p:sp>
    </p:spTree>
    <p:extLst>
      <p:ext uri="{BB962C8B-B14F-4D97-AF65-F5344CB8AC3E}">
        <p14:creationId xmlns:p14="http://schemas.microsoft.com/office/powerpoint/2010/main" val="1761443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9E4CE9-558A-D412-553C-E416E6FBBABF}"/>
              </a:ext>
            </a:extLst>
          </p:cNvPr>
          <p:cNvSpPr>
            <a:spLocks noGrp="1"/>
          </p:cNvSpPr>
          <p:nvPr>
            <p:ph type="title"/>
          </p:nvPr>
        </p:nvSpPr>
        <p:spPr>
          <a:xfrm>
            <a:off x="3381575" y="521472"/>
            <a:ext cx="3048722" cy="507831"/>
          </a:xfrm>
        </p:spPr>
        <p:txBody>
          <a:bodyPr/>
          <a:lstStyle/>
          <a:p>
            <a:pPr algn="r">
              <a:buNone/>
            </a:pPr>
            <a:r>
              <a:rPr b="1"/>
              <a:t>Research</a:t>
            </a:r>
            <a:r>
              <a:t> </a:t>
            </a:r>
            <a:r>
              <a:rPr b="1"/>
              <a:t>Gap</a:t>
            </a:r>
          </a:p>
        </p:txBody>
      </p:sp>
      <p:sp>
        <p:nvSpPr>
          <p:cNvPr id="3" name="Text Placeholder 2">
            <a:extLst>
              <a:ext uri="{FF2B5EF4-FFF2-40B4-BE49-F238E27FC236}">
                <a16:creationId xmlns:a16="http://schemas.microsoft.com/office/drawing/2014/main" id="{9906B0D2-A4FD-6310-6834-19DDDBBAA5AC}"/>
              </a:ext>
            </a:extLst>
          </p:cNvPr>
          <p:cNvSpPr>
            <a:spLocks noGrp="1"/>
          </p:cNvSpPr>
          <p:nvPr>
            <p:ph type="body" idx="1"/>
          </p:nvPr>
        </p:nvSpPr>
        <p:spPr>
          <a:xfrm>
            <a:off x="483559" y="1347019"/>
            <a:ext cx="11155680" cy="3978012"/>
          </a:xfrm>
        </p:spPr>
        <p:txBody>
          <a:bodyPr/>
          <a:lstStyle/>
          <a:p>
            <a:r>
              <a:rPr sz="2350"/>
              <a:t>The existing LLM security approaches mainly focus on individual attacks and fixed mechanisms, lacking a unified, adaptive, and risk-aware framework for real-time healthcare LLM security.</a:t>
            </a:r>
          </a:p>
          <a:p>
            <a:endParaRPr sz="2350"/>
          </a:p>
          <a:p>
            <a:pPr marL="800100" lvl="1" indent="-342900">
              <a:buFont typeface="Arial"/>
              <a:buChar char="•"/>
            </a:pPr>
            <a:r>
              <a:rPr sz="2350"/>
              <a:t> Fragmented Security: Individual threats are addressed separately. </a:t>
            </a:r>
          </a:p>
          <a:p>
            <a:pPr marL="800100" lvl="1" indent="-342900">
              <a:buFont typeface="Arial"/>
              <a:buChar char="•"/>
            </a:pPr>
            <a:r>
              <a:rPr sz="2350"/>
              <a:t> Limited Adaptability: Static rules cannot adjust to changing threats. </a:t>
            </a:r>
          </a:p>
          <a:p>
            <a:pPr marL="800100" lvl="1" indent="-342900">
              <a:buFont typeface="Arial"/>
              <a:buChar char="•"/>
            </a:pPr>
            <a:r>
              <a:rPr sz="2350"/>
              <a:t> Lack of Risk Scoring: Mostly binary safe/unsafe decisions. </a:t>
            </a:r>
          </a:p>
          <a:p>
            <a:pPr marL="800100" lvl="1" indent="-342900">
              <a:buFont typeface="Arial"/>
              <a:buChar char="•"/>
            </a:pPr>
            <a:r>
              <a:rPr sz="2350"/>
              <a:t> Limited Real-Time Monitoring: Insufficient continuous monitoring. </a:t>
            </a:r>
          </a:p>
          <a:p>
            <a:pPr marL="800100" lvl="1" indent="-342900">
              <a:buFont typeface="Arial"/>
              <a:buChar char="•"/>
            </a:pPr>
            <a:r>
              <a:rPr sz="2350"/>
              <a:t> Detection–Response Gap: Limited automatic blocking or mitigation. </a:t>
            </a:r>
          </a:p>
          <a:p>
            <a:pPr marL="800100" lvl="1" indent="-342900">
              <a:buFont typeface="Arial"/>
              <a:buChar char="•"/>
            </a:pPr>
            <a:r>
              <a:rPr sz="2350"/>
              <a:t> Limited ML/DL Integration: Need to combine AI models with rule-based security. </a:t>
            </a:r>
          </a:p>
          <a:p>
            <a:pPr marL="800100" lvl="1" indent="-342900">
              <a:buFont typeface="Arial"/>
              <a:buChar char="•"/>
            </a:pPr>
            <a:r>
              <a:rPr sz="2350"/>
              <a:t> Healthcare Security Gap: Limited protection of sensitive healthcare information.</a:t>
            </a:r>
          </a:p>
        </p:txBody>
      </p:sp>
      <p:sp>
        <p:nvSpPr>
          <p:cNvPr id="4" name="Footer Placeholder 3">
            <a:extLst>
              <a:ext uri="{FF2B5EF4-FFF2-40B4-BE49-F238E27FC236}">
                <a16:creationId xmlns:a16="http://schemas.microsoft.com/office/drawing/2014/main" id="{E00C5099-932F-C23C-C91D-82F99F44429A}"/>
              </a:ext>
            </a:extLst>
          </p:cNvPr>
          <p:cNvSpPr>
            <a:spLocks noGrp="1"/>
          </p:cNvSpPr>
          <p:nvPr>
            <p:ph type="ftr" idx="5"/>
          </p:nvPr>
        </p:nvSpPr>
        <p:spPr/>
        <p:txBody>
          <a:bodyPr/>
          <a:lstStyle/>
          <a:p>
            <a:pPr marL="12700">
              <a:lnSpc>
                <a:spcPts val="1689"/>
              </a:lnSpc>
              <a:buNone/>
            </a:pPr>
            <a:r>
              <a:rPr spc="-10"/>
              <a:t>Dept of AIML</a:t>
            </a:r>
            <a:endParaRPr spc="-85"/>
          </a:p>
        </p:txBody>
      </p:sp>
      <p:sp>
        <p:nvSpPr>
          <p:cNvPr id="5" name="Date Placeholder 4">
            <a:extLst>
              <a:ext uri="{FF2B5EF4-FFF2-40B4-BE49-F238E27FC236}">
                <a16:creationId xmlns:a16="http://schemas.microsoft.com/office/drawing/2014/main" id="{F67C849C-DEAF-0923-1659-5D4C9F0B4C8E}"/>
              </a:ext>
            </a:extLst>
          </p:cNvPr>
          <p:cNvSpPr>
            <a:spLocks noGrp="1"/>
          </p:cNvSpPr>
          <p:nvPr>
            <p:ph type="dt" idx="6"/>
          </p:nvPr>
        </p:nvSpPr>
        <p:spPr>
          <a:xfrm>
            <a:off x="1132803" y="6333334"/>
            <a:ext cx="869314" cy="205184"/>
          </a:xfrm>
        </p:spPr>
        <p:txBody>
          <a:bodyPr/>
          <a:lstStyle/>
          <a:p>
            <a:pPr marL="12700">
              <a:lnSpc>
                <a:spcPts val="1635"/>
              </a:lnSpc>
              <a:buNone/>
            </a:pPr>
            <a:r>
              <a:t>22-08-2026</a:t>
            </a:r>
            <a:endParaRPr spc="-20"/>
          </a:p>
        </p:txBody>
      </p:sp>
      <p:sp>
        <p:nvSpPr>
          <p:cNvPr id="6" name="Slide Number Placeholder 5">
            <a:extLst>
              <a:ext uri="{FF2B5EF4-FFF2-40B4-BE49-F238E27FC236}">
                <a16:creationId xmlns:a16="http://schemas.microsoft.com/office/drawing/2014/main" id="{F3396121-DAC5-3851-24CC-272A33157C4E}"/>
              </a:ext>
            </a:extLst>
          </p:cNvPr>
          <p:cNvSpPr>
            <a:spLocks noGrp="1"/>
          </p:cNvSpPr>
          <p:nvPr>
            <p:ph type="sldNum" idx="7"/>
          </p:nvPr>
        </p:nvSpPr>
        <p:spPr/>
        <p:txBody>
          <a:bodyPr/>
          <a:lstStyle/>
          <a:p>
            <a:pPr marL="12700">
              <a:lnSpc>
                <a:spcPts val="1600"/>
              </a:lnSpc>
              <a:buNone/>
            </a:pPr>
            <a:fld id="{81D60167-4931-47E6-BA6A-407CBD079E47}" type="slidenum">
              <a:rPr spc="-25"/>
              <a:t>8</a:t>
            </a:fld>
            <a:endParaRPr spc="-25"/>
          </a:p>
        </p:txBody>
      </p:sp>
    </p:spTree>
    <p:extLst>
      <p:ext uri="{BB962C8B-B14F-4D97-AF65-F5344CB8AC3E}">
        <p14:creationId xmlns:p14="http://schemas.microsoft.com/office/powerpoint/2010/main" val="22947722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a:extLst>
              <a:ext uri="{FF2B5EF4-FFF2-40B4-BE49-F238E27FC236}">
                <a16:creationId xmlns:a16="http://schemas.microsoft.com/office/drawing/2014/main" id="{39ACAC55-8360-4A6F-85AF-C36C042676E2}"/>
              </a:ext>
            </a:extLst>
          </p:cNvPr>
          <p:cNvSpPr>
            <a:spLocks noGrp="1"/>
          </p:cNvSpPr>
          <p:nvPr>
            <p:ph type="ftr" idx="5"/>
          </p:nvPr>
        </p:nvSpPr>
        <p:spPr>
          <a:prstGeom prst="rect">
            <a:avLst/>
          </a:prstGeom>
        </p:spPr>
        <p:txBody>
          <a:bodyPr vert="horz" wrap="square" lIns="0" tIns="0" rIns="0" bIns="0">
            <a:spAutoFit/>
          </a:bodyPr>
          <a:lstStyle/>
          <a:p>
            <a:pPr marL="12700">
              <a:lnSpc>
                <a:spcPts val="1689"/>
              </a:lnSpc>
              <a:buNone/>
            </a:pPr>
            <a:r>
              <a:rPr spc="-10"/>
              <a:t>Dept of AIML</a:t>
            </a:r>
            <a:endParaRPr spc="-85"/>
          </a:p>
        </p:txBody>
      </p:sp>
      <p:sp>
        <p:nvSpPr>
          <p:cNvPr id="6" name="object 6">
            <a:extLst>
              <a:ext uri="{FF2B5EF4-FFF2-40B4-BE49-F238E27FC236}">
                <a16:creationId xmlns:a16="http://schemas.microsoft.com/office/drawing/2014/main" id="{003438AF-93CE-4F5D-825F-098E7B1E171F}"/>
              </a:ext>
            </a:extLst>
          </p:cNvPr>
          <p:cNvSpPr>
            <a:spLocks noGrp="1"/>
          </p:cNvSpPr>
          <p:nvPr>
            <p:ph type="sldNum" idx="7"/>
          </p:nvPr>
        </p:nvSpPr>
        <p:spPr>
          <a:prstGeom prst="rect">
            <a:avLst/>
          </a:prstGeom>
        </p:spPr>
        <p:txBody>
          <a:bodyPr vert="horz" wrap="square" lIns="0" tIns="0" rIns="0" bIns="0">
            <a:spAutoFit/>
          </a:bodyPr>
          <a:lstStyle/>
          <a:p>
            <a:pPr marL="12700">
              <a:lnSpc>
                <a:spcPts val="1600"/>
              </a:lnSpc>
              <a:buNone/>
            </a:pPr>
            <a:fld id="{81D60167-4931-47E6-BA6A-407CBD079E47}" type="slidenum">
              <a:rPr spc="-25"/>
              <a:t>9</a:t>
            </a:fld>
            <a:endParaRPr spc="-25"/>
          </a:p>
        </p:txBody>
      </p:sp>
      <p:sp>
        <p:nvSpPr>
          <p:cNvPr id="2" name="object 2">
            <a:extLst>
              <a:ext uri="{FF2B5EF4-FFF2-40B4-BE49-F238E27FC236}">
                <a16:creationId xmlns:a16="http://schemas.microsoft.com/office/drawing/2014/main" id="{588B289A-AEA6-4881-8EEE-CC075B2F5B33}"/>
              </a:ext>
            </a:extLst>
          </p:cNvPr>
          <p:cNvSpPr>
            <a:spLocks noGrp="1"/>
          </p:cNvSpPr>
          <p:nvPr>
            <p:ph type="ctrTitle"/>
          </p:nvPr>
        </p:nvSpPr>
        <p:spPr>
          <a:xfrm>
            <a:off x="3644276" y="688269"/>
            <a:ext cx="5804523" cy="521297"/>
          </a:xfrm>
          <a:prstGeom prst="rect">
            <a:avLst/>
          </a:prstGeom>
        </p:spPr>
        <p:txBody>
          <a:bodyPr vert="horz" wrap="square" lIns="0" tIns="13335" rIns="0" bIns="0">
            <a:spAutoFit/>
          </a:bodyPr>
          <a:lstStyle/>
          <a:p>
            <a:pPr marL="12700">
              <a:lnSpc>
                <a:spcPct val="100000"/>
              </a:lnSpc>
              <a:spcBef>
                <a:spcPts val="105"/>
              </a:spcBef>
              <a:buNone/>
            </a:pPr>
            <a:r>
              <a:rPr b="1" spc="150"/>
              <a:t>PROBLEM</a:t>
            </a:r>
            <a:r>
              <a:rPr spc="229"/>
              <a:t> </a:t>
            </a:r>
            <a:r>
              <a:rPr b="1" spc="50"/>
              <a:t>STATEMENT</a:t>
            </a:r>
          </a:p>
        </p:txBody>
      </p:sp>
      <p:sp>
        <p:nvSpPr>
          <p:cNvPr id="3" name="object 3">
            <a:extLst>
              <a:ext uri="{FF2B5EF4-FFF2-40B4-BE49-F238E27FC236}">
                <a16:creationId xmlns:a16="http://schemas.microsoft.com/office/drawing/2014/main" id="{9B410E78-CEE1-4872-8448-8DC233FE83B5}"/>
              </a:ext>
            </a:extLst>
          </p:cNvPr>
          <p:cNvSpPr>
            <a:spLocks noGrp="1"/>
          </p:cNvSpPr>
          <p:nvPr/>
        </p:nvSpPr>
        <p:spPr>
          <a:xfrm>
            <a:off x="522765" y="1587676"/>
            <a:ext cx="11136630" cy="2713562"/>
          </a:xfrm>
          <a:prstGeom prst="rect">
            <a:avLst/>
          </a:prstGeom>
        </p:spPr>
        <p:txBody>
          <a:bodyPr vert="horz" wrap="square" lIns="0" tIns="14604" rIns="0" bIns="0">
            <a:spAutoFit/>
          </a:bodyPr>
          <a:lstStyle/>
          <a:p>
            <a:pPr marL="12700" marR="5080" indent="5080" algn="just">
              <a:lnSpc>
                <a:spcPct val="153400"/>
              </a:lnSpc>
              <a:spcBef>
                <a:spcPts val="114"/>
              </a:spcBef>
              <a:buNone/>
            </a:pPr>
            <a:r>
              <a:rPr sz="2350">
                <a:latin typeface="Times New Roman"/>
                <a:ea typeface="Times New Roman"/>
                <a:cs typeface="Times New Roman"/>
              </a:rPr>
              <a:t>Large Language Models (LLMs) used in healthcare systems are vulnerable to prompt injection, jailbreak attacks, and PHI leakage. Traditional security methods cannot effectively detect these threats because they occur at the semantic language level. Therefore, a healthcare-specific, adaptive, and risk-aware security framework is required to secure LLM applications.</a:t>
            </a:r>
          </a:p>
        </p:txBody>
      </p:sp>
      <p:sp>
        <p:nvSpPr>
          <p:cNvPr id="7" name="object 10">
            <a:extLst>
              <a:ext uri="{FF2B5EF4-FFF2-40B4-BE49-F238E27FC236}">
                <a16:creationId xmlns:a16="http://schemas.microsoft.com/office/drawing/2014/main" id="{18D20582-28F7-BAC2-1B4B-227101C00E3F}"/>
              </a:ext>
            </a:extLst>
          </p:cNvPr>
          <p:cNvSpPr>
            <a:spLocks noGrp="1"/>
          </p:cNvSpPr>
          <p:nvPr>
            <p:ph type="dt" idx="6"/>
          </p:nvPr>
        </p:nvSpPr>
        <p:spPr>
          <a:xfrm>
            <a:off x="1113139" y="6333334"/>
            <a:ext cx="869314" cy="205184"/>
          </a:xfrm>
          <a:prstGeom prst="rect">
            <a:avLst/>
          </a:prstGeom>
        </p:spPr>
        <p:txBody>
          <a:bodyPr vert="horz" wrap="square" lIns="0" tIns="0" rIns="0" bIns="0">
            <a:spAutoFit/>
          </a:bodyPr>
          <a:lstStyle/>
          <a:p>
            <a:pPr marL="12700">
              <a:lnSpc>
                <a:spcPts val="1635"/>
              </a:lnSpc>
              <a:buNone/>
            </a:pPr>
            <a:r>
              <a:t>22-08-2026</a:t>
            </a:r>
            <a:endParaRPr spc="-20"/>
          </a:p>
        </p:txBody>
      </p:sp>
    </p:spTree>
    <p:extLst>
      <p:ext uri="{BB962C8B-B14F-4D97-AF65-F5344CB8AC3E}">
        <p14:creationId xmlns:p14="http://schemas.microsoft.com/office/powerpoint/2010/main" val="6227820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a:extLst>
              <a:ext uri="{FF2B5EF4-FFF2-40B4-BE49-F238E27FC236}">
                <a16:creationId xmlns:a16="http://schemas.microsoft.com/office/drawing/2014/main" id="{FD92B2C4-D2D0-47D8-9B5F-974FDC7B6B99}"/>
              </a:ext>
            </a:extLst>
          </p:cNvPr>
          <p:cNvSpPr>
            <a:spLocks noGrp="1"/>
          </p:cNvSpPr>
          <p:nvPr>
            <p:ph type="ftr" idx="5"/>
          </p:nvPr>
        </p:nvSpPr>
        <p:spPr>
          <a:prstGeom prst="rect">
            <a:avLst/>
          </a:prstGeom>
        </p:spPr>
        <p:txBody>
          <a:bodyPr vert="horz" wrap="square" lIns="0" tIns="0" rIns="0" bIns="0">
            <a:spAutoFit/>
          </a:bodyPr>
          <a:lstStyle/>
          <a:p>
            <a:pPr marL="12700">
              <a:lnSpc>
                <a:spcPts val="1689"/>
              </a:lnSpc>
              <a:buNone/>
            </a:pPr>
            <a:r>
              <a:rPr spc="-10"/>
              <a:t>Dept of AIML</a:t>
            </a:r>
            <a:endParaRPr spc="-85"/>
          </a:p>
        </p:txBody>
      </p:sp>
      <p:sp>
        <p:nvSpPr>
          <p:cNvPr id="6" name="object 6">
            <a:extLst>
              <a:ext uri="{FF2B5EF4-FFF2-40B4-BE49-F238E27FC236}">
                <a16:creationId xmlns:a16="http://schemas.microsoft.com/office/drawing/2014/main" id="{E1FE357D-ECEE-44AE-98EC-33A56CE0D6F6}"/>
              </a:ext>
            </a:extLst>
          </p:cNvPr>
          <p:cNvSpPr>
            <a:spLocks noGrp="1"/>
          </p:cNvSpPr>
          <p:nvPr>
            <p:ph type="sldNum" idx="7"/>
          </p:nvPr>
        </p:nvSpPr>
        <p:spPr>
          <a:prstGeom prst="rect">
            <a:avLst/>
          </a:prstGeom>
        </p:spPr>
        <p:txBody>
          <a:bodyPr vert="horz" wrap="square" lIns="0" tIns="0" rIns="0" bIns="0">
            <a:spAutoFit/>
          </a:bodyPr>
          <a:lstStyle/>
          <a:p>
            <a:pPr marL="12700">
              <a:lnSpc>
                <a:spcPts val="1600"/>
              </a:lnSpc>
              <a:buNone/>
            </a:pPr>
            <a:fld id="{81D60167-4931-47E6-BA6A-407CBD079E47}" type="slidenum">
              <a:rPr spc="-25"/>
              <a:t>10</a:t>
            </a:fld>
            <a:endParaRPr spc="-25"/>
          </a:p>
        </p:txBody>
      </p:sp>
      <p:sp>
        <p:nvSpPr>
          <p:cNvPr id="2" name="object 2">
            <a:extLst>
              <a:ext uri="{FF2B5EF4-FFF2-40B4-BE49-F238E27FC236}">
                <a16:creationId xmlns:a16="http://schemas.microsoft.com/office/drawing/2014/main" id="{FE1B1A63-1060-4398-9D89-E9C67B7BFD6F}"/>
              </a:ext>
            </a:extLst>
          </p:cNvPr>
          <p:cNvSpPr>
            <a:spLocks noGrp="1"/>
          </p:cNvSpPr>
          <p:nvPr>
            <p:ph type="title"/>
          </p:nvPr>
        </p:nvSpPr>
        <p:spPr>
          <a:xfrm>
            <a:off x="766381" y="319482"/>
            <a:ext cx="11151223" cy="521297"/>
          </a:xfrm>
          <a:prstGeom prst="rect">
            <a:avLst/>
          </a:prstGeom>
        </p:spPr>
        <p:txBody>
          <a:bodyPr vert="horz" wrap="square" lIns="0" tIns="13335" rIns="0" bIns="0">
            <a:spAutoFit/>
          </a:bodyPr>
          <a:lstStyle/>
          <a:p>
            <a:pPr marL="4220845">
              <a:lnSpc>
                <a:spcPct val="100000"/>
              </a:lnSpc>
              <a:spcBef>
                <a:spcPts val="105"/>
              </a:spcBef>
              <a:buNone/>
            </a:pPr>
            <a:r>
              <a:rPr b="1" spc="140"/>
              <a:t>OBJECTIVES</a:t>
            </a:r>
          </a:p>
        </p:txBody>
      </p:sp>
      <p:sp>
        <p:nvSpPr>
          <p:cNvPr id="3" name="object 3">
            <a:extLst>
              <a:ext uri="{FF2B5EF4-FFF2-40B4-BE49-F238E27FC236}">
                <a16:creationId xmlns:a16="http://schemas.microsoft.com/office/drawing/2014/main" id="{1EFA7DBC-52D4-4BB8-9F0A-2EDD090F880C}"/>
              </a:ext>
            </a:extLst>
          </p:cNvPr>
          <p:cNvSpPr>
            <a:spLocks noGrp="1"/>
          </p:cNvSpPr>
          <p:nvPr/>
        </p:nvSpPr>
        <p:spPr>
          <a:xfrm>
            <a:off x="702219" y="1104520"/>
            <a:ext cx="11123295" cy="3781805"/>
          </a:xfrm>
          <a:prstGeom prst="rect">
            <a:avLst/>
          </a:prstGeom>
        </p:spPr>
        <p:txBody>
          <a:bodyPr vert="horz" wrap="square" lIns="0" tIns="11430" rIns="0" bIns="0">
            <a:spAutoFit/>
          </a:bodyPr>
          <a:lstStyle/>
          <a:p>
            <a:pPr marL="16510" marR="12065">
              <a:spcBef>
                <a:spcPts val="90"/>
              </a:spcBef>
              <a:buNone/>
              <a:tabLst>
                <a:tab pos="341630" algn="l"/>
                <a:tab pos="3591560" algn="l"/>
              </a:tabLst>
            </a:pPr>
            <a:r>
              <a:rPr sz="2400">
                <a:latin typeface="Times New Roman"/>
                <a:ea typeface="Times New Roman"/>
                <a:cs typeface="Times New Roman"/>
              </a:rPr>
              <a:t>1. To design a healthcare-specialized multi-layer prompt security framework integrating transformer-based classification, semantic similarity detection, and PHI-sensitive NER.</a:t>
            </a:r>
          </a:p>
          <a:p>
            <a:pPr marL="16510" marR="12065" indent="325120">
              <a:spcBef>
                <a:spcPts val="90"/>
              </a:spcBef>
              <a:buAutoNum type="arabicPeriod"/>
              <a:tabLst>
                <a:tab pos="341630" algn="l"/>
                <a:tab pos="3591560" algn="l"/>
              </a:tabLst>
            </a:pPr>
            <a:endParaRPr sz="2400">
              <a:latin typeface="Times New Roman"/>
              <a:ea typeface="Times New Roman"/>
              <a:cs typeface="Times New Roman"/>
            </a:endParaRPr>
          </a:p>
          <a:p>
            <a:pPr marL="16510" marR="12065">
              <a:spcBef>
                <a:spcPts val="90"/>
              </a:spcBef>
              <a:buNone/>
              <a:tabLst>
                <a:tab pos="341630" algn="l"/>
                <a:tab pos="3591560" algn="l"/>
              </a:tabLst>
            </a:pPr>
            <a:r>
              <a:rPr sz="2400">
                <a:latin typeface="Times New Roman"/>
                <a:ea typeface="Times New Roman"/>
                <a:cs typeface="Times New Roman"/>
              </a:rPr>
              <a:t>2. To implement adaptive behavioral anomaly detection for identifying abnormal user interaction patterns and risk escalation.</a:t>
            </a:r>
          </a:p>
          <a:p>
            <a:pPr marL="16510" marR="12065" indent="325120">
              <a:spcBef>
                <a:spcPts val="90"/>
              </a:spcBef>
              <a:buAutoNum type="arabicPeriod"/>
              <a:tabLst>
                <a:tab pos="341630" algn="l"/>
                <a:tab pos="3591560" algn="l"/>
              </a:tabLst>
            </a:pPr>
            <a:endParaRPr sz="2400">
              <a:latin typeface="Times New Roman"/>
              <a:ea typeface="Times New Roman"/>
              <a:cs typeface="Times New Roman"/>
            </a:endParaRPr>
          </a:p>
          <a:p>
            <a:pPr marL="16510" marR="12065">
              <a:spcBef>
                <a:spcPts val="90"/>
              </a:spcBef>
              <a:buNone/>
              <a:tabLst>
                <a:tab pos="341630" algn="l"/>
                <a:tab pos="3591560" algn="l"/>
              </a:tabLst>
            </a:pPr>
            <a:r>
              <a:rPr sz="2400">
                <a:latin typeface="Times New Roman"/>
                <a:ea typeface="Times New Roman"/>
                <a:cs typeface="Times New Roman"/>
              </a:rPr>
              <a:t>3. To develop a formal weighted risk aggregation model with integrated Explainable AI mechanisms for transparent decision-making.</a:t>
            </a:r>
          </a:p>
          <a:p>
            <a:pPr marL="16510" marR="12065" indent="325120">
              <a:spcBef>
                <a:spcPts val="90"/>
              </a:spcBef>
              <a:buAutoNum type="arabicPeriod"/>
              <a:tabLst>
                <a:tab pos="341630" algn="l"/>
                <a:tab pos="3591560" algn="l"/>
              </a:tabLst>
            </a:pPr>
            <a:endParaRPr sz="2400">
              <a:latin typeface="Times New Roman"/>
              <a:ea typeface="Times New Roman"/>
              <a:cs typeface="Times New Roman"/>
            </a:endParaRPr>
          </a:p>
          <a:p>
            <a:pPr marL="16510" marR="12065">
              <a:spcBef>
                <a:spcPts val="90"/>
              </a:spcBef>
              <a:buNone/>
              <a:tabLst>
                <a:tab pos="341630" algn="l"/>
                <a:tab pos="3591560" algn="l"/>
              </a:tabLst>
            </a:pPr>
            <a:r>
              <a:rPr sz="2400">
                <a:latin typeface="Times New Roman"/>
                <a:ea typeface="Times New Roman"/>
                <a:cs typeface="Times New Roman"/>
              </a:rPr>
              <a:t>4. To build and deploy a scalable SaaS prototype for secure healthcare LLM integration.</a:t>
            </a:r>
          </a:p>
        </p:txBody>
      </p:sp>
      <p:sp>
        <p:nvSpPr>
          <p:cNvPr id="7" name="object 10">
            <a:extLst>
              <a:ext uri="{FF2B5EF4-FFF2-40B4-BE49-F238E27FC236}">
                <a16:creationId xmlns:a16="http://schemas.microsoft.com/office/drawing/2014/main" id="{2037BF03-BC24-8B3B-147B-12EF38F89938}"/>
              </a:ext>
            </a:extLst>
          </p:cNvPr>
          <p:cNvSpPr>
            <a:spLocks noGrp="1"/>
          </p:cNvSpPr>
          <p:nvPr>
            <p:ph type="dt" idx="6"/>
          </p:nvPr>
        </p:nvSpPr>
        <p:spPr>
          <a:xfrm>
            <a:off x="1132803" y="6333334"/>
            <a:ext cx="869314" cy="205184"/>
          </a:xfrm>
          <a:prstGeom prst="rect">
            <a:avLst/>
          </a:prstGeom>
        </p:spPr>
        <p:txBody>
          <a:bodyPr vert="horz" wrap="square" lIns="0" tIns="0" rIns="0" bIns="0">
            <a:spAutoFit/>
          </a:bodyPr>
          <a:lstStyle/>
          <a:p>
            <a:pPr marL="12700">
              <a:lnSpc>
                <a:spcPts val="1635"/>
              </a:lnSpc>
              <a:buNone/>
            </a:pPr>
            <a:r>
              <a:t>22-08-2026</a:t>
            </a:r>
            <a:endParaRPr spc="-20"/>
          </a:p>
        </p:txBody>
      </p:sp>
    </p:spTree>
    <p:extLst>
      <p:ext uri="{BB962C8B-B14F-4D97-AF65-F5344CB8AC3E}">
        <p14:creationId xmlns:p14="http://schemas.microsoft.com/office/powerpoint/2010/main" val="20268640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a:extLst>
              <a:ext uri="{FF2B5EF4-FFF2-40B4-BE49-F238E27FC236}">
                <a16:creationId xmlns:a16="http://schemas.microsoft.com/office/drawing/2014/main" id="{797DB0A1-C265-4398-BC54-FF84AE216482}"/>
              </a:ext>
            </a:extLst>
          </p:cNvPr>
          <p:cNvSpPr>
            <a:spLocks noGrp="1"/>
          </p:cNvSpPr>
          <p:nvPr>
            <p:ph type="ftr" idx="5"/>
          </p:nvPr>
        </p:nvSpPr>
        <p:spPr>
          <a:prstGeom prst="rect">
            <a:avLst/>
          </a:prstGeom>
        </p:spPr>
        <p:txBody>
          <a:bodyPr vert="horz" wrap="square" lIns="0" tIns="0" rIns="0" bIns="0">
            <a:spAutoFit/>
          </a:bodyPr>
          <a:lstStyle/>
          <a:p>
            <a:pPr marL="12700">
              <a:lnSpc>
                <a:spcPts val="1689"/>
              </a:lnSpc>
              <a:buNone/>
            </a:pPr>
            <a:r>
              <a:rPr spc="-10"/>
              <a:t>Dept of AIML</a:t>
            </a:r>
            <a:endParaRPr spc="-85"/>
          </a:p>
        </p:txBody>
      </p:sp>
      <p:sp>
        <p:nvSpPr>
          <p:cNvPr id="6" name="object 6">
            <a:extLst>
              <a:ext uri="{FF2B5EF4-FFF2-40B4-BE49-F238E27FC236}">
                <a16:creationId xmlns:a16="http://schemas.microsoft.com/office/drawing/2014/main" id="{B537F024-5A75-41BD-AE2E-44F72838E0F3}"/>
              </a:ext>
            </a:extLst>
          </p:cNvPr>
          <p:cNvSpPr>
            <a:spLocks noGrp="1"/>
          </p:cNvSpPr>
          <p:nvPr>
            <p:ph type="sldNum" idx="7"/>
          </p:nvPr>
        </p:nvSpPr>
        <p:spPr>
          <a:prstGeom prst="rect">
            <a:avLst/>
          </a:prstGeom>
        </p:spPr>
        <p:txBody>
          <a:bodyPr vert="horz" wrap="square" lIns="0" tIns="0" rIns="0" bIns="0">
            <a:spAutoFit/>
          </a:bodyPr>
          <a:lstStyle/>
          <a:p>
            <a:pPr marL="12700">
              <a:lnSpc>
                <a:spcPts val="1600"/>
              </a:lnSpc>
              <a:buNone/>
            </a:pPr>
            <a:fld id="{81D60167-4931-47E6-BA6A-407CBD079E47}" type="slidenum">
              <a:rPr spc="-25"/>
              <a:t>11</a:t>
            </a:fld>
            <a:endParaRPr spc="-25"/>
          </a:p>
        </p:txBody>
      </p:sp>
      <p:sp>
        <p:nvSpPr>
          <p:cNvPr id="2" name="object 2">
            <a:extLst>
              <a:ext uri="{FF2B5EF4-FFF2-40B4-BE49-F238E27FC236}">
                <a16:creationId xmlns:a16="http://schemas.microsoft.com/office/drawing/2014/main" id="{8867D38A-CD58-4AE5-AF4C-5EFF145A27F9}"/>
              </a:ext>
            </a:extLst>
          </p:cNvPr>
          <p:cNvSpPr>
            <a:spLocks noGrp="1"/>
          </p:cNvSpPr>
          <p:nvPr>
            <p:ph type="body" idx="1"/>
          </p:nvPr>
        </p:nvSpPr>
        <p:spPr>
          <a:xfrm>
            <a:off x="279521" y="1146640"/>
            <a:ext cx="11545993" cy="5041658"/>
          </a:xfrm>
          <a:prstGeom prst="rect">
            <a:avLst/>
          </a:prstGeom>
        </p:spPr>
        <p:txBody>
          <a:bodyPr vert="horz" wrap="square" lIns="0" tIns="70379" rIns="0" bIns="0">
            <a:spAutoFit/>
          </a:bodyPr>
          <a:lstStyle/>
          <a:p>
            <a:pPr>
              <a:spcAft>
                <a:spcPts val="600"/>
              </a:spcAft>
              <a:buNone/>
            </a:pPr>
            <a:r>
              <a:rPr sz="2800" b="1"/>
              <a:t> 1. Core System Components</a:t>
            </a:r>
          </a:p>
          <a:p>
            <a:pPr marL="457200" indent="-457200">
              <a:spcAft>
                <a:spcPts val="600"/>
              </a:spcAft>
              <a:buFont typeface="Arial"/>
              <a:buChar char="•"/>
            </a:pPr>
            <a:r>
              <a:rPr sz="2000" b="1"/>
              <a:t>Transformer Classifier</a:t>
            </a:r>
            <a:r>
              <a:rPr sz="2000"/>
              <a:t> – A healthcare-trained DistilBERT model used for multi-class prompt injection and jailbreak detection.</a:t>
            </a:r>
          </a:p>
          <a:p>
            <a:pPr marL="457200" indent="-457200">
              <a:spcAft>
                <a:spcPts val="600"/>
              </a:spcAft>
              <a:buFont typeface="Arial"/>
              <a:buChar char="•"/>
            </a:pPr>
            <a:r>
              <a:rPr sz="2000" b="1"/>
              <a:t>Semantic Similarity Engine</a:t>
            </a:r>
            <a:r>
              <a:rPr sz="2000"/>
              <a:t> – Uses Sentence-BERT embeddings and cosine similarity to detect paraphrased adversarial prompts.</a:t>
            </a:r>
          </a:p>
          <a:p>
            <a:pPr marL="457200" indent="-457200">
              <a:spcAft>
                <a:spcPts val="600"/>
              </a:spcAft>
              <a:buFont typeface="Arial"/>
              <a:buChar char="•"/>
            </a:pPr>
            <a:r>
              <a:rPr sz="2000" b="1"/>
              <a:t>Healthcare Rule Engine</a:t>
            </a:r>
            <a:r>
              <a:rPr sz="2000"/>
              <a:t> – Applies regex-based and policy-based rules to detect direct privacy violations and override attempts.</a:t>
            </a:r>
          </a:p>
          <a:p>
            <a:pPr marL="457200" indent="-457200">
              <a:spcAft>
                <a:spcPts val="600"/>
              </a:spcAft>
              <a:buFont typeface="Arial"/>
              <a:buChar char="•"/>
            </a:pPr>
            <a:r>
              <a:rPr sz="2000" b="1"/>
              <a:t>PHI Detection Module</a:t>
            </a:r>
            <a:r>
              <a:rPr sz="2000"/>
              <a:t> – Uses spaCy NER and pattern matching to identify sensitive healthcare information such as names, IDs, and medical records.</a:t>
            </a:r>
          </a:p>
          <a:p>
            <a:pPr marL="457200" indent="-457200">
              <a:spcAft>
                <a:spcPts val="600"/>
              </a:spcAft>
              <a:buFont typeface="Arial"/>
              <a:buChar char="•"/>
            </a:pPr>
            <a:r>
              <a:rPr sz="2000" b="1"/>
              <a:t>Behavioral Anomaly Engine</a:t>
            </a:r>
            <a:r>
              <a:rPr sz="2000"/>
              <a:t> – Models user interaction patterns and detects abnormal risk escalation or unusual prompt behavior.</a:t>
            </a:r>
          </a:p>
          <a:p>
            <a:pPr marL="457200" indent="-457200">
              <a:spcAft>
                <a:spcPts val="600"/>
              </a:spcAft>
              <a:buFont typeface="Arial"/>
              <a:buChar char="•"/>
            </a:pPr>
            <a:r>
              <a:rPr sz="2000" b="1"/>
              <a:t>Explainability Module</a:t>
            </a:r>
            <a:r>
              <a:rPr sz="2000"/>
              <a:t> – Uses SHAP analysis to provide transparent reasoning behind risk decisions.</a:t>
            </a:r>
          </a:p>
          <a:p>
            <a:pPr marL="457200" indent="-457200">
              <a:spcAft>
                <a:spcPts val="600"/>
              </a:spcAft>
              <a:buFont typeface="Arial"/>
              <a:buChar char="•"/>
            </a:pPr>
            <a:r>
              <a:rPr sz="2000" b="1"/>
              <a:t>Risk Aggregator &amp; Decision Engine</a:t>
            </a:r>
            <a:r>
              <a:rPr sz="2000"/>
              <a:t> – Combines all module outputs using a weighted mathematical formula to generate a final risk score and allow/flag/block decision.</a:t>
            </a:r>
          </a:p>
        </p:txBody>
      </p:sp>
      <p:sp>
        <p:nvSpPr>
          <p:cNvPr id="3" name="object 3">
            <a:extLst>
              <a:ext uri="{FF2B5EF4-FFF2-40B4-BE49-F238E27FC236}">
                <a16:creationId xmlns:a16="http://schemas.microsoft.com/office/drawing/2014/main" id="{1F2DEDBD-8F84-4CE4-AC78-7B4119D61AB8}"/>
              </a:ext>
            </a:extLst>
          </p:cNvPr>
          <p:cNvSpPr>
            <a:spLocks noGrp="1"/>
          </p:cNvSpPr>
          <p:nvPr>
            <p:ph type="title"/>
          </p:nvPr>
        </p:nvSpPr>
        <p:spPr>
          <a:xfrm>
            <a:off x="520388" y="517240"/>
            <a:ext cx="11151223" cy="575799"/>
          </a:xfrm>
          <a:prstGeom prst="rect">
            <a:avLst/>
          </a:prstGeom>
        </p:spPr>
        <p:txBody>
          <a:bodyPr vert="horz" wrap="square" lIns="0" tIns="67310" rIns="0" bIns="0">
            <a:spAutoFit/>
          </a:bodyPr>
          <a:lstStyle/>
          <a:p>
            <a:pPr marL="3841115">
              <a:lnSpc>
                <a:spcPct val="100000"/>
              </a:lnSpc>
              <a:spcBef>
                <a:spcPts val="105"/>
              </a:spcBef>
              <a:buNone/>
            </a:pPr>
            <a:r>
              <a:rPr b="1" spc="75"/>
              <a:t>METHODOLOGY</a:t>
            </a:r>
          </a:p>
        </p:txBody>
      </p:sp>
      <p:sp>
        <p:nvSpPr>
          <p:cNvPr id="7" name="object 10">
            <a:extLst>
              <a:ext uri="{FF2B5EF4-FFF2-40B4-BE49-F238E27FC236}">
                <a16:creationId xmlns:a16="http://schemas.microsoft.com/office/drawing/2014/main" id="{41B6EF05-9009-9E93-6CF1-F7C7C5DE7CFF}"/>
              </a:ext>
            </a:extLst>
          </p:cNvPr>
          <p:cNvSpPr>
            <a:spLocks noGrp="1"/>
          </p:cNvSpPr>
          <p:nvPr>
            <p:ph type="dt" idx="6"/>
          </p:nvPr>
        </p:nvSpPr>
        <p:spPr>
          <a:xfrm>
            <a:off x="1132803" y="6333334"/>
            <a:ext cx="869314" cy="205184"/>
          </a:xfrm>
          <a:prstGeom prst="rect">
            <a:avLst/>
          </a:prstGeom>
        </p:spPr>
        <p:txBody>
          <a:bodyPr vert="horz" wrap="square" lIns="0" tIns="0" rIns="0" bIns="0">
            <a:spAutoFit/>
          </a:bodyPr>
          <a:lstStyle/>
          <a:p>
            <a:pPr marL="12700">
              <a:lnSpc>
                <a:spcPts val="1635"/>
              </a:lnSpc>
              <a:buNone/>
            </a:pPr>
            <a:r>
              <a:t>22-08-2026</a:t>
            </a:r>
            <a:endParaRPr spc="-20"/>
          </a:p>
        </p:txBody>
      </p:sp>
    </p:spTree>
    <p:extLst>
      <p:ext uri="{BB962C8B-B14F-4D97-AF65-F5344CB8AC3E}">
        <p14:creationId xmlns:p14="http://schemas.microsoft.com/office/powerpoint/2010/main" val="11563866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a:extLst>
              <a:ext uri="{FF2B5EF4-FFF2-40B4-BE49-F238E27FC236}">
                <a16:creationId xmlns:a16="http://schemas.microsoft.com/office/drawing/2014/main" id="{545D74EE-08CE-4D9F-B590-166FCF13667D}"/>
              </a:ext>
            </a:extLst>
          </p:cNvPr>
          <p:cNvSpPr>
            <a:spLocks noGrp="1"/>
          </p:cNvSpPr>
          <p:nvPr>
            <p:ph type="ftr" idx="5"/>
          </p:nvPr>
        </p:nvSpPr>
        <p:spPr>
          <a:prstGeom prst="rect">
            <a:avLst/>
          </a:prstGeom>
        </p:spPr>
        <p:txBody>
          <a:bodyPr vert="horz" wrap="square" lIns="0" tIns="0" rIns="0" bIns="0">
            <a:spAutoFit/>
          </a:bodyPr>
          <a:lstStyle/>
          <a:p>
            <a:pPr marL="12700">
              <a:lnSpc>
                <a:spcPts val="1689"/>
              </a:lnSpc>
              <a:buNone/>
            </a:pPr>
            <a:r>
              <a:rPr spc="-10"/>
              <a:t>Dept of AIML</a:t>
            </a:r>
            <a:endParaRPr spc="-85"/>
          </a:p>
        </p:txBody>
      </p:sp>
      <p:sp>
        <p:nvSpPr>
          <p:cNvPr id="6" name="object 6">
            <a:extLst>
              <a:ext uri="{FF2B5EF4-FFF2-40B4-BE49-F238E27FC236}">
                <a16:creationId xmlns:a16="http://schemas.microsoft.com/office/drawing/2014/main" id="{42C421FD-95BA-4CFB-B12D-1A6DD7EBC392}"/>
              </a:ext>
            </a:extLst>
          </p:cNvPr>
          <p:cNvSpPr>
            <a:spLocks noGrp="1"/>
          </p:cNvSpPr>
          <p:nvPr>
            <p:ph type="sldNum" idx="7"/>
          </p:nvPr>
        </p:nvSpPr>
        <p:spPr>
          <a:prstGeom prst="rect">
            <a:avLst/>
          </a:prstGeom>
        </p:spPr>
        <p:txBody>
          <a:bodyPr vert="horz" wrap="square" lIns="0" tIns="0" rIns="0" bIns="0">
            <a:spAutoFit/>
          </a:bodyPr>
          <a:lstStyle/>
          <a:p>
            <a:pPr marL="12700">
              <a:lnSpc>
                <a:spcPts val="1600"/>
              </a:lnSpc>
              <a:buNone/>
            </a:pPr>
            <a:fld id="{81D60167-4931-47E6-BA6A-407CBD079E47}" type="slidenum">
              <a:rPr spc="-25"/>
              <a:t>12</a:t>
            </a:fld>
            <a:endParaRPr spc="-25"/>
          </a:p>
        </p:txBody>
      </p:sp>
      <p:sp>
        <p:nvSpPr>
          <p:cNvPr id="2" name="object 2">
            <a:extLst>
              <a:ext uri="{FF2B5EF4-FFF2-40B4-BE49-F238E27FC236}">
                <a16:creationId xmlns:a16="http://schemas.microsoft.com/office/drawing/2014/main" id="{AD065B28-1628-44D1-B3FC-DC41C199B0B8}"/>
              </a:ext>
            </a:extLst>
          </p:cNvPr>
          <p:cNvSpPr>
            <a:spLocks noGrp="1"/>
          </p:cNvSpPr>
          <p:nvPr>
            <p:ph type="title"/>
          </p:nvPr>
        </p:nvSpPr>
        <p:spPr>
          <a:xfrm>
            <a:off x="520388" y="688269"/>
            <a:ext cx="11151223" cy="678105"/>
          </a:xfrm>
          <a:prstGeom prst="rect">
            <a:avLst/>
          </a:prstGeom>
        </p:spPr>
        <p:txBody>
          <a:bodyPr vert="horz" wrap="square" lIns="0" tIns="244827" rIns="0" bIns="0">
            <a:spAutoFit/>
          </a:bodyPr>
          <a:lstStyle/>
          <a:p>
            <a:pPr marL="12700">
              <a:lnSpc>
                <a:spcPct val="100000"/>
              </a:lnSpc>
              <a:spcBef>
                <a:spcPts val="125"/>
              </a:spcBef>
              <a:buNone/>
            </a:pPr>
            <a:r>
              <a:rPr sz="2800" b="1" spc="65"/>
              <a:t>PHASE-WISE EXECUTION</a:t>
            </a:r>
            <a:endParaRPr sz="2800" b="1"/>
          </a:p>
        </p:txBody>
      </p:sp>
      <p:sp>
        <p:nvSpPr>
          <p:cNvPr id="3" name="object 3">
            <a:extLst>
              <a:ext uri="{FF2B5EF4-FFF2-40B4-BE49-F238E27FC236}">
                <a16:creationId xmlns:a16="http://schemas.microsoft.com/office/drawing/2014/main" id="{56AD37CF-390E-461B-A5E8-FB9135623E6F}"/>
              </a:ext>
            </a:extLst>
          </p:cNvPr>
          <p:cNvSpPr>
            <a:spLocks noGrp="1"/>
          </p:cNvSpPr>
          <p:nvPr/>
        </p:nvSpPr>
        <p:spPr>
          <a:xfrm>
            <a:off x="695669" y="1514122"/>
            <a:ext cx="10963910" cy="3368679"/>
          </a:xfrm>
          <a:prstGeom prst="rect">
            <a:avLst/>
          </a:prstGeom>
        </p:spPr>
        <p:txBody>
          <a:bodyPr vert="horz" wrap="square" lIns="0" tIns="190500" rIns="0" bIns="0">
            <a:spAutoFit/>
          </a:bodyPr>
          <a:lstStyle/>
          <a:p>
            <a:pPr marL="342900" indent="-342900">
              <a:lnSpc>
                <a:spcPct val="150000"/>
              </a:lnSpc>
              <a:buFont typeface="Arial"/>
              <a:buChar char="•"/>
            </a:pPr>
            <a:r>
              <a:rPr sz="2000" dirty="0">
                <a:latin typeface="Times New Roman"/>
                <a:ea typeface="Times New Roman"/>
                <a:cs typeface="Times New Roman"/>
              </a:rPr>
              <a:t>Phase 1 — Requirements &amp; data: define healthcare threat classes; curate, validate and split prompts.</a:t>
            </a:r>
          </a:p>
          <a:p>
            <a:pPr marL="342900" indent="-342900">
              <a:lnSpc>
                <a:spcPct val="150000"/>
              </a:lnSpc>
              <a:buFont typeface="Arial"/>
              <a:buChar char="•"/>
            </a:pPr>
            <a:r>
              <a:rPr sz="2000" dirty="0">
                <a:latin typeface="Times New Roman"/>
                <a:ea typeface="Times New Roman"/>
                <a:cs typeface="Times New Roman"/>
              </a:rPr>
              <a:t>Phase 2 — Model development: fine-tune the classifier; build PHI/PII and semantic-similarity detectors; evaluate retrieval.</a:t>
            </a:r>
          </a:p>
          <a:p>
            <a:pPr marL="342900" indent="-342900">
              <a:lnSpc>
                <a:spcPct val="150000"/>
              </a:lnSpc>
              <a:buFont typeface="Arial"/>
              <a:buChar char="•"/>
            </a:pPr>
            <a:r>
              <a:rPr sz="2000" dirty="0">
                <a:latin typeface="Times New Roman"/>
                <a:ea typeface="Times New Roman"/>
                <a:cs typeface="Times New Roman"/>
              </a:rPr>
              <a:t>Phase 3 — Secure integration: connect the detectors to the risk engine, policy decisions, audit logging and dashboard APIs.</a:t>
            </a:r>
          </a:p>
          <a:p>
            <a:pPr marL="342900" indent="-342900">
              <a:lnSpc>
                <a:spcPct val="150000"/>
              </a:lnSpc>
              <a:buFont typeface="Arial"/>
              <a:buChar char="•"/>
            </a:pPr>
            <a:r>
              <a:rPr sz="2000" dirty="0">
                <a:latin typeface="Times New Roman"/>
                <a:ea typeface="Times New Roman"/>
                <a:cs typeface="Times New Roman"/>
              </a:rPr>
              <a:t>Phase 4 — Validation &amp; rollout: test allow/mask/quarantine/block flows; monitor feedback and prepare retraining.</a:t>
            </a:r>
          </a:p>
        </p:txBody>
      </p:sp>
      <p:sp>
        <p:nvSpPr>
          <p:cNvPr id="7" name="object 10">
            <a:extLst>
              <a:ext uri="{FF2B5EF4-FFF2-40B4-BE49-F238E27FC236}">
                <a16:creationId xmlns:a16="http://schemas.microsoft.com/office/drawing/2014/main" id="{09C6F40B-D521-D98D-F3FE-85EA3A303498}"/>
              </a:ext>
            </a:extLst>
          </p:cNvPr>
          <p:cNvSpPr>
            <a:spLocks noGrp="1"/>
          </p:cNvSpPr>
          <p:nvPr>
            <p:ph type="dt" idx="6"/>
          </p:nvPr>
        </p:nvSpPr>
        <p:spPr>
          <a:xfrm>
            <a:off x="1132803" y="6333334"/>
            <a:ext cx="869314" cy="205184"/>
          </a:xfrm>
          <a:prstGeom prst="rect">
            <a:avLst/>
          </a:prstGeom>
        </p:spPr>
        <p:txBody>
          <a:bodyPr vert="horz" wrap="square" lIns="0" tIns="0" rIns="0" bIns="0">
            <a:spAutoFit/>
          </a:bodyPr>
          <a:lstStyle/>
          <a:p>
            <a:pPr marL="12700">
              <a:lnSpc>
                <a:spcPts val="1635"/>
              </a:lnSpc>
              <a:buNone/>
            </a:pPr>
            <a:r>
              <a:t>22-08-2026</a:t>
            </a:r>
            <a:endParaRPr spc="-20"/>
          </a:p>
        </p:txBody>
      </p:sp>
    </p:spTree>
    <p:extLst>
      <p:ext uri="{BB962C8B-B14F-4D97-AF65-F5344CB8AC3E}">
        <p14:creationId xmlns:p14="http://schemas.microsoft.com/office/powerpoint/2010/main" val="10837125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a:extLst>
              <a:ext uri="{FF2B5EF4-FFF2-40B4-BE49-F238E27FC236}">
                <a16:creationId xmlns:a16="http://schemas.microsoft.com/office/drawing/2014/main" id="{4623F181-EABE-4439-9ED3-39C52136EAAD}"/>
              </a:ext>
            </a:extLst>
          </p:cNvPr>
          <p:cNvSpPr>
            <a:spLocks noGrp="1"/>
          </p:cNvSpPr>
          <p:nvPr>
            <p:ph type="ftr" idx="5"/>
          </p:nvPr>
        </p:nvSpPr>
        <p:spPr>
          <a:prstGeom prst="rect">
            <a:avLst/>
          </a:prstGeom>
        </p:spPr>
        <p:txBody>
          <a:bodyPr vert="horz" wrap="square" lIns="0" tIns="0" rIns="0" bIns="0">
            <a:spAutoFit/>
          </a:bodyPr>
          <a:lstStyle/>
          <a:p>
            <a:pPr marL="12700">
              <a:lnSpc>
                <a:spcPts val="1689"/>
              </a:lnSpc>
              <a:buNone/>
            </a:pPr>
            <a:r>
              <a:rPr spc="-10"/>
              <a:t>Dept of AIML</a:t>
            </a:r>
            <a:endParaRPr spc="-85"/>
          </a:p>
        </p:txBody>
      </p:sp>
      <p:sp>
        <p:nvSpPr>
          <p:cNvPr id="6" name="object 6">
            <a:extLst>
              <a:ext uri="{FF2B5EF4-FFF2-40B4-BE49-F238E27FC236}">
                <a16:creationId xmlns:a16="http://schemas.microsoft.com/office/drawing/2014/main" id="{278DCD72-CC07-48FB-AD13-D1E4A044B785}"/>
              </a:ext>
            </a:extLst>
          </p:cNvPr>
          <p:cNvSpPr>
            <a:spLocks noGrp="1"/>
          </p:cNvSpPr>
          <p:nvPr>
            <p:ph type="sldNum" idx="7"/>
          </p:nvPr>
        </p:nvSpPr>
        <p:spPr>
          <a:prstGeom prst="rect">
            <a:avLst/>
          </a:prstGeom>
        </p:spPr>
        <p:txBody>
          <a:bodyPr vert="horz" wrap="square" lIns="0" tIns="0" rIns="0" bIns="0">
            <a:spAutoFit/>
          </a:bodyPr>
          <a:lstStyle/>
          <a:p>
            <a:pPr marL="12700">
              <a:lnSpc>
                <a:spcPts val="1600"/>
              </a:lnSpc>
              <a:buNone/>
            </a:pPr>
            <a:fld id="{81D60167-4931-47E6-BA6A-407CBD079E47}" type="slidenum">
              <a:rPr spc="-25"/>
              <a:t>13</a:t>
            </a:fld>
            <a:endParaRPr spc="-25"/>
          </a:p>
        </p:txBody>
      </p:sp>
      <p:sp>
        <p:nvSpPr>
          <p:cNvPr id="2" name="object 2">
            <a:extLst>
              <a:ext uri="{FF2B5EF4-FFF2-40B4-BE49-F238E27FC236}">
                <a16:creationId xmlns:a16="http://schemas.microsoft.com/office/drawing/2014/main" id="{13935A1E-BE5C-42EB-9736-4BC5F9786034}"/>
              </a:ext>
            </a:extLst>
          </p:cNvPr>
          <p:cNvSpPr>
            <a:spLocks noGrp="1"/>
          </p:cNvSpPr>
          <p:nvPr>
            <p:ph type="title"/>
          </p:nvPr>
        </p:nvSpPr>
        <p:spPr>
          <a:xfrm>
            <a:off x="527518" y="918104"/>
            <a:ext cx="4349282" cy="443070"/>
          </a:xfrm>
          <a:prstGeom prst="rect">
            <a:avLst/>
          </a:prstGeom>
        </p:spPr>
        <p:txBody>
          <a:bodyPr vert="horz" wrap="square" lIns="0" tIns="12065" rIns="0" bIns="0">
            <a:spAutoFit/>
          </a:bodyPr>
          <a:lstStyle/>
          <a:p>
            <a:pPr marL="12700">
              <a:lnSpc>
                <a:spcPct val="100000"/>
              </a:lnSpc>
              <a:spcBef>
                <a:spcPts val="95"/>
              </a:spcBef>
              <a:buNone/>
            </a:pPr>
            <a:r>
              <a:rPr sz="2800" b="1" dirty="0">
                <a:latin typeface="Times New Roman"/>
                <a:ea typeface="Times New Roman"/>
                <a:cs typeface="Times New Roman"/>
              </a:rPr>
              <a:t>Software</a:t>
            </a:r>
            <a:r>
              <a:rPr sz="2800" b="1" spc="135" dirty="0">
                <a:latin typeface="Times New Roman"/>
                <a:ea typeface="Times New Roman"/>
                <a:cs typeface="Times New Roman"/>
              </a:rPr>
              <a:t> </a:t>
            </a:r>
            <a:r>
              <a:rPr sz="2800" b="1" spc="-30" dirty="0">
                <a:latin typeface="Times New Roman"/>
                <a:ea typeface="Times New Roman"/>
                <a:cs typeface="Times New Roman"/>
              </a:rPr>
              <a:t>Components</a:t>
            </a:r>
            <a:endParaRPr sz="2800" dirty="0">
              <a:latin typeface="Times New Roman"/>
              <a:ea typeface="Times New Roman"/>
              <a:cs typeface="Times New Roman"/>
            </a:endParaRPr>
          </a:p>
        </p:txBody>
      </p:sp>
      <p:sp>
        <p:nvSpPr>
          <p:cNvPr id="3" name="object 3">
            <a:extLst>
              <a:ext uri="{FF2B5EF4-FFF2-40B4-BE49-F238E27FC236}">
                <a16:creationId xmlns:a16="http://schemas.microsoft.com/office/drawing/2014/main" id="{807F80BC-8841-4524-8203-A4C03D89AD2E}"/>
              </a:ext>
            </a:extLst>
          </p:cNvPr>
          <p:cNvSpPr>
            <a:spLocks noGrp="1"/>
          </p:cNvSpPr>
          <p:nvPr/>
        </p:nvSpPr>
        <p:spPr>
          <a:xfrm>
            <a:off x="717082" y="1397529"/>
            <a:ext cx="10941685" cy="3677417"/>
          </a:xfrm>
          <a:prstGeom prst="rect">
            <a:avLst/>
          </a:prstGeom>
        </p:spPr>
        <p:txBody>
          <a:bodyPr vert="horz" wrap="square" lIns="0" tIns="97790" rIns="0" bIns="0">
            <a:spAutoFit/>
          </a:bodyPr>
          <a:lstStyle/>
          <a:p>
            <a:pPr>
              <a:lnSpc>
                <a:spcPct val="200000"/>
              </a:lnSpc>
              <a:buNone/>
            </a:pPr>
            <a:r>
              <a:rPr sz="2400">
                <a:latin typeface="Times New Roman"/>
                <a:ea typeface="Times New Roman"/>
                <a:cs typeface="Times New Roman"/>
              </a:rPr>
              <a:t>• </a:t>
            </a:r>
            <a:r>
              <a:rPr sz="2400" b="1">
                <a:latin typeface="Times New Roman"/>
                <a:ea typeface="Times New Roman"/>
                <a:cs typeface="Times New Roman"/>
              </a:rPr>
              <a:t>FastAPI</a:t>
            </a:r>
            <a:r>
              <a:rPr sz="2400">
                <a:latin typeface="Times New Roman"/>
                <a:ea typeface="Times New Roman"/>
                <a:cs typeface="Times New Roman"/>
              </a:rPr>
              <a:t> – Handles API requests and integrates security modules.</a:t>
            </a:r>
          </a:p>
          <a:p>
            <a:pPr>
              <a:lnSpc>
                <a:spcPct val="200000"/>
              </a:lnSpc>
              <a:buNone/>
            </a:pPr>
            <a:r>
              <a:rPr sz="2400">
                <a:latin typeface="Times New Roman"/>
                <a:ea typeface="Times New Roman"/>
                <a:cs typeface="Times New Roman"/>
              </a:rPr>
              <a:t>• </a:t>
            </a:r>
            <a:r>
              <a:rPr sz="2400" b="1">
                <a:latin typeface="Times New Roman"/>
                <a:ea typeface="Times New Roman"/>
                <a:cs typeface="Times New Roman"/>
              </a:rPr>
              <a:t>React Dashboard </a:t>
            </a:r>
            <a:r>
              <a:rPr sz="2400">
                <a:latin typeface="Times New Roman"/>
                <a:ea typeface="Times New Roman"/>
                <a:cs typeface="Times New Roman"/>
              </a:rPr>
              <a:t>– Displays risk score, decision status, and monitoring data.</a:t>
            </a:r>
          </a:p>
          <a:p>
            <a:pPr>
              <a:lnSpc>
                <a:spcPct val="200000"/>
              </a:lnSpc>
              <a:buNone/>
            </a:pPr>
            <a:r>
              <a:rPr sz="2400">
                <a:latin typeface="Times New Roman"/>
                <a:ea typeface="Times New Roman"/>
                <a:cs typeface="Times New Roman"/>
              </a:rPr>
              <a:t>• </a:t>
            </a:r>
            <a:r>
              <a:rPr sz="2400" b="1">
                <a:latin typeface="Times New Roman"/>
                <a:ea typeface="Times New Roman"/>
                <a:cs typeface="Times New Roman"/>
              </a:rPr>
              <a:t>SHAP Explainability Module </a:t>
            </a:r>
            <a:r>
              <a:rPr sz="2400">
                <a:latin typeface="Times New Roman"/>
                <a:ea typeface="Times New Roman"/>
                <a:cs typeface="Times New Roman"/>
              </a:rPr>
              <a:t>– Provides interpretable model predictions.</a:t>
            </a:r>
          </a:p>
          <a:p>
            <a:pPr>
              <a:lnSpc>
                <a:spcPct val="200000"/>
              </a:lnSpc>
              <a:buNone/>
            </a:pPr>
            <a:r>
              <a:rPr sz="2400">
                <a:latin typeface="Times New Roman"/>
                <a:ea typeface="Times New Roman"/>
                <a:cs typeface="Times New Roman"/>
              </a:rPr>
              <a:t>• </a:t>
            </a:r>
            <a:r>
              <a:rPr sz="2400" b="1">
                <a:latin typeface="Times New Roman"/>
                <a:ea typeface="Times New Roman"/>
                <a:cs typeface="Times New Roman"/>
              </a:rPr>
              <a:t>PostgreSQL</a:t>
            </a:r>
            <a:r>
              <a:rPr sz="2400">
                <a:latin typeface="Times New Roman"/>
                <a:ea typeface="Times New Roman"/>
                <a:cs typeface="Times New Roman"/>
              </a:rPr>
              <a:t> – Stores logs and security events.</a:t>
            </a:r>
          </a:p>
          <a:p>
            <a:pPr>
              <a:lnSpc>
                <a:spcPct val="200000"/>
              </a:lnSpc>
              <a:buNone/>
            </a:pPr>
            <a:r>
              <a:rPr sz="2400">
                <a:latin typeface="Times New Roman"/>
                <a:ea typeface="Times New Roman"/>
                <a:cs typeface="Times New Roman"/>
              </a:rPr>
              <a:t>• </a:t>
            </a:r>
            <a:r>
              <a:rPr sz="2400" b="1">
                <a:latin typeface="Times New Roman"/>
                <a:ea typeface="Times New Roman"/>
                <a:cs typeface="Times New Roman"/>
              </a:rPr>
              <a:t>Docker</a:t>
            </a:r>
            <a:r>
              <a:rPr sz="2400">
                <a:latin typeface="Times New Roman"/>
                <a:ea typeface="Times New Roman"/>
                <a:cs typeface="Times New Roman"/>
              </a:rPr>
              <a:t> – Containerizes services for deployment.</a:t>
            </a:r>
          </a:p>
        </p:txBody>
      </p:sp>
      <p:sp>
        <p:nvSpPr>
          <p:cNvPr id="7" name="object 10">
            <a:extLst>
              <a:ext uri="{FF2B5EF4-FFF2-40B4-BE49-F238E27FC236}">
                <a16:creationId xmlns:a16="http://schemas.microsoft.com/office/drawing/2014/main" id="{303DB154-1673-72F6-C535-6E4841545A85}"/>
              </a:ext>
            </a:extLst>
          </p:cNvPr>
          <p:cNvSpPr>
            <a:spLocks noGrp="1"/>
          </p:cNvSpPr>
          <p:nvPr>
            <p:ph type="dt" idx="6"/>
          </p:nvPr>
        </p:nvSpPr>
        <p:spPr>
          <a:xfrm>
            <a:off x="1132803" y="6333334"/>
            <a:ext cx="869314" cy="205184"/>
          </a:xfrm>
          <a:prstGeom prst="rect">
            <a:avLst/>
          </a:prstGeom>
        </p:spPr>
        <p:txBody>
          <a:bodyPr vert="horz" wrap="square" lIns="0" tIns="0" rIns="0" bIns="0">
            <a:spAutoFit/>
          </a:bodyPr>
          <a:lstStyle/>
          <a:p>
            <a:pPr marL="12700">
              <a:lnSpc>
                <a:spcPts val="1635"/>
              </a:lnSpc>
              <a:buNone/>
            </a:pPr>
            <a:r>
              <a:t>22-04-2026</a:t>
            </a:r>
            <a:endParaRPr spc="-20"/>
          </a:p>
        </p:txBody>
      </p:sp>
    </p:spTree>
    <p:extLst>
      <p:ext uri="{BB962C8B-B14F-4D97-AF65-F5344CB8AC3E}">
        <p14:creationId xmlns:p14="http://schemas.microsoft.com/office/powerpoint/2010/main" val="13667798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92322678-451D-7B3B-C915-51D9223C4C0D}"/>
              </a:ext>
            </a:extLst>
          </p:cNvPr>
          <p:cNvSpPr>
            <a:spLocks noGrp="1"/>
          </p:cNvSpPr>
          <p:nvPr>
            <p:ph type="ftr" idx="5"/>
          </p:nvPr>
        </p:nvSpPr>
        <p:spPr/>
        <p:txBody>
          <a:bodyPr/>
          <a:lstStyle/>
          <a:p>
            <a:pPr marL="12700">
              <a:lnSpc>
                <a:spcPts val="1689"/>
              </a:lnSpc>
              <a:buNone/>
            </a:pPr>
            <a:r>
              <a:rPr spc="-10"/>
              <a:t>Dept of AIML</a:t>
            </a:r>
            <a:endParaRPr spc="-85"/>
          </a:p>
        </p:txBody>
      </p:sp>
      <p:sp>
        <p:nvSpPr>
          <p:cNvPr id="3" name="Date Placeholder 2">
            <a:extLst>
              <a:ext uri="{FF2B5EF4-FFF2-40B4-BE49-F238E27FC236}">
                <a16:creationId xmlns:a16="http://schemas.microsoft.com/office/drawing/2014/main" id="{2F78228D-AC85-6C79-644D-4B1DA634320B}"/>
              </a:ext>
            </a:extLst>
          </p:cNvPr>
          <p:cNvSpPr>
            <a:spLocks noGrp="1"/>
          </p:cNvSpPr>
          <p:nvPr>
            <p:ph type="dt" idx="6"/>
          </p:nvPr>
        </p:nvSpPr>
        <p:spPr>
          <a:xfrm>
            <a:off x="1132803" y="6333334"/>
            <a:ext cx="869314" cy="205184"/>
          </a:xfrm>
        </p:spPr>
        <p:txBody>
          <a:bodyPr/>
          <a:lstStyle/>
          <a:p>
            <a:pPr marL="12700">
              <a:lnSpc>
                <a:spcPts val="1635"/>
              </a:lnSpc>
              <a:buNone/>
            </a:pPr>
            <a:r>
              <a:t>22-08-2026</a:t>
            </a:r>
            <a:endParaRPr spc="-20"/>
          </a:p>
        </p:txBody>
      </p:sp>
      <p:sp>
        <p:nvSpPr>
          <p:cNvPr id="4" name="Slide Number Placeholder 3">
            <a:extLst>
              <a:ext uri="{FF2B5EF4-FFF2-40B4-BE49-F238E27FC236}">
                <a16:creationId xmlns:a16="http://schemas.microsoft.com/office/drawing/2014/main" id="{8AFBCCBF-573B-B4F2-2561-664C531DB024}"/>
              </a:ext>
            </a:extLst>
          </p:cNvPr>
          <p:cNvSpPr>
            <a:spLocks noGrp="1"/>
          </p:cNvSpPr>
          <p:nvPr>
            <p:ph type="sldNum" idx="7"/>
          </p:nvPr>
        </p:nvSpPr>
        <p:spPr/>
        <p:txBody>
          <a:bodyPr/>
          <a:lstStyle/>
          <a:p>
            <a:pPr marL="12700">
              <a:lnSpc>
                <a:spcPts val="1600"/>
              </a:lnSpc>
              <a:buNone/>
            </a:pPr>
            <a:fld id="{81D60167-4931-47E6-BA6A-407CBD079E47}" type="slidenum">
              <a:rPr spc="-25"/>
              <a:t>14</a:t>
            </a:fld>
            <a:endParaRPr spc="-25"/>
          </a:p>
        </p:txBody>
      </p:sp>
      <p:pic>
        <p:nvPicPr>
          <p:cNvPr id="11" name="Picture 7"/>
          <p:cNvPicPr>
            <a:picLocks noChangeAspect="1"/>
          </p:cNvPicPr>
          <p:nvPr/>
        </p:nvPicPr>
        <p:blipFill>
          <a:blip r:embed="rId3"/>
          <a:stretch>
            <a:fillRect/>
          </a:stretch>
        </p:blipFill>
        <p:spPr>
          <a:xfrm>
            <a:off x="1789471" y="793630"/>
            <a:ext cx="8432832" cy="5233544"/>
          </a:xfrm>
          <a:prstGeom prst="rect">
            <a:avLst/>
          </a:prstGeom>
        </p:spPr>
      </p:pic>
      <p:sp>
        <p:nvSpPr>
          <p:cNvPr id="6" name="TextBox 5">
            <a:extLst>
              <a:ext uri="{FF2B5EF4-FFF2-40B4-BE49-F238E27FC236}">
                <a16:creationId xmlns:a16="http://schemas.microsoft.com/office/drawing/2014/main" id="{D8AC7ABA-52E0-7AF5-7EB5-CA0205E547BA}"/>
              </a:ext>
            </a:extLst>
          </p:cNvPr>
          <p:cNvSpPr>
            <a:spLocks noGrp="1"/>
          </p:cNvSpPr>
          <p:nvPr/>
        </p:nvSpPr>
        <p:spPr>
          <a:xfrm>
            <a:off x="1132803" y="485853"/>
            <a:ext cx="3097161" cy="615553"/>
          </a:xfrm>
          <a:prstGeom prst="rect">
            <a:avLst/>
          </a:prstGeom>
          <a:noFill/>
        </p:spPr>
        <p:txBody>
          <a:bodyPr wrap="square">
            <a:spAutoFit/>
          </a:bodyPr>
          <a:lstStyle/>
          <a:p>
            <a:r>
              <a:rPr sz="3400"/>
              <a:t>System Design</a:t>
            </a:r>
          </a:p>
        </p:txBody>
      </p:sp>
    </p:spTree>
    <p:extLst>
      <p:ext uri="{BB962C8B-B14F-4D97-AF65-F5344CB8AC3E}">
        <p14:creationId xmlns:p14="http://schemas.microsoft.com/office/powerpoint/2010/main" val="733915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C9852E62-411F-D121-8EAE-E9195B6A0010}"/>
              </a:ext>
            </a:extLst>
          </p:cNvPr>
          <p:cNvSpPr>
            <a:spLocks noGrp="1"/>
          </p:cNvSpPr>
          <p:nvPr>
            <p:ph type="ftr" idx="5"/>
          </p:nvPr>
        </p:nvSpPr>
        <p:spPr/>
        <p:txBody>
          <a:bodyPr/>
          <a:lstStyle/>
          <a:p>
            <a:pPr marL="12700">
              <a:lnSpc>
                <a:spcPts val="1689"/>
              </a:lnSpc>
              <a:buNone/>
            </a:pPr>
            <a:r>
              <a:rPr spc="-10"/>
              <a:t>Dept of AIML</a:t>
            </a:r>
            <a:endParaRPr spc="-85"/>
          </a:p>
        </p:txBody>
      </p:sp>
      <p:sp>
        <p:nvSpPr>
          <p:cNvPr id="3" name="Date Placeholder 2">
            <a:extLst>
              <a:ext uri="{FF2B5EF4-FFF2-40B4-BE49-F238E27FC236}">
                <a16:creationId xmlns:a16="http://schemas.microsoft.com/office/drawing/2014/main" id="{B9E51DD7-C2F2-3726-C28A-D0D3E6DAA91D}"/>
              </a:ext>
            </a:extLst>
          </p:cNvPr>
          <p:cNvSpPr>
            <a:spLocks noGrp="1"/>
          </p:cNvSpPr>
          <p:nvPr>
            <p:ph type="dt" idx="6"/>
          </p:nvPr>
        </p:nvSpPr>
        <p:spPr>
          <a:xfrm>
            <a:off x="1132803" y="6333334"/>
            <a:ext cx="869314" cy="205184"/>
          </a:xfrm>
        </p:spPr>
        <p:txBody>
          <a:bodyPr/>
          <a:lstStyle/>
          <a:p>
            <a:pPr marL="12700">
              <a:lnSpc>
                <a:spcPts val="1635"/>
              </a:lnSpc>
              <a:buNone/>
            </a:pPr>
            <a:r>
              <a:t>22-08-2026</a:t>
            </a:r>
            <a:endParaRPr spc="-20"/>
          </a:p>
        </p:txBody>
      </p:sp>
      <p:sp>
        <p:nvSpPr>
          <p:cNvPr id="4" name="Slide Number Placeholder 3">
            <a:extLst>
              <a:ext uri="{FF2B5EF4-FFF2-40B4-BE49-F238E27FC236}">
                <a16:creationId xmlns:a16="http://schemas.microsoft.com/office/drawing/2014/main" id="{EFA7C6BA-83F1-D010-250A-B6D4089FE29A}"/>
              </a:ext>
            </a:extLst>
          </p:cNvPr>
          <p:cNvSpPr>
            <a:spLocks noGrp="1"/>
          </p:cNvSpPr>
          <p:nvPr>
            <p:ph type="sldNum" idx="7"/>
          </p:nvPr>
        </p:nvSpPr>
        <p:spPr/>
        <p:txBody>
          <a:bodyPr/>
          <a:lstStyle/>
          <a:p>
            <a:pPr marL="12700">
              <a:lnSpc>
                <a:spcPts val="1600"/>
              </a:lnSpc>
              <a:buNone/>
            </a:pPr>
            <a:fld id="{81D60167-4931-47E6-BA6A-407CBD079E47}" type="slidenum">
              <a:rPr spc="-25"/>
              <a:t>15</a:t>
            </a:fld>
            <a:endParaRPr spc="-25"/>
          </a:p>
        </p:txBody>
      </p:sp>
      <p:pic>
        <p:nvPicPr>
          <p:cNvPr id="9" name="Picture 5"/>
          <p:cNvPicPr>
            <a:picLocks noChangeAspect="1"/>
          </p:cNvPicPr>
          <p:nvPr/>
        </p:nvPicPr>
        <p:blipFill>
          <a:blip r:embed="rId3"/>
          <a:stretch>
            <a:fillRect/>
          </a:stretch>
        </p:blipFill>
        <p:spPr>
          <a:xfrm>
            <a:off x="884903" y="816736"/>
            <a:ext cx="10741742" cy="5338258"/>
          </a:xfrm>
          <a:prstGeom prst="rect">
            <a:avLst/>
          </a:prstGeom>
        </p:spPr>
      </p:pic>
    </p:spTree>
    <p:extLst>
      <p:ext uri="{BB962C8B-B14F-4D97-AF65-F5344CB8AC3E}">
        <p14:creationId xmlns:p14="http://schemas.microsoft.com/office/powerpoint/2010/main" val="8833569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object 6">
            <a:extLst>
              <a:ext uri="{FF2B5EF4-FFF2-40B4-BE49-F238E27FC236}">
                <a16:creationId xmlns:a16="http://schemas.microsoft.com/office/drawing/2014/main" id="{BDF0226E-2B98-4331-A8A9-8B0D480C9193}"/>
              </a:ext>
            </a:extLst>
          </p:cNvPr>
          <p:cNvSpPr>
            <a:spLocks noGrp="1"/>
          </p:cNvSpPr>
          <p:nvPr>
            <p:ph type="title"/>
          </p:nvPr>
        </p:nvSpPr>
        <p:spPr>
          <a:xfrm>
            <a:off x="304800" y="393442"/>
            <a:ext cx="11150600" cy="523220"/>
          </a:xfrm>
          <a:prstGeom prst="rect">
            <a:avLst/>
          </a:prstGeom>
        </p:spPr>
        <p:txBody>
          <a:bodyPr vert="horz" wrap="square" lIns="0" tIns="15240" rIns="0" bIns="0">
            <a:spAutoFit/>
          </a:bodyPr>
          <a:lstStyle/>
          <a:p>
            <a:r>
              <a:rPr b="1"/>
              <a:t>Mathematical Equations/Models</a:t>
            </a:r>
          </a:p>
        </p:txBody>
      </p:sp>
      <p:sp>
        <p:nvSpPr>
          <p:cNvPr id="28" name="object 9">
            <a:extLst>
              <a:ext uri="{FF2B5EF4-FFF2-40B4-BE49-F238E27FC236}">
                <a16:creationId xmlns:a16="http://schemas.microsoft.com/office/drawing/2014/main" id="{00EE2ED2-EB46-F5DF-0A19-C52E935023C9}"/>
              </a:ext>
            </a:extLst>
          </p:cNvPr>
          <p:cNvSpPr>
            <a:spLocks noGrp="1"/>
          </p:cNvSpPr>
          <p:nvPr>
            <p:ph type="sldNum" idx="7"/>
          </p:nvPr>
        </p:nvSpPr>
        <p:spPr>
          <a:xfrm>
            <a:off x="11719249" y="6412412"/>
            <a:ext cx="244475" cy="219075"/>
          </a:xfrm>
          <a:prstGeom prst="rect">
            <a:avLst/>
          </a:prstGeom>
        </p:spPr>
        <p:txBody>
          <a:bodyPr vert="horz" wrap="square" lIns="0" tIns="0" rIns="0" bIns="0">
            <a:spAutoFit/>
          </a:bodyPr>
          <a:lstStyle/>
          <a:p>
            <a:pPr marL="12700">
              <a:lnSpc>
                <a:spcPts val="1600"/>
              </a:lnSpc>
              <a:buNone/>
            </a:pPr>
            <a:fld id="{81D60167-4931-47E6-BA6A-407CBD079E47}" type="slidenum">
              <a:rPr spc="-25"/>
              <a:t>16</a:t>
            </a:fld>
            <a:endParaRPr spc="-25"/>
          </a:p>
        </p:txBody>
      </p:sp>
      <p:sp>
        <p:nvSpPr>
          <p:cNvPr id="29" name="object 4">
            <a:extLst>
              <a:ext uri="{FF2B5EF4-FFF2-40B4-BE49-F238E27FC236}">
                <a16:creationId xmlns:a16="http://schemas.microsoft.com/office/drawing/2014/main" id="{66F1297C-1EA7-DC7D-880E-7E6E0EF53024}"/>
              </a:ext>
            </a:extLst>
          </p:cNvPr>
          <p:cNvSpPr>
            <a:spLocks noGrp="1"/>
          </p:cNvSpPr>
          <p:nvPr>
            <p:ph type="ftr" idx="5"/>
          </p:nvPr>
        </p:nvSpPr>
        <p:spPr>
          <a:xfrm>
            <a:off x="5634954" y="6400983"/>
            <a:ext cx="1445259" cy="230504"/>
          </a:xfrm>
          <a:prstGeom prst="rect">
            <a:avLst/>
          </a:prstGeom>
        </p:spPr>
        <p:txBody>
          <a:bodyPr vert="horz" wrap="square" lIns="0" tIns="0" rIns="0" bIns="0">
            <a:spAutoFit/>
          </a:bodyPr>
          <a:lstStyle/>
          <a:p>
            <a:pPr marL="12700">
              <a:lnSpc>
                <a:spcPts val="1689"/>
              </a:lnSpc>
              <a:buNone/>
            </a:pPr>
            <a:r>
              <a:rPr spc="-10"/>
              <a:t>Dept of AIML</a:t>
            </a:r>
            <a:endParaRPr spc="-85"/>
          </a:p>
        </p:txBody>
      </p:sp>
      <p:sp>
        <p:nvSpPr>
          <p:cNvPr id="2" name="TextBox 1">
            <a:extLst>
              <a:ext uri="{FF2B5EF4-FFF2-40B4-BE49-F238E27FC236}">
                <a16:creationId xmlns:a16="http://schemas.microsoft.com/office/drawing/2014/main" id="{53CA29DB-062B-1E47-581D-9D3C6CEF5D1E}"/>
              </a:ext>
            </a:extLst>
          </p:cNvPr>
          <p:cNvSpPr>
            <a:spLocks noGrp="1"/>
          </p:cNvSpPr>
          <p:nvPr/>
        </p:nvSpPr>
        <p:spPr>
          <a:xfrm>
            <a:off x="256636" y="1066800"/>
            <a:ext cx="8229600" cy="5509200"/>
          </a:xfrm>
          <a:prstGeom prst="rect">
            <a:avLst/>
          </a:prstGeom>
          <a:noFill/>
        </p:spPr>
        <p:txBody>
          <a:bodyPr wrap="square">
            <a:spAutoFit/>
          </a:bodyPr>
          <a:lstStyle/>
          <a:p>
            <a:pPr marL="342900" indent="-342900">
              <a:buFont typeface="Arial"/>
              <a:buChar char="•"/>
            </a:pPr>
            <a:r>
              <a:rPr sz="2400" b="1">
                <a:latin typeface="Times New Roman"/>
                <a:ea typeface="Times New Roman"/>
                <a:cs typeface="Times New Roman"/>
              </a:rPr>
              <a:t>Prompt Embedding</a:t>
            </a:r>
          </a:p>
          <a:p>
            <a:r>
              <a:rPr sz="2000"/>
              <a:t>      E(𝑃) = 𝑓𝑡𝑟𝑎𝑛𝑠𝑓𝑜𝑟𝑚𝑒𝑟(𝑃) </a:t>
            </a:r>
          </a:p>
          <a:p>
            <a:r>
              <a:rPr sz="2000"/>
              <a:t>    Where: </a:t>
            </a:r>
          </a:p>
          <a:p>
            <a:r>
              <a:rPr sz="2000"/>
              <a:t>    𝑃 = input prompt </a:t>
            </a:r>
          </a:p>
          <a:p>
            <a:r>
              <a:rPr sz="2000"/>
              <a:t>   𝐸(𝑃)= embedding vector representation</a:t>
            </a:r>
          </a:p>
          <a:p>
            <a:pPr marL="342900" indent="-342900">
              <a:buFont typeface="Arial"/>
              <a:buChar char="•"/>
            </a:pPr>
            <a:r>
              <a:rPr sz="2400" b="1">
                <a:latin typeface="Times New Roman"/>
                <a:ea typeface="Times New Roman"/>
                <a:cs typeface="Times New Roman"/>
              </a:rPr>
              <a:t>Injection</a:t>
            </a:r>
            <a:r>
              <a:rPr sz="2400" b="1"/>
              <a:t> Detection probability</a:t>
            </a:r>
          </a:p>
          <a:p>
            <a:r>
              <a:rPr sz="2000">
                <a:latin typeface="Times New Roman"/>
                <a:ea typeface="Times New Roman"/>
                <a:cs typeface="Times New Roman"/>
              </a:rPr>
              <a:t>     I(𝑃) = 𝜎(𝑊 ⋅𝐸(𝑃)+𝑏) </a:t>
            </a:r>
          </a:p>
          <a:p>
            <a:r>
              <a:rPr sz="2000">
                <a:latin typeface="Times New Roman"/>
                <a:ea typeface="Times New Roman"/>
                <a:cs typeface="Times New Roman"/>
              </a:rPr>
              <a:t>   Where: </a:t>
            </a:r>
          </a:p>
          <a:p>
            <a:r>
              <a:rPr sz="2000">
                <a:latin typeface="Times New Roman"/>
                <a:ea typeface="Times New Roman"/>
                <a:cs typeface="Times New Roman"/>
              </a:rPr>
              <a:t>    𝐼(𝑃)= injection probability</a:t>
            </a:r>
          </a:p>
          <a:p>
            <a:r>
              <a:rPr sz="2000">
                <a:latin typeface="Times New Roman"/>
                <a:ea typeface="Times New Roman"/>
                <a:cs typeface="Times New Roman"/>
              </a:rPr>
              <a:t>    </a:t>
            </a:r>
            <a:r>
              <a:rPr sz="2000"/>
              <a:t>𝑊,𝑏= learned parameters</a:t>
            </a:r>
          </a:p>
          <a:p>
            <a:r>
              <a:rPr sz="2000"/>
              <a:t>    𝜎= sigmoid activation function </a:t>
            </a:r>
            <a:endParaRPr sz="2000">
              <a:latin typeface="Times New Roman"/>
              <a:ea typeface="Times New Roman"/>
              <a:cs typeface="Times New Roman"/>
            </a:endParaRPr>
          </a:p>
          <a:p>
            <a:pPr marL="342900" indent="-342900">
              <a:buFont typeface="Arial"/>
              <a:buChar char="•"/>
            </a:pPr>
            <a:r>
              <a:rPr sz="2400" b="1">
                <a:latin typeface="Times New Roman"/>
                <a:ea typeface="Times New Roman"/>
                <a:cs typeface="Times New Roman"/>
              </a:rPr>
              <a:t>Semantic Similarity Score</a:t>
            </a:r>
          </a:p>
          <a:p>
            <a:r>
              <a:rPr sz="2000" b="1">
                <a:latin typeface="Times New Roman"/>
                <a:ea typeface="Times New Roman"/>
                <a:cs typeface="Times New Roman"/>
              </a:rPr>
              <a:t>    </a:t>
            </a:r>
            <a:r>
              <a:rPr sz="2000">
                <a:latin typeface="Times New Roman"/>
                <a:ea typeface="Times New Roman"/>
                <a:cs typeface="Times New Roman"/>
              </a:rPr>
              <a:t>S</a:t>
            </a:r>
            <a:r>
              <a:rPr sz="2000"/>
              <a:t>(𝑃) = 𝑚𝑎𝑥⁡𝑐𝑜𝑠⁡(𝐸(𝑃), E(𝐴𝑖)) </a:t>
            </a:r>
          </a:p>
          <a:p>
            <a:r>
              <a:rPr sz="2000"/>
              <a:t>  Where:</a:t>
            </a:r>
          </a:p>
          <a:p>
            <a:r>
              <a:rPr sz="2000"/>
              <a:t>  𝐴𝑖= known attack prompts </a:t>
            </a:r>
          </a:p>
          <a:p>
            <a:r>
              <a:rPr sz="2000"/>
              <a:t>  𝑆(𝑃)= similarity score </a:t>
            </a:r>
            <a:endParaRPr sz="2000" b="1">
              <a:latin typeface="Times New Roman"/>
              <a:ea typeface="Times New Roman"/>
              <a:cs typeface="Times New Roman"/>
            </a:endParaRPr>
          </a:p>
          <a:p>
            <a:endParaRPr sz="2000" b="1">
              <a:latin typeface="Times New Roman"/>
              <a:ea typeface="Times New Roman"/>
              <a:cs typeface="Times New Roman"/>
            </a:endParaRPr>
          </a:p>
        </p:txBody>
      </p:sp>
      <p:sp>
        <p:nvSpPr>
          <p:cNvPr id="3" name="object 10">
            <a:extLst>
              <a:ext uri="{FF2B5EF4-FFF2-40B4-BE49-F238E27FC236}">
                <a16:creationId xmlns:a16="http://schemas.microsoft.com/office/drawing/2014/main" id="{FCF30452-97F9-4289-51F1-B648516750AB}"/>
              </a:ext>
            </a:extLst>
          </p:cNvPr>
          <p:cNvSpPr>
            <a:spLocks noGrp="1"/>
          </p:cNvSpPr>
          <p:nvPr>
            <p:ph type="dt" idx="6"/>
          </p:nvPr>
        </p:nvSpPr>
        <p:spPr>
          <a:xfrm>
            <a:off x="457200" y="6426303"/>
            <a:ext cx="869314" cy="205184"/>
          </a:xfrm>
          <a:prstGeom prst="rect">
            <a:avLst/>
          </a:prstGeom>
        </p:spPr>
        <p:txBody>
          <a:bodyPr vert="horz" wrap="square" lIns="0" tIns="0" rIns="0" bIns="0">
            <a:spAutoFit/>
          </a:bodyPr>
          <a:lstStyle/>
          <a:p>
            <a:pPr marL="12700">
              <a:lnSpc>
                <a:spcPts val="1635"/>
              </a:lnSpc>
              <a:buNone/>
            </a:pPr>
            <a:r>
              <a:t>22-08-2026</a:t>
            </a:r>
            <a:endParaRPr spc="-20"/>
          </a:p>
        </p:txBody>
      </p:sp>
    </p:spTree>
    <p:extLst>
      <p:ext uri="{BB962C8B-B14F-4D97-AF65-F5344CB8AC3E}">
        <p14:creationId xmlns:p14="http://schemas.microsoft.com/office/powerpoint/2010/main" val="8981817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object 6">
            <a:extLst>
              <a:ext uri="{FF2B5EF4-FFF2-40B4-BE49-F238E27FC236}">
                <a16:creationId xmlns:a16="http://schemas.microsoft.com/office/drawing/2014/main" id="{A51D7844-DE86-A49B-5AAC-2FBA69F6C9AA}"/>
              </a:ext>
            </a:extLst>
          </p:cNvPr>
          <p:cNvSpPr>
            <a:spLocks noGrp="1"/>
          </p:cNvSpPr>
          <p:nvPr>
            <p:ph type="title"/>
          </p:nvPr>
        </p:nvSpPr>
        <p:spPr>
          <a:xfrm>
            <a:off x="304800" y="393442"/>
            <a:ext cx="11150600" cy="523220"/>
          </a:xfrm>
          <a:prstGeom prst="rect">
            <a:avLst/>
          </a:prstGeom>
        </p:spPr>
        <p:txBody>
          <a:bodyPr vert="horz" wrap="square" lIns="0" tIns="15240" rIns="0" bIns="0">
            <a:spAutoFit/>
          </a:bodyPr>
          <a:lstStyle/>
          <a:p>
            <a:r>
              <a:rPr b="1"/>
              <a:t>Risk Detection Model</a:t>
            </a:r>
          </a:p>
        </p:txBody>
      </p:sp>
      <p:sp>
        <p:nvSpPr>
          <p:cNvPr id="28" name="object 9">
            <a:extLst>
              <a:ext uri="{FF2B5EF4-FFF2-40B4-BE49-F238E27FC236}">
                <a16:creationId xmlns:a16="http://schemas.microsoft.com/office/drawing/2014/main" id="{4BF54D4F-50D7-2F9E-E44D-5899385DBF50}"/>
              </a:ext>
            </a:extLst>
          </p:cNvPr>
          <p:cNvSpPr>
            <a:spLocks noGrp="1"/>
          </p:cNvSpPr>
          <p:nvPr>
            <p:ph type="sldNum" idx="7"/>
          </p:nvPr>
        </p:nvSpPr>
        <p:spPr>
          <a:xfrm>
            <a:off x="11719249" y="6412412"/>
            <a:ext cx="244475" cy="219075"/>
          </a:xfrm>
          <a:prstGeom prst="rect">
            <a:avLst/>
          </a:prstGeom>
        </p:spPr>
        <p:txBody>
          <a:bodyPr vert="horz" wrap="square" lIns="0" tIns="0" rIns="0" bIns="0">
            <a:spAutoFit/>
          </a:bodyPr>
          <a:lstStyle/>
          <a:p>
            <a:pPr marL="12700">
              <a:lnSpc>
                <a:spcPts val="1600"/>
              </a:lnSpc>
              <a:buNone/>
            </a:pPr>
            <a:fld id="{81D60167-4931-47E6-BA6A-407CBD079E47}" type="slidenum">
              <a:rPr spc="-25"/>
              <a:t>17</a:t>
            </a:fld>
            <a:endParaRPr spc="-25"/>
          </a:p>
        </p:txBody>
      </p:sp>
      <p:sp>
        <p:nvSpPr>
          <p:cNvPr id="29" name="object 4">
            <a:extLst>
              <a:ext uri="{FF2B5EF4-FFF2-40B4-BE49-F238E27FC236}">
                <a16:creationId xmlns:a16="http://schemas.microsoft.com/office/drawing/2014/main" id="{D3A5C806-DD7D-911F-25A6-C98A64FC592E}"/>
              </a:ext>
            </a:extLst>
          </p:cNvPr>
          <p:cNvSpPr>
            <a:spLocks noGrp="1"/>
          </p:cNvSpPr>
          <p:nvPr>
            <p:ph type="ftr" idx="5"/>
          </p:nvPr>
        </p:nvSpPr>
        <p:spPr>
          <a:xfrm>
            <a:off x="5634954" y="6400983"/>
            <a:ext cx="1445259" cy="230504"/>
          </a:xfrm>
          <a:prstGeom prst="rect">
            <a:avLst/>
          </a:prstGeom>
        </p:spPr>
        <p:txBody>
          <a:bodyPr vert="horz" wrap="square" lIns="0" tIns="0" rIns="0" bIns="0">
            <a:spAutoFit/>
          </a:bodyPr>
          <a:lstStyle/>
          <a:p>
            <a:pPr marL="12700">
              <a:lnSpc>
                <a:spcPts val="1689"/>
              </a:lnSpc>
              <a:buNone/>
            </a:pPr>
            <a:r>
              <a:rPr spc="-10"/>
              <a:t>Dept of AIML</a:t>
            </a:r>
            <a:endParaRPr spc="-85"/>
          </a:p>
        </p:txBody>
      </p:sp>
      <p:sp>
        <p:nvSpPr>
          <p:cNvPr id="2" name="TextBox 1">
            <a:extLst>
              <a:ext uri="{FF2B5EF4-FFF2-40B4-BE49-F238E27FC236}">
                <a16:creationId xmlns:a16="http://schemas.microsoft.com/office/drawing/2014/main" id="{4C66A999-CE6B-E8B0-BDEB-3FAFEF285239}"/>
              </a:ext>
            </a:extLst>
          </p:cNvPr>
          <p:cNvSpPr>
            <a:spLocks noGrp="1"/>
          </p:cNvSpPr>
          <p:nvPr/>
        </p:nvSpPr>
        <p:spPr>
          <a:xfrm>
            <a:off x="256636" y="1066800"/>
            <a:ext cx="8229600" cy="3062377"/>
          </a:xfrm>
          <a:prstGeom prst="rect">
            <a:avLst/>
          </a:prstGeom>
          <a:noFill/>
        </p:spPr>
        <p:txBody>
          <a:bodyPr wrap="square">
            <a:spAutoFit/>
          </a:bodyPr>
          <a:lstStyle/>
          <a:p>
            <a:pPr marL="342900" indent="-342900">
              <a:buFont typeface="Arial"/>
              <a:buChar char="•"/>
            </a:pPr>
            <a:r>
              <a:rPr sz="2400" b="1">
                <a:latin typeface="Times New Roman"/>
                <a:ea typeface="Times New Roman"/>
                <a:cs typeface="Times New Roman"/>
              </a:rPr>
              <a:t>PHI / PII Detection</a:t>
            </a:r>
          </a:p>
          <a:p>
            <a:r>
              <a:rPr sz="2400" b="1">
                <a:latin typeface="Times New Roman"/>
                <a:ea typeface="Times New Roman"/>
                <a:cs typeface="Times New Roman"/>
              </a:rPr>
              <a:t>    </a:t>
            </a:r>
          </a:p>
          <a:p>
            <a:r>
              <a:rPr sz="2400">
                <a:latin typeface="Times New Roman"/>
                <a:ea typeface="Times New Roman"/>
                <a:cs typeface="Times New Roman"/>
              </a:rPr>
              <a:t>     H(P)=</a:t>
            </a:r>
          </a:p>
          <a:p>
            <a:endParaRPr sz="2400" b="1">
              <a:latin typeface="Times New Roman"/>
              <a:ea typeface="Times New Roman"/>
              <a:cs typeface="Times New Roman"/>
            </a:endParaRPr>
          </a:p>
          <a:p>
            <a:endParaRPr sz="2400" b="1">
              <a:latin typeface="Times New Roman"/>
              <a:ea typeface="Times New Roman"/>
              <a:cs typeface="Times New Roman"/>
            </a:endParaRPr>
          </a:p>
          <a:p>
            <a:pPr marL="342900" indent="-342900">
              <a:buFont typeface="Arial"/>
              <a:buChar char="•"/>
            </a:pPr>
            <a:r>
              <a:rPr sz="2400" b="1">
                <a:latin typeface="Times New Roman"/>
                <a:ea typeface="Times New Roman"/>
                <a:cs typeface="Times New Roman"/>
              </a:rPr>
              <a:t>Contextual Behavior Score</a:t>
            </a:r>
          </a:p>
          <a:p>
            <a:r>
              <a:rPr sz="2400">
                <a:latin typeface="Times New Roman"/>
                <a:ea typeface="Times New Roman"/>
                <a:cs typeface="Times New Roman"/>
              </a:rPr>
              <a:t>      </a:t>
            </a:r>
            <a:r>
              <a:rPr sz="2200">
                <a:latin typeface="Times New Roman"/>
                <a:ea typeface="Times New Roman"/>
                <a:cs typeface="Times New Roman"/>
              </a:rPr>
              <a:t>A(P)= f(user behavior, history)</a:t>
            </a:r>
            <a:endParaRPr sz="2200"/>
          </a:p>
          <a:p>
            <a:endParaRPr sz="2000" b="1">
              <a:latin typeface="Times New Roman"/>
              <a:ea typeface="Times New Roman"/>
              <a:cs typeface="Times New Roman"/>
            </a:endParaRPr>
          </a:p>
        </p:txBody>
      </p:sp>
      <p:sp>
        <p:nvSpPr>
          <p:cNvPr id="3" name="object 10">
            <a:extLst>
              <a:ext uri="{FF2B5EF4-FFF2-40B4-BE49-F238E27FC236}">
                <a16:creationId xmlns:a16="http://schemas.microsoft.com/office/drawing/2014/main" id="{BFE724C3-3696-B939-0622-108F59F81124}"/>
              </a:ext>
            </a:extLst>
          </p:cNvPr>
          <p:cNvSpPr>
            <a:spLocks noGrp="1"/>
          </p:cNvSpPr>
          <p:nvPr>
            <p:ph type="dt" idx="6"/>
          </p:nvPr>
        </p:nvSpPr>
        <p:spPr>
          <a:xfrm>
            <a:off x="457200" y="6426303"/>
            <a:ext cx="869314" cy="205184"/>
          </a:xfrm>
          <a:prstGeom prst="rect">
            <a:avLst/>
          </a:prstGeom>
        </p:spPr>
        <p:txBody>
          <a:bodyPr vert="horz" wrap="square" lIns="0" tIns="0" rIns="0" bIns="0">
            <a:spAutoFit/>
          </a:bodyPr>
          <a:lstStyle/>
          <a:p>
            <a:pPr marL="12700">
              <a:lnSpc>
                <a:spcPts val="1635"/>
              </a:lnSpc>
              <a:buNone/>
            </a:pPr>
            <a:r>
              <a:t>22-08-2026</a:t>
            </a:r>
            <a:endParaRPr spc="-20"/>
          </a:p>
        </p:txBody>
      </p:sp>
      <p:sp>
        <p:nvSpPr>
          <p:cNvPr id="5" name="Left Brace 4">
            <a:extLst>
              <a:ext uri="{FF2B5EF4-FFF2-40B4-BE49-F238E27FC236}">
                <a16:creationId xmlns:a16="http://schemas.microsoft.com/office/drawing/2014/main" id="{C7C6228B-7249-74EA-1E4C-488E85A530CA}"/>
              </a:ext>
            </a:extLst>
          </p:cNvPr>
          <p:cNvSpPr>
            <a:spLocks noGrp="1"/>
          </p:cNvSpPr>
          <p:nvPr/>
        </p:nvSpPr>
        <p:spPr>
          <a:xfrm>
            <a:off x="1600200" y="1634578"/>
            <a:ext cx="381000" cy="769441"/>
          </a:xfrm>
          <a:prstGeom prst="leftBrace">
            <a:avLst/>
          </a:prstGeom>
        </p:spPr>
        <p:style>
          <a:lnRef idx="2">
            <a:schemeClr val="dk1"/>
          </a:lnRef>
          <a:fillRef idx="0">
            <a:schemeClr val="dk1"/>
          </a:fillRef>
          <a:effectRef idx="1">
            <a:schemeClr val="dk1"/>
          </a:effectRef>
          <a:fontRef idx="minor">
            <a:schemeClr val="tx1"/>
          </a:fontRef>
        </p:style>
        <p:txBody>
          <a:bodyPr anchor="ctr"/>
          <a:lstStyle/>
          <a:p>
            <a:pPr algn="ctr">
              <a:buNone/>
            </a:pPr>
            <a:endParaRPr/>
          </a:p>
        </p:txBody>
      </p:sp>
      <p:sp>
        <p:nvSpPr>
          <p:cNvPr id="6" name="TextBox 5">
            <a:extLst>
              <a:ext uri="{FF2B5EF4-FFF2-40B4-BE49-F238E27FC236}">
                <a16:creationId xmlns:a16="http://schemas.microsoft.com/office/drawing/2014/main" id="{D9B2F2FB-20E9-599E-5729-D2CF7701F20D}"/>
              </a:ext>
            </a:extLst>
          </p:cNvPr>
          <p:cNvSpPr>
            <a:spLocks noGrp="1"/>
          </p:cNvSpPr>
          <p:nvPr/>
        </p:nvSpPr>
        <p:spPr>
          <a:xfrm>
            <a:off x="1905000" y="1634579"/>
            <a:ext cx="3506638" cy="769441"/>
          </a:xfrm>
          <a:prstGeom prst="rect">
            <a:avLst/>
          </a:prstGeom>
          <a:noFill/>
        </p:spPr>
        <p:txBody>
          <a:bodyPr wrap="square">
            <a:spAutoFit/>
          </a:bodyPr>
          <a:lstStyle/>
          <a:p>
            <a:r>
              <a:rPr sz="2200">
                <a:latin typeface="Times New Roman"/>
                <a:ea typeface="Times New Roman"/>
                <a:cs typeface="Times New Roman"/>
              </a:rPr>
              <a:t>1, if sensitive data detected</a:t>
            </a:r>
          </a:p>
          <a:p>
            <a:r>
              <a:rPr sz="2200">
                <a:latin typeface="Times New Roman"/>
                <a:ea typeface="Times New Roman"/>
                <a:cs typeface="Times New Roman"/>
              </a:rPr>
              <a:t>0, otherwise</a:t>
            </a:r>
          </a:p>
        </p:txBody>
      </p:sp>
    </p:spTree>
    <p:extLst>
      <p:ext uri="{BB962C8B-B14F-4D97-AF65-F5344CB8AC3E}">
        <p14:creationId xmlns:p14="http://schemas.microsoft.com/office/powerpoint/2010/main" val="29608402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object 6">
            <a:extLst>
              <a:ext uri="{FF2B5EF4-FFF2-40B4-BE49-F238E27FC236}">
                <a16:creationId xmlns:a16="http://schemas.microsoft.com/office/drawing/2014/main" id="{F5D5A703-0824-7510-5C8D-68C6DABFABCC}"/>
              </a:ext>
            </a:extLst>
          </p:cNvPr>
          <p:cNvSpPr>
            <a:spLocks noGrp="1"/>
          </p:cNvSpPr>
          <p:nvPr>
            <p:ph type="title"/>
          </p:nvPr>
        </p:nvSpPr>
        <p:spPr>
          <a:xfrm>
            <a:off x="304800" y="393442"/>
            <a:ext cx="11150600" cy="523220"/>
          </a:xfrm>
          <a:prstGeom prst="rect">
            <a:avLst/>
          </a:prstGeom>
        </p:spPr>
        <p:txBody>
          <a:bodyPr vert="horz" wrap="square" lIns="0" tIns="15240" rIns="0" bIns="0">
            <a:spAutoFit/>
          </a:bodyPr>
          <a:lstStyle/>
          <a:p>
            <a:r>
              <a:rPr b="1"/>
              <a:t>Final Risk Detection Model</a:t>
            </a:r>
          </a:p>
        </p:txBody>
      </p:sp>
      <mc:AlternateContent xmlns:mc="http://schemas.openxmlformats.org/markup-compatibility/2006">
        <mc:Choice xmlns:a14="http://schemas.microsoft.com/office/drawing/2010/main" Requires="a14">
          <p:sp>
            <p:nvSpPr>
              <p:cNvPr id="21" name="TextBox 20">
                <a:extLst>
                  <a:ext uri="{FF2B5EF4-FFF2-40B4-BE49-F238E27FC236}">
                    <a16:creationId xmlns:a16="http://schemas.microsoft.com/office/drawing/2014/main" id="{B38A5DE7-3B6E-A9D4-3B81-FD92082899A9}"/>
                  </a:ext>
                </a:extLst>
              </p:cNvPr>
              <p:cNvSpPr>
                <a:spLocks noGrp="1"/>
              </p:cNvSpPr>
              <p:nvPr/>
            </p:nvSpPr>
            <p:spPr>
              <a:xfrm>
                <a:off x="304800" y="4446772"/>
                <a:ext cx="6324600" cy="1938992"/>
              </a:xfrm>
              <a:prstGeom prst="rect">
                <a:avLst/>
              </a:prstGeom>
              <a:noFill/>
            </p:spPr>
            <p:txBody>
              <a:bodyPr wrap="square">
                <a:spAutoFit/>
              </a:bodyPr>
              <a:lstStyle/>
              <a:p>
                <a:pPr>
                  <a:spcAft>
                    <a:spcPts val="600"/>
                  </a:spcAft>
                  <a:buNone/>
                </a:pPr>
                <a:r>
                  <a:rPr sz="2000" b="1"/>
                  <a:t>• </a:t>
                </a:r>
                <a:r>
                  <a:rPr sz="2000" b="1">
                    <a:latin typeface="Times New Roman"/>
                    <a:ea typeface="Times New Roman"/>
                    <a:cs typeface="Times New Roman"/>
                  </a:rPr>
                  <a:t>Formal Risk Aggregator</a:t>
                </a:r>
              </a:p>
              <a:p>
                <a:pPr>
                  <a:spcAft>
                    <a:spcPts val="600"/>
                  </a:spcAft>
                  <a:buNone/>
                </a:pPr>
                <a14:m>
                  <m:oMathPara xmlns:m="http://schemas.openxmlformats.org/officeDocument/2006/math">
                    <m:oMath>
                      <m:r>
                        <a:rPr lang="en-US" sz="2000" i="1">
                          <a:latin typeface="Cambria Math"/>
                          <a:ea typeface="Cambria Math"/>
                          <a:cs typeface="Cambria Math"/>
                        </a:rPr>
                        <m:t>𝑅</m:t>
                      </m:r>
                      <m:r>
                        <a:rPr lang="en-US" sz="2000">
                          <a:latin typeface="Cambria Math"/>
                          <a:ea typeface="Cambria Math"/>
                          <a:cs typeface="Cambria Math"/>
                        </a:rPr>
                        <m:t>=</m:t>
                      </m:r>
                      <m:r>
                        <a:rPr lang="en-US" sz="2000" i="1">
                          <a:latin typeface="Cambria Math"/>
                          <a:ea typeface="Cambria Math"/>
                          <a:cs typeface="Cambria Math"/>
                        </a:rPr>
                        <m:t>𝛼</m:t>
                      </m:r>
                      <m:sSub>
                        <m:sSubPr>
                          <m:ctrlPr>
                            <a:rPr lang="ar-AE" sz="2000" i="1">
                              <a:latin typeface="Cambria Math"/>
                              <a:ea typeface="Cambria Math"/>
                              <a:cs typeface="Cambria Math"/>
                            </a:rPr>
                          </m:ctrlPr>
                        </m:sSubPr>
                        <m:e>
                          <m:r>
                            <a:rPr lang="ar-AE" sz="2000" i="1">
                              <a:latin typeface="Cambria Math"/>
                              <a:ea typeface="Cambria Math"/>
                              <a:cs typeface="Cambria Math"/>
                            </a:rPr>
                            <m:t>𝑃</m:t>
                          </m:r>
                        </m:e>
                        <m:sub>
                          <m:r>
                            <a:rPr lang="ar-AE" sz="2000">
                              <a:latin typeface="Cambria Math"/>
                              <a:ea typeface="Cambria Math"/>
                              <a:cs typeface="Cambria Math"/>
                            </a:rPr>
                            <m:t>1</m:t>
                          </m:r>
                        </m:sub>
                      </m:sSub>
                      <m:r>
                        <a:rPr lang="ar-AE" sz="2000">
                          <a:latin typeface="Cambria Math"/>
                          <a:ea typeface="Cambria Math"/>
                          <a:cs typeface="Cambria Math"/>
                        </a:rPr>
                        <m:t>+</m:t>
                      </m:r>
                      <m:r>
                        <a:rPr lang="ar-AE" sz="2000" i="1">
                          <a:latin typeface="Cambria Math"/>
                          <a:ea typeface="Cambria Math"/>
                          <a:cs typeface="Cambria Math"/>
                        </a:rPr>
                        <m:t>𝛽</m:t>
                      </m:r>
                      <m:sSub>
                        <m:sSubPr>
                          <m:ctrlPr>
                            <a:rPr lang="ar-AE" sz="2000" i="1">
                              <a:latin typeface="Cambria Math"/>
                              <a:ea typeface="Cambria Math"/>
                              <a:cs typeface="Cambria Math"/>
                            </a:rPr>
                          </m:ctrlPr>
                        </m:sSubPr>
                        <m:e>
                          <m:r>
                            <a:rPr lang="ar-AE" sz="2000" i="1">
                              <a:latin typeface="Cambria Math"/>
                              <a:ea typeface="Cambria Math"/>
                              <a:cs typeface="Cambria Math"/>
                            </a:rPr>
                            <m:t>𝑃</m:t>
                          </m:r>
                        </m:e>
                        <m:sub>
                          <m:r>
                            <a:rPr lang="ar-AE" sz="2000">
                              <a:latin typeface="Cambria Math"/>
                              <a:ea typeface="Cambria Math"/>
                              <a:cs typeface="Cambria Math"/>
                            </a:rPr>
                            <m:t>2</m:t>
                          </m:r>
                        </m:sub>
                      </m:sSub>
                      <m:r>
                        <a:rPr lang="ar-AE" sz="2000">
                          <a:latin typeface="Cambria Math"/>
                          <a:ea typeface="Cambria Math"/>
                          <a:cs typeface="Cambria Math"/>
                        </a:rPr>
                        <m:t>+</m:t>
                      </m:r>
                      <m:r>
                        <a:rPr lang="ar-AE" sz="2000" i="1">
                          <a:latin typeface="Cambria Math"/>
                          <a:ea typeface="Cambria Math"/>
                          <a:cs typeface="Cambria Math"/>
                        </a:rPr>
                        <m:t>𝛾</m:t>
                      </m:r>
                      <m:r>
                        <a:rPr lang="ar-AE" sz="2000" i="1">
                          <a:latin typeface="Cambria Math"/>
                          <a:ea typeface="Cambria Math"/>
                          <a:cs typeface="Cambria Math"/>
                        </a:rPr>
                        <m:t>𝑆</m:t>
                      </m:r>
                      <m:r>
                        <a:rPr lang="ar-AE" sz="2000">
                          <a:latin typeface="Cambria Math"/>
                          <a:ea typeface="Cambria Math"/>
                          <a:cs typeface="Cambria Math"/>
                        </a:rPr>
                        <m:t>+</m:t>
                      </m:r>
                      <m:r>
                        <a:rPr lang="ar-AE" sz="2000" i="1">
                          <a:latin typeface="Cambria Math"/>
                          <a:ea typeface="Cambria Math"/>
                          <a:cs typeface="Cambria Math"/>
                        </a:rPr>
                        <m:t>𝛿</m:t>
                      </m:r>
                      <m:r>
                        <a:rPr lang="ar-AE" sz="2000" i="1">
                          <a:latin typeface="Cambria Math"/>
                          <a:ea typeface="Cambria Math"/>
                          <a:cs typeface="Cambria Math"/>
                        </a:rPr>
                        <m:t>𝑅</m:t>
                      </m:r>
                      <m:r>
                        <a:rPr lang="ar-AE" sz="2000">
                          <a:latin typeface="Cambria Math"/>
                          <a:ea typeface="Cambria Math"/>
                          <a:cs typeface="Cambria Math"/>
                        </a:rPr>
                        <m:t>+</m:t>
                      </m:r>
                      <m:r>
                        <a:rPr lang="ar-AE" sz="2000" i="1">
                          <a:latin typeface="Cambria Math"/>
                          <a:ea typeface="Cambria Math"/>
                          <a:cs typeface="Cambria Math"/>
                        </a:rPr>
                        <m:t>𝜖</m:t>
                      </m:r>
                      <m:r>
                        <a:rPr lang="el-GR" sz="2000">
                          <a:latin typeface="Cambria Math"/>
                          <a:ea typeface="Cambria Math"/>
                          <a:cs typeface="Cambria Math"/>
                        </a:rPr>
                        <m:t>𝛷</m:t>
                      </m:r>
                      <m:r>
                        <a:rPr lang="el-GR" sz="2000">
                          <a:latin typeface="Cambria Math"/>
                          <a:ea typeface="Cambria Math"/>
                          <a:cs typeface="Cambria Math"/>
                        </a:rPr>
                        <m:t>+</m:t>
                      </m:r>
                      <m:r>
                        <a:rPr lang="el-GR" sz="2000" i="1">
                          <a:latin typeface="Cambria Math"/>
                          <a:ea typeface="Cambria Math"/>
                          <a:cs typeface="Cambria Math"/>
                        </a:rPr>
                        <m:t>𝜁</m:t>
                      </m:r>
                      <m:r>
                        <a:rPr lang="el-GR" sz="2000" i="1">
                          <a:latin typeface="Cambria Math"/>
                          <a:ea typeface="Cambria Math"/>
                          <a:cs typeface="Cambria Math"/>
                        </a:rPr>
                        <m:t>𝐴</m:t>
                      </m:r>
                    </m:oMath>
                  </m:oMathPara>
                </a14:m>
                <a:endParaRPr sz="2000">
                  <a:latin typeface="Times New Roman"/>
                  <a:ea typeface="Times New Roman"/>
                  <a:cs typeface="Times New Roman"/>
                </a:endParaRPr>
              </a:p>
              <a:p>
                <a:pPr>
                  <a:spcAft>
                    <a:spcPts val="600"/>
                  </a:spcAft>
                  <a:buNone/>
                </a:pPr>
                <a:r>
                  <a:rPr sz="2000">
                    <a:latin typeface="Times New Roman"/>
                    <a:ea typeface="Times New Roman"/>
                    <a:cs typeface="Times New Roman"/>
                  </a:rPr>
                  <a:t>Where:</a:t>
                </a:r>
              </a:p>
              <a:p>
                <a:pPr>
                  <a:spcAft>
                    <a:spcPts val="600"/>
                  </a:spcAft>
                  <a:buNone/>
                </a:pPr>
                <a:r>
                  <a:rPr sz="2000">
                    <a:latin typeface="Times New Roman"/>
                    <a:ea typeface="Times New Roman"/>
                    <a:cs typeface="Times New Roman"/>
                  </a:rPr>
                  <a:t>α, β, γ, δ, ε, ζ are tuned weighting parameters</a:t>
                </a:r>
              </a:p>
              <a:p>
                <a:pPr>
                  <a:spcAft>
                    <a:spcPts val="600"/>
                  </a:spcAft>
                  <a:buNone/>
                </a:pPr>
                <a:r>
                  <a:rPr sz="2000">
                    <a:latin typeface="Times New Roman"/>
                    <a:ea typeface="Times New Roman"/>
                    <a:cs typeface="Times New Roman"/>
                  </a:rPr>
                  <a:t>Final Risk Score ∈ [0,100]</a:t>
                </a:r>
              </a:p>
            </p:txBody>
          </p:sp>
        </mc:Choice>
        <mc:Fallback>
          <p:sp>
            <p:nvSpPr>
              <p:cNvPr id="21" name="TextBox 20">
                <a:extLst>
                  <a:ext uri="{FF2B5EF4-FFF2-40B4-BE49-F238E27FC236}">
                    <a16:creationId xmlns:a16="http://schemas.microsoft.com/office/drawing/2014/main" id="{B38A5DE7-3B6E-A9D4-3B81-FD92082899A9}"/>
                  </a:ext>
                </a:extLst>
              </p:cNvPr>
              <p:cNvSpPr>
                <a:spLocks noGrp="1" noRot="1" noChangeAspect="1" noMove="1" noResize="1" noEditPoints="1" noAdjustHandles="1" noChangeArrowheads="1" noChangeShapeType="1" noTextEdit="1"/>
              </p:cNvSpPr>
              <p:nvPr/>
            </p:nvSpPr>
            <p:spPr>
              <a:xfrm>
                <a:off x="304800" y="4446772"/>
                <a:ext cx="6324600" cy="1938992"/>
              </a:xfrm>
              <a:prstGeom prst="rect">
                <a:avLst/>
              </a:prstGeom>
              <a:blipFill>
                <a:blip r:embed="rId3"/>
                <a:stretch>
                  <a:fillRect l="-963" t="-1881" b="-4389"/>
                </a:stretch>
              </a:blipFill>
            </p:spPr>
            <p:txBody>
              <a:bodyPr/>
              <a:lstStyle/>
              <a:p>
                <a:r>
                  <a:rPr lang="en-US">
                    <a:noFill/>
                  </a:rPr>
                  <a:t> </a:t>
                </a:r>
              </a:p>
            </p:txBody>
          </p:sp>
        </mc:Fallback>
      </mc:AlternateContent>
      <p:sp>
        <p:nvSpPr>
          <p:cNvPr id="22" name="TextBox 21">
            <a:extLst>
              <a:ext uri="{FF2B5EF4-FFF2-40B4-BE49-F238E27FC236}">
                <a16:creationId xmlns:a16="http://schemas.microsoft.com/office/drawing/2014/main" id="{93F9DC83-3805-5DD4-3085-B20367DDECBD}"/>
              </a:ext>
            </a:extLst>
          </p:cNvPr>
          <p:cNvSpPr>
            <a:spLocks noGrp="1"/>
          </p:cNvSpPr>
          <p:nvPr/>
        </p:nvSpPr>
        <p:spPr>
          <a:xfrm>
            <a:off x="7410809" y="4266266"/>
            <a:ext cx="4495800" cy="2345322"/>
          </a:xfrm>
          <a:prstGeom prst="rect">
            <a:avLst/>
          </a:prstGeom>
          <a:noFill/>
        </p:spPr>
        <p:txBody>
          <a:bodyPr wrap="square">
            <a:spAutoFit/>
          </a:bodyPr>
          <a:lstStyle/>
          <a:p>
            <a:pPr>
              <a:lnSpc>
                <a:spcPct val="150000"/>
              </a:lnSpc>
              <a:buNone/>
            </a:pPr>
            <a:r>
              <a:rPr sz="2000" b="1">
                <a:latin typeface="Times New Roman"/>
                <a:ea typeface="Times New Roman"/>
                <a:cs typeface="Times New Roman"/>
              </a:rPr>
              <a:t>Decision Engine:</a:t>
            </a:r>
          </a:p>
          <a:p>
            <a:pPr>
              <a:lnSpc>
                <a:spcPct val="150000"/>
              </a:lnSpc>
              <a:buNone/>
            </a:pPr>
            <a:r>
              <a:rPr sz="2000">
                <a:latin typeface="Times New Roman"/>
                <a:ea typeface="Times New Roman"/>
                <a:cs typeface="Times New Roman"/>
              </a:rPr>
              <a:t>Allow if Risk ≤ 30</a:t>
            </a:r>
            <a:br/>
            <a:r>
              <a:rPr sz="2000">
                <a:latin typeface="Times New Roman"/>
                <a:ea typeface="Times New Roman"/>
                <a:cs typeface="Times New Roman"/>
              </a:rPr>
              <a:t>Flag if 30 &lt; Risk ≤ 70</a:t>
            </a:r>
            <a:br/>
            <a:r>
              <a:rPr sz="2000">
                <a:latin typeface="Times New Roman"/>
                <a:ea typeface="Times New Roman"/>
                <a:cs typeface="Times New Roman"/>
              </a:rPr>
              <a:t>Block if Risk &gt; 70</a:t>
            </a:r>
          </a:p>
          <a:p>
            <a:pPr>
              <a:lnSpc>
                <a:spcPct val="150000"/>
              </a:lnSpc>
              <a:buNone/>
            </a:pPr>
            <a:endParaRPr sz="2000">
              <a:latin typeface="Times New Roman"/>
              <a:ea typeface="Times New Roman"/>
              <a:cs typeface="Times New Roman"/>
            </a:endParaRPr>
          </a:p>
        </p:txBody>
      </p:sp>
      <p:sp>
        <p:nvSpPr>
          <p:cNvPr id="28" name="object 9">
            <a:extLst>
              <a:ext uri="{FF2B5EF4-FFF2-40B4-BE49-F238E27FC236}">
                <a16:creationId xmlns:a16="http://schemas.microsoft.com/office/drawing/2014/main" id="{5FF9583B-6261-773F-D238-FC1932214959}"/>
              </a:ext>
            </a:extLst>
          </p:cNvPr>
          <p:cNvSpPr>
            <a:spLocks noGrp="1"/>
          </p:cNvSpPr>
          <p:nvPr>
            <p:ph type="sldNum" idx="7"/>
          </p:nvPr>
        </p:nvSpPr>
        <p:spPr>
          <a:xfrm>
            <a:off x="11719249" y="6412412"/>
            <a:ext cx="244475" cy="219075"/>
          </a:xfrm>
          <a:prstGeom prst="rect">
            <a:avLst/>
          </a:prstGeom>
        </p:spPr>
        <p:txBody>
          <a:bodyPr vert="horz" wrap="square" lIns="0" tIns="0" rIns="0" bIns="0">
            <a:spAutoFit/>
          </a:bodyPr>
          <a:lstStyle/>
          <a:p>
            <a:pPr marL="12700">
              <a:lnSpc>
                <a:spcPts val="1600"/>
              </a:lnSpc>
              <a:buNone/>
            </a:pPr>
            <a:fld id="{81D60167-4931-47E6-BA6A-407CBD079E47}" type="slidenum">
              <a:rPr spc="-25"/>
              <a:t>18</a:t>
            </a:fld>
            <a:endParaRPr spc="-25"/>
          </a:p>
        </p:txBody>
      </p:sp>
      <p:sp>
        <p:nvSpPr>
          <p:cNvPr id="29" name="object 4">
            <a:extLst>
              <a:ext uri="{FF2B5EF4-FFF2-40B4-BE49-F238E27FC236}">
                <a16:creationId xmlns:a16="http://schemas.microsoft.com/office/drawing/2014/main" id="{5894F5CE-11B2-E37A-27E8-443ACCDE8A7A}"/>
              </a:ext>
            </a:extLst>
          </p:cNvPr>
          <p:cNvSpPr>
            <a:spLocks noGrp="1"/>
          </p:cNvSpPr>
          <p:nvPr>
            <p:ph type="ftr" idx="5"/>
          </p:nvPr>
        </p:nvSpPr>
        <p:spPr>
          <a:xfrm>
            <a:off x="5634954" y="6400983"/>
            <a:ext cx="1445259" cy="230504"/>
          </a:xfrm>
          <a:prstGeom prst="rect">
            <a:avLst/>
          </a:prstGeom>
        </p:spPr>
        <p:txBody>
          <a:bodyPr vert="horz" wrap="square" lIns="0" tIns="0" rIns="0" bIns="0">
            <a:spAutoFit/>
          </a:bodyPr>
          <a:lstStyle/>
          <a:p>
            <a:pPr marL="12700">
              <a:lnSpc>
                <a:spcPts val="1689"/>
              </a:lnSpc>
              <a:buNone/>
            </a:pPr>
            <a:r>
              <a:rPr spc="-10"/>
              <a:t>Dept of AIML</a:t>
            </a:r>
            <a:endParaRPr spc="-85"/>
          </a:p>
        </p:txBody>
      </p:sp>
      <p:sp>
        <p:nvSpPr>
          <p:cNvPr id="2" name="TextBox 1">
            <a:extLst>
              <a:ext uri="{FF2B5EF4-FFF2-40B4-BE49-F238E27FC236}">
                <a16:creationId xmlns:a16="http://schemas.microsoft.com/office/drawing/2014/main" id="{102F2810-03B3-794B-2C32-27A40FE770AF}"/>
              </a:ext>
            </a:extLst>
          </p:cNvPr>
          <p:cNvSpPr>
            <a:spLocks noGrp="1"/>
          </p:cNvSpPr>
          <p:nvPr/>
        </p:nvSpPr>
        <p:spPr>
          <a:xfrm>
            <a:off x="256636" y="1066800"/>
            <a:ext cx="8229600" cy="3400931"/>
          </a:xfrm>
          <a:prstGeom prst="rect">
            <a:avLst/>
          </a:prstGeom>
          <a:noFill/>
        </p:spPr>
        <p:txBody>
          <a:bodyPr wrap="square">
            <a:spAutoFit/>
          </a:bodyPr>
          <a:lstStyle/>
          <a:p>
            <a:r>
              <a:rPr sz="2000" b="1">
                <a:latin typeface="Times New Roman"/>
                <a:ea typeface="Times New Roman"/>
                <a:cs typeface="Times New Roman"/>
              </a:rPr>
              <a:t>• Multi-Layer Security Scoring</a:t>
            </a:r>
          </a:p>
          <a:p>
            <a:pPr>
              <a:spcAft>
                <a:spcPts val="600"/>
              </a:spcAft>
              <a:buNone/>
            </a:pPr>
            <a:r>
              <a:rPr sz="2000">
                <a:latin typeface="Times New Roman"/>
                <a:ea typeface="Times New Roman"/>
                <a:cs typeface="Times New Roman"/>
              </a:rPr>
              <a:t>Each prompt is evaluated through independent modules of the Security Engine:</a:t>
            </a:r>
          </a:p>
          <a:p>
            <a:pPr>
              <a:spcBef>
                <a:spcPts val="600"/>
              </a:spcBef>
              <a:buNone/>
            </a:pPr>
            <a:r>
              <a:rPr sz="2000" b="1">
                <a:latin typeface="Times New Roman"/>
                <a:ea typeface="Times New Roman"/>
                <a:cs typeface="Times New Roman"/>
              </a:rPr>
              <a:t>P₁</a:t>
            </a:r>
            <a:r>
              <a:rPr sz="2000">
                <a:latin typeface="Times New Roman"/>
                <a:ea typeface="Times New Roman"/>
                <a:cs typeface="Times New Roman"/>
              </a:rPr>
              <a:t> – Injection Classification Probability</a:t>
            </a:r>
          </a:p>
          <a:p>
            <a:pPr>
              <a:spcBef>
                <a:spcPts val="600"/>
              </a:spcBef>
              <a:buNone/>
            </a:pPr>
            <a:r>
              <a:rPr sz="2000" b="1">
                <a:latin typeface="Times New Roman"/>
                <a:ea typeface="Times New Roman"/>
                <a:cs typeface="Times New Roman"/>
              </a:rPr>
              <a:t>P₂</a:t>
            </a:r>
            <a:r>
              <a:rPr sz="2000">
                <a:latin typeface="Times New Roman"/>
                <a:ea typeface="Times New Roman"/>
                <a:cs typeface="Times New Roman"/>
              </a:rPr>
              <a:t> – Jailbreak Classification Probability</a:t>
            </a:r>
          </a:p>
          <a:p>
            <a:pPr>
              <a:spcBef>
                <a:spcPts val="600"/>
              </a:spcBef>
              <a:buNone/>
            </a:pPr>
            <a:r>
              <a:rPr sz="2000" b="1">
                <a:latin typeface="Times New Roman"/>
                <a:ea typeface="Times New Roman"/>
                <a:cs typeface="Times New Roman"/>
              </a:rPr>
              <a:t>S</a:t>
            </a:r>
            <a:r>
              <a:rPr sz="2000">
                <a:latin typeface="Times New Roman"/>
                <a:ea typeface="Times New Roman"/>
                <a:cs typeface="Times New Roman"/>
              </a:rPr>
              <a:t> – Semantic Similarity Score</a:t>
            </a:r>
          </a:p>
          <a:p>
            <a:pPr>
              <a:spcBef>
                <a:spcPts val="600"/>
              </a:spcBef>
              <a:buNone/>
            </a:pPr>
            <a:r>
              <a:rPr sz="2000" b="1">
                <a:latin typeface="Times New Roman"/>
                <a:ea typeface="Times New Roman"/>
                <a:cs typeface="Times New Roman"/>
              </a:rPr>
              <a:t>R</a:t>
            </a:r>
            <a:r>
              <a:rPr sz="2000">
                <a:latin typeface="Times New Roman"/>
                <a:ea typeface="Times New Roman"/>
                <a:cs typeface="Times New Roman"/>
              </a:rPr>
              <a:t> – Healthcare Rule Violation Score</a:t>
            </a:r>
          </a:p>
          <a:p>
            <a:pPr>
              <a:spcBef>
                <a:spcPts val="600"/>
              </a:spcBef>
              <a:buNone/>
            </a:pPr>
            <a:r>
              <a:rPr sz="2000" b="1">
                <a:latin typeface="Times New Roman"/>
                <a:ea typeface="Times New Roman"/>
                <a:cs typeface="Times New Roman"/>
              </a:rPr>
              <a:t>Φ</a:t>
            </a:r>
            <a:r>
              <a:rPr sz="2000">
                <a:latin typeface="Times New Roman"/>
                <a:ea typeface="Times New Roman"/>
                <a:cs typeface="Times New Roman"/>
              </a:rPr>
              <a:t> – PHI Detection Risk Score</a:t>
            </a:r>
          </a:p>
          <a:p>
            <a:pPr>
              <a:spcBef>
                <a:spcPts val="600"/>
              </a:spcBef>
              <a:buNone/>
            </a:pPr>
            <a:r>
              <a:rPr sz="2000" b="1">
                <a:latin typeface="Times New Roman"/>
                <a:ea typeface="Times New Roman"/>
                <a:cs typeface="Times New Roman"/>
              </a:rPr>
              <a:t>A</a:t>
            </a:r>
            <a:r>
              <a:rPr sz="2000">
                <a:latin typeface="Times New Roman"/>
                <a:ea typeface="Times New Roman"/>
                <a:cs typeface="Times New Roman"/>
              </a:rPr>
              <a:t> – Behavioral Anomaly Score</a:t>
            </a:r>
          </a:p>
        </p:txBody>
      </p:sp>
      <p:sp>
        <p:nvSpPr>
          <p:cNvPr id="3" name="object 10">
            <a:extLst>
              <a:ext uri="{FF2B5EF4-FFF2-40B4-BE49-F238E27FC236}">
                <a16:creationId xmlns:a16="http://schemas.microsoft.com/office/drawing/2014/main" id="{703BD548-A27B-2E58-E222-2EAA2743CF16}"/>
              </a:ext>
            </a:extLst>
          </p:cNvPr>
          <p:cNvSpPr>
            <a:spLocks noGrp="1"/>
          </p:cNvSpPr>
          <p:nvPr>
            <p:ph type="dt" idx="6"/>
          </p:nvPr>
        </p:nvSpPr>
        <p:spPr>
          <a:xfrm>
            <a:off x="457200" y="6426303"/>
            <a:ext cx="869314" cy="205184"/>
          </a:xfrm>
          <a:prstGeom prst="rect">
            <a:avLst/>
          </a:prstGeom>
        </p:spPr>
        <p:txBody>
          <a:bodyPr vert="horz" wrap="square" lIns="0" tIns="0" rIns="0" bIns="0">
            <a:spAutoFit/>
          </a:bodyPr>
          <a:lstStyle/>
          <a:p>
            <a:pPr marL="12700">
              <a:lnSpc>
                <a:spcPts val="1635"/>
              </a:lnSpc>
              <a:buNone/>
            </a:pPr>
            <a:r>
              <a:t>22-08-2026</a:t>
            </a:r>
            <a:endParaRPr spc="-20"/>
          </a:p>
        </p:txBody>
      </p:sp>
    </p:spTree>
    <p:extLst>
      <p:ext uri="{BB962C8B-B14F-4D97-AF65-F5344CB8AC3E}">
        <p14:creationId xmlns:p14="http://schemas.microsoft.com/office/powerpoint/2010/main" val="37396140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a:extLst>
              <a:ext uri="{FF2B5EF4-FFF2-40B4-BE49-F238E27FC236}">
                <a16:creationId xmlns:a16="http://schemas.microsoft.com/office/drawing/2014/main" id="{36545B70-10C2-4998-BF8F-6EFC693F3A05}"/>
              </a:ext>
            </a:extLst>
          </p:cNvPr>
          <p:cNvSpPr>
            <a:spLocks noGrp="1"/>
          </p:cNvSpPr>
          <p:nvPr>
            <p:ph type="ftr" idx="5"/>
          </p:nvPr>
        </p:nvSpPr>
        <p:spPr>
          <a:prstGeom prst="rect">
            <a:avLst/>
          </a:prstGeom>
        </p:spPr>
        <p:txBody>
          <a:bodyPr vert="horz" wrap="square" lIns="0" tIns="0" rIns="0" bIns="0">
            <a:spAutoFit/>
          </a:bodyPr>
          <a:lstStyle/>
          <a:p>
            <a:pPr marL="12700">
              <a:lnSpc>
                <a:spcPts val="1689"/>
              </a:lnSpc>
              <a:buNone/>
            </a:pPr>
            <a:r>
              <a:rPr spc="-10"/>
              <a:t>Dept of AIML</a:t>
            </a:r>
            <a:endParaRPr spc="-85"/>
          </a:p>
        </p:txBody>
      </p:sp>
      <p:sp>
        <p:nvSpPr>
          <p:cNvPr id="6" name="object 6">
            <a:extLst>
              <a:ext uri="{FF2B5EF4-FFF2-40B4-BE49-F238E27FC236}">
                <a16:creationId xmlns:a16="http://schemas.microsoft.com/office/drawing/2014/main" id="{01845E4A-C080-469E-AFCC-F37449599784}"/>
              </a:ext>
            </a:extLst>
          </p:cNvPr>
          <p:cNvSpPr>
            <a:spLocks noGrp="1"/>
          </p:cNvSpPr>
          <p:nvPr>
            <p:ph type="sldNum" idx="7"/>
          </p:nvPr>
        </p:nvSpPr>
        <p:spPr>
          <a:prstGeom prst="rect">
            <a:avLst/>
          </a:prstGeom>
        </p:spPr>
        <p:txBody>
          <a:bodyPr vert="horz" wrap="square" lIns="0" tIns="0" rIns="0" bIns="0">
            <a:spAutoFit/>
          </a:bodyPr>
          <a:lstStyle/>
          <a:p>
            <a:pPr marL="12700">
              <a:lnSpc>
                <a:spcPts val="1600"/>
              </a:lnSpc>
              <a:buNone/>
            </a:pPr>
            <a:fld id="{81D60167-4931-47E6-BA6A-407CBD079E47}" type="slidenum">
              <a:rPr spc="-25"/>
              <a:t>19</a:t>
            </a:fld>
            <a:endParaRPr spc="-25"/>
          </a:p>
        </p:txBody>
      </p:sp>
      <p:sp>
        <p:nvSpPr>
          <p:cNvPr id="2" name="object 2">
            <a:extLst>
              <a:ext uri="{FF2B5EF4-FFF2-40B4-BE49-F238E27FC236}">
                <a16:creationId xmlns:a16="http://schemas.microsoft.com/office/drawing/2014/main" id="{D6D8817C-070C-4CBA-91FF-EF44F9CA03EF}"/>
              </a:ext>
            </a:extLst>
          </p:cNvPr>
          <p:cNvSpPr>
            <a:spLocks noGrp="1"/>
          </p:cNvSpPr>
          <p:nvPr>
            <p:ph type="title"/>
          </p:nvPr>
        </p:nvSpPr>
        <p:spPr>
          <a:xfrm>
            <a:off x="1676400" y="763234"/>
            <a:ext cx="8610600" cy="938076"/>
          </a:xfrm>
          <a:prstGeom prst="rect">
            <a:avLst/>
          </a:prstGeom>
        </p:spPr>
        <p:txBody>
          <a:bodyPr vert="horz" wrap="square" lIns="0" tIns="14604" rIns="0" bIns="0">
            <a:spAutoFit/>
          </a:bodyPr>
          <a:lstStyle/>
          <a:p>
            <a:pPr marL="12700" algn="ctr">
              <a:lnSpc>
                <a:spcPct val="100000"/>
              </a:lnSpc>
              <a:spcBef>
                <a:spcPts val="114"/>
              </a:spcBef>
              <a:buNone/>
              <a:tabLst>
                <a:tab pos="3241675" algn="l"/>
              </a:tabLst>
            </a:pPr>
            <a:r>
              <a:rPr sz="3000" b="1" spc="95"/>
              <a:t>DATASET &amp; VALIDATION DESIGN</a:t>
            </a:r>
            <a:endParaRPr sz="3000" b="1"/>
          </a:p>
        </p:txBody>
      </p:sp>
      <p:sp>
        <p:nvSpPr>
          <p:cNvPr id="3" name="object 3">
            <a:extLst>
              <a:ext uri="{FF2B5EF4-FFF2-40B4-BE49-F238E27FC236}">
                <a16:creationId xmlns:a16="http://schemas.microsoft.com/office/drawing/2014/main" id="{1EC3850A-8F46-4BFD-BBCB-CE2DC7DD68E2}"/>
              </a:ext>
            </a:extLst>
          </p:cNvPr>
          <p:cNvSpPr>
            <a:spLocks noGrp="1"/>
          </p:cNvSpPr>
          <p:nvPr/>
        </p:nvSpPr>
        <p:spPr>
          <a:xfrm>
            <a:off x="688644" y="1586441"/>
            <a:ext cx="11014633" cy="4130426"/>
          </a:xfrm>
          <a:prstGeom prst="rect">
            <a:avLst/>
          </a:prstGeom>
        </p:spPr>
        <p:txBody>
          <a:bodyPr vert="horz" wrap="square" lIns="0" tIns="213360" rIns="0" bIns="0">
            <a:spAutoFit/>
          </a:bodyPr>
          <a:lstStyle/>
          <a:p>
            <a:pPr algn="just">
              <a:lnSpc>
                <a:spcPct val="150000"/>
              </a:lnSpc>
              <a:buNone/>
            </a:pPr>
            <a:r>
              <a:rPr sz="2600" b="1" dirty="0">
                <a:solidFill>
                  <a:schemeClr val="tx1"/>
                </a:solidFill>
                <a:latin typeface="Times New Roman" panose="02020603050405020304" pitchFamily="18" charset="0"/>
                <a:cs typeface="Times New Roman" panose="02020603050405020304" pitchFamily="18" charset="0"/>
              </a:rPr>
              <a:t>Security prompt corpus: 5 labels — safe, malicious, jailbreak, PHI and suspicious.</a:t>
            </a:r>
            <a:endParaRPr sz="2000" dirty="0">
              <a:solidFill>
                <a:schemeClr val="tx1"/>
              </a:solidFill>
              <a:latin typeface="Times New Roman" panose="02020603050405020304" pitchFamily="18" charset="0"/>
              <a:cs typeface="Times New Roman" panose="02020603050405020304" pitchFamily="18" charset="0"/>
            </a:endParaRPr>
          </a:p>
          <a:p>
            <a:pPr marL="457200" indent="-457200">
              <a:lnSpc>
                <a:spcPct val="150000"/>
              </a:lnSpc>
              <a:buFont typeface="Arial"/>
              <a:buChar char="•"/>
            </a:pPr>
            <a:r>
              <a:rPr sz="2000" dirty="0">
                <a:solidFill>
                  <a:schemeClr val="tx1"/>
                </a:solidFill>
                <a:latin typeface="Times New Roman" panose="02020603050405020304" pitchFamily="18" charset="0"/>
                <a:cs typeface="Times New Roman" panose="02020603050405020304" pitchFamily="18" charset="0"/>
              </a:rPr>
              <a:t>Split used for data preparation: 11,463 training / 2,369 validation / 2,370 test prompts.</a:t>
            </a:r>
          </a:p>
          <a:p>
            <a:pPr marL="457200" indent="-457200">
              <a:lnSpc>
                <a:spcPct val="150000"/>
              </a:lnSpc>
              <a:buFont typeface="Arial"/>
              <a:buChar char="•"/>
            </a:pPr>
            <a:r>
              <a:rPr sz="2000" dirty="0">
                <a:solidFill>
                  <a:schemeClr val="tx1"/>
                </a:solidFill>
                <a:latin typeface="Times New Roman" panose="02020603050405020304" pitchFamily="18" charset="0"/>
                <a:cs typeface="Times New Roman" panose="02020603050405020304" pitchFamily="18" charset="0"/>
              </a:rPr>
              <a:t>Sources: MPIB, MedQuAD, </a:t>
            </a:r>
            <a:r>
              <a:rPr sz="2000" dirty="0" err="1">
                <a:solidFill>
                  <a:schemeClr val="tx1"/>
                </a:solidFill>
                <a:latin typeface="Times New Roman" panose="02020603050405020304" pitchFamily="18" charset="0"/>
                <a:cs typeface="Times New Roman" panose="02020603050405020304" pitchFamily="18" charset="0"/>
              </a:rPr>
              <a:t>PubMedQA</a:t>
            </a:r>
            <a:r>
              <a:rPr sz="2000" dirty="0">
                <a:solidFill>
                  <a:schemeClr val="tx1"/>
                </a:solidFill>
                <a:latin typeface="Times New Roman" panose="02020603050405020304" pitchFamily="18" charset="0"/>
                <a:cs typeface="Times New Roman" panose="02020603050405020304" pitchFamily="18" charset="0"/>
              </a:rPr>
              <a:t> and controlled synthetic prompts for PHI, jailbreak and general healthcare cases.</a:t>
            </a:r>
          </a:p>
          <a:p>
            <a:pPr marL="457200" indent="-457200">
              <a:lnSpc>
                <a:spcPct val="150000"/>
              </a:lnSpc>
              <a:buFont typeface="Arial"/>
              <a:buChar char="•"/>
            </a:pPr>
            <a:r>
              <a:rPr sz="2000" dirty="0">
                <a:solidFill>
                  <a:schemeClr val="tx1"/>
                </a:solidFill>
                <a:latin typeface="Times New Roman" panose="02020603050405020304" pitchFamily="18" charset="0"/>
                <a:cs typeface="Times New Roman" panose="02020603050405020304" pitchFamily="18" charset="0"/>
              </a:rPr>
              <a:t>Quality checks: no missing core fields after validation; attack severity and source distribution were profiled.</a:t>
            </a:r>
          </a:p>
          <a:p>
            <a:pPr marL="457200" indent="-457200">
              <a:lnSpc>
                <a:spcPct val="150000"/>
              </a:lnSpc>
              <a:buFont typeface="Arial"/>
              <a:buChar char="•"/>
            </a:pPr>
            <a:r>
              <a:rPr sz="2000" dirty="0">
                <a:solidFill>
                  <a:schemeClr val="tx1"/>
                </a:solidFill>
                <a:latin typeface="Times New Roman" panose="02020603050405020304" pitchFamily="18" charset="0"/>
                <a:cs typeface="Times New Roman" panose="02020603050405020304" pitchFamily="18" charset="0"/>
              </a:rPr>
              <a:t>Retrieval knowledge base: 15,979 healthcare documents and FAISS vectors</a:t>
            </a:r>
            <a:r>
              <a:rPr sz="2000" b="1" dirty="0">
                <a:solidFill>
                  <a:schemeClr val="tx1"/>
                </a:solidFill>
                <a:latin typeface="Times New Roman" panose="02020603050405020304" pitchFamily="18" charset="0"/>
                <a:cs typeface="Times New Roman" panose="02020603050405020304" pitchFamily="18" charset="0"/>
              </a:rPr>
              <a:t>.</a:t>
            </a:r>
          </a:p>
        </p:txBody>
      </p:sp>
      <p:sp>
        <p:nvSpPr>
          <p:cNvPr id="7" name="object 10">
            <a:extLst>
              <a:ext uri="{FF2B5EF4-FFF2-40B4-BE49-F238E27FC236}">
                <a16:creationId xmlns:a16="http://schemas.microsoft.com/office/drawing/2014/main" id="{02103620-3B22-737B-CBEF-AAF966307D50}"/>
              </a:ext>
            </a:extLst>
          </p:cNvPr>
          <p:cNvSpPr>
            <a:spLocks noGrp="1"/>
          </p:cNvSpPr>
          <p:nvPr>
            <p:ph type="dt" idx="6"/>
          </p:nvPr>
        </p:nvSpPr>
        <p:spPr>
          <a:xfrm>
            <a:off x="1132803" y="6333334"/>
            <a:ext cx="869314" cy="205184"/>
          </a:xfrm>
          <a:prstGeom prst="rect">
            <a:avLst/>
          </a:prstGeom>
        </p:spPr>
        <p:txBody>
          <a:bodyPr vert="horz" wrap="square" lIns="0" tIns="0" rIns="0" bIns="0">
            <a:spAutoFit/>
          </a:bodyPr>
          <a:lstStyle/>
          <a:p>
            <a:pPr marL="12700">
              <a:lnSpc>
                <a:spcPts val="1635"/>
              </a:lnSpc>
              <a:buNone/>
            </a:pPr>
            <a:r>
              <a:t>22-08-2026</a:t>
            </a:r>
            <a:endParaRPr spc="-20"/>
          </a:p>
        </p:txBody>
      </p:sp>
    </p:spTree>
    <p:extLst>
      <p:ext uri="{BB962C8B-B14F-4D97-AF65-F5344CB8AC3E}">
        <p14:creationId xmlns:p14="http://schemas.microsoft.com/office/powerpoint/2010/main" val="11322207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a:extLst>
              <a:ext uri="{FF2B5EF4-FFF2-40B4-BE49-F238E27FC236}">
                <a16:creationId xmlns:a16="http://schemas.microsoft.com/office/drawing/2014/main" id="{8123B71B-FB21-005A-A2B3-A677FA48FC9D}"/>
              </a:ext>
            </a:extLst>
          </p:cNvPr>
          <p:cNvSpPr>
            <a:spLocks noGrp="1"/>
          </p:cNvSpPr>
          <p:nvPr>
            <p:ph type="ftr" idx="5"/>
          </p:nvPr>
        </p:nvSpPr>
        <p:spPr>
          <a:prstGeom prst="rect">
            <a:avLst/>
          </a:prstGeom>
        </p:spPr>
        <p:txBody>
          <a:bodyPr vert="horz" wrap="square" lIns="0" tIns="0" rIns="0" bIns="0">
            <a:spAutoFit/>
          </a:bodyPr>
          <a:lstStyle/>
          <a:p>
            <a:pPr marL="12700">
              <a:lnSpc>
                <a:spcPts val="1689"/>
              </a:lnSpc>
              <a:buNone/>
            </a:pPr>
            <a:r>
              <a:rPr spc="-10"/>
              <a:t>Dept of AIML</a:t>
            </a:r>
            <a:endParaRPr spc="-85"/>
          </a:p>
        </p:txBody>
      </p:sp>
      <p:sp>
        <p:nvSpPr>
          <p:cNvPr id="6" name="object 6">
            <a:extLst>
              <a:ext uri="{FF2B5EF4-FFF2-40B4-BE49-F238E27FC236}">
                <a16:creationId xmlns:a16="http://schemas.microsoft.com/office/drawing/2014/main" id="{84A89073-BEF1-416D-E841-FCB3665962F3}"/>
              </a:ext>
            </a:extLst>
          </p:cNvPr>
          <p:cNvSpPr>
            <a:spLocks noGrp="1"/>
          </p:cNvSpPr>
          <p:nvPr>
            <p:ph type="sldNum" idx="7"/>
          </p:nvPr>
        </p:nvSpPr>
        <p:spPr>
          <a:prstGeom prst="rect">
            <a:avLst/>
          </a:prstGeom>
        </p:spPr>
        <p:txBody>
          <a:bodyPr vert="horz" wrap="square" lIns="0" tIns="0" rIns="0" bIns="0">
            <a:spAutoFit/>
          </a:bodyPr>
          <a:lstStyle/>
          <a:p>
            <a:pPr marL="12700">
              <a:lnSpc>
                <a:spcPts val="1600"/>
              </a:lnSpc>
              <a:buNone/>
            </a:pPr>
            <a:fld id="{81D60167-4931-47E6-BA6A-407CBD079E47}" type="slidenum">
              <a:rPr spc="-25"/>
              <a:t>20</a:t>
            </a:fld>
            <a:endParaRPr spc="-25"/>
          </a:p>
        </p:txBody>
      </p:sp>
      <p:sp>
        <p:nvSpPr>
          <p:cNvPr id="2" name="object 2">
            <a:extLst>
              <a:ext uri="{FF2B5EF4-FFF2-40B4-BE49-F238E27FC236}">
                <a16:creationId xmlns:a16="http://schemas.microsoft.com/office/drawing/2014/main" id="{F7F68180-5A41-5DED-3CD8-7FFEA9D35399}"/>
              </a:ext>
            </a:extLst>
          </p:cNvPr>
          <p:cNvSpPr>
            <a:spLocks noGrp="1"/>
          </p:cNvSpPr>
          <p:nvPr>
            <p:ph type="title"/>
          </p:nvPr>
        </p:nvSpPr>
        <p:spPr>
          <a:xfrm>
            <a:off x="1676400" y="763234"/>
            <a:ext cx="8610600" cy="938076"/>
          </a:xfrm>
          <a:prstGeom prst="rect">
            <a:avLst/>
          </a:prstGeom>
        </p:spPr>
        <p:txBody>
          <a:bodyPr vert="horz" wrap="square" lIns="0" tIns="14604" rIns="0" bIns="0">
            <a:spAutoFit/>
          </a:bodyPr>
          <a:lstStyle/>
          <a:p>
            <a:pPr marL="12700" algn="ctr">
              <a:lnSpc>
                <a:spcPct val="100000"/>
              </a:lnSpc>
              <a:spcBef>
                <a:spcPts val="114"/>
              </a:spcBef>
              <a:buNone/>
              <a:tabLst>
                <a:tab pos="3241675" algn="l"/>
              </a:tabLst>
            </a:pPr>
            <a:r>
              <a:rPr sz="3000" b="1" spc="95"/>
              <a:t>MODEL DEVELOPMENT &amp; RESULTS</a:t>
            </a:r>
            <a:endParaRPr sz="3000" b="1"/>
          </a:p>
        </p:txBody>
      </p:sp>
      <p:sp>
        <p:nvSpPr>
          <p:cNvPr id="3" name="object 3">
            <a:extLst>
              <a:ext uri="{FF2B5EF4-FFF2-40B4-BE49-F238E27FC236}">
                <a16:creationId xmlns:a16="http://schemas.microsoft.com/office/drawing/2014/main" id="{8456945A-4410-D986-BC5B-15AD1E6C9602}"/>
              </a:ext>
            </a:extLst>
          </p:cNvPr>
          <p:cNvSpPr>
            <a:spLocks noGrp="1"/>
          </p:cNvSpPr>
          <p:nvPr/>
        </p:nvSpPr>
        <p:spPr>
          <a:xfrm>
            <a:off x="688644" y="1586441"/>
            <a:ext cx="11014633" cy="4410310"/>
          </a:xfrm>
          <a:prstGeom prst="rect">
            <a:avLst/>
          </a:prstGeom>
        </p:spPr>
        <p:txBody>
          <a:bodyPr vert="horz" wrap="square" lIns="0" tIns="213360" rIns="0" bIns="0">
            <a:spAutoFit/>
          </a:bodyPr>
          <a:lstStyle/>
          <a:p>
            <a:pPr algn="just">
              <a:lnSpc>
                <a:spcPct val="150000"/>
              </a:lnSpc>
              <a:buNone/>
            </a:pPr>
            <a:r>
              <a:rPr sz="2600" b="1" dirty="0">
                <a:solidFill>
                  <a:schemeClr val="tx1"/>
                </a:solidFill>
              </a:rPr>
              <a:t>Training run: </a:t>
            </a:r>
            <a:r>
              <a:rPr sz="2600" b="1" dirty="0" err="1">
                <a:solidFill>
                  <a:schemeClr val="tx1"/>
                </a:solidFill>
              </a:rPr>
              <a:t>DistilBERT</a:t>
            </a:r>
            <a:r>
              <a:rPr sz="2600" b="1" dirty="0">
                <a:solidFill>
                  <a:schemeClr val="tx1"/>
                </a:solidFill>
              </a:rPr>
              <a:t>-base-uncased, 5 classes, max length 256, 4 epochs, batch size 16 and learning rate 2e-5.</a:t>
            </a:r>
          </a:p>
          <a:p>
            <a:pPr marL="457200" indent="-457200">
              <a:lnSpc>
                <a:spcPct val="150000"/>
              </a:lnSpc>
              <a:buFont typeface="Arial"/>
              <a:buChar char="•"/>
            </a:pPr>
            <a:r>
              <a:rPr sz="2200" dirty="0">
                <a:solidFill>
                  <a:schemeClr val="tx1"/>
                </a:solidFill>
              </a:rPr>
              <a:t>Held-out security test: 2,306 samples; accuracy 93.89%; macro precision 86.40%; macro recall 87.20%; macro F1 86.73%.</a:t>
            </a:r>
          </a:p>
          <a:p>
            <a:pPr marL="457200" indent="-457200">
              <a:lnSpc>
                <a:spcPct val="150000"/>
              </a:lnSpc>
              <a:buFont typeface="Arial"/>
              <a:buChar char="•"/>
            </a:pPr>
            <a:r>
              <a:rPr sz="2200" dirty="0">
                <a:solidFill>
                  <a:schemeClr val="tx1"/>
                </a:solidFill>
              </a:rPr>
              <a:t>Best validation macro F1: 86.21%; best validation accuracy: 93.28%.</a:t>
            </a:r>
          </a:p>
          <a:p>
            <a:pPr marL="457200" indent="-457200">
              <a:lnSpc>
                <a:spcPct val="150000"/>
              </a:lnSpc>
              <a:buFont typeface="Arial"/>
              <a:buChar char="•"/>
            </a:pPr>
            <a:r>
              <a:rPr sz="2200" dirty="0">
                <a:solidFill>
                  <a:schemeClr val="tx1"/>
                </a:solidFill>
              </a:rPr>
              <a:t>FAISS retrieval: Top-1 61%; Top-3 85%; Top-5 93% across 100 evaluation queries.</a:t>
            </a:r>
          </a:p>
          <a:p>
            <a:pPr marL="457200" indent="-457200">
              <a:lnSpc>
                <a:spcPct val="150000"/>
              </a:lnSpc>
              <a:buFont typeface="Arial"/>
              <a:buChar char="•"/>
            </a:pPr>
            <a:r>
              <a:rPr sz="2200" dirty="0">
                <a:solidFill>
                  <a:schemeClr val="tx1"/>
                </a:solidFill>
              </a:rPr>
              <a:t>Review insight: suspicious-class F1 is 49.50%, so it is the priority for data enrichment and threshold tuning.</a:t>
            </a:r>
          </a:p>
        </p:txBody>
      </p:sp>
      <p:sp>
        <p:nvSpPr>
          <p:cNvPr id="7" name="object 10">
            <a:extLst>
              <a:ext uri="{FF2B5EF4-FFF2-40B4-BE49-F238E27FC236}">
                <a16:creationId xmlns:a16="http://schemas.microsoft.com/office/drawing/2014/main" id="{D7D78E1D-22F9-5926-B14B-22373C1D4F2F}"/>
              </a:ext>
            </a:extLst>
          </p:cNvPr>
          <p:cNvSpPr>
            <a:spLocks noGrp="1"/>
          </p:cNvSpPr>
          <p:nvPr>
            <p:ph type="dt" idx="6"/>
          </p:nvPr>
        </p:nvSpPr>
        <p:spPr>
          <a:xfrm>
            <a:off x="1132803" y="6333334"/>
            <a:ext cx="869314" cy="205184"/>
          </a:xfrm>
          <a:prstGeom prst="rect">
            <a:avLst/>
          </a:prstGeom>
        </p:spPr>
        <p:txBody>
          <a:bodyPr vert="horz" wrap="square" lIns="0" tIns="0" rIns="0" bIns="0">
            <a:spAutoFit/>
          </a:bodyPr>
          <a:lstStyle/>
          <a:p>
            <a:pPr marL="12700">
              <a:lnSpc>
                <a:spcPts val="1635"/>
              </a:lnSpc>
              <a:buNone/>
            </a:pPr>
            <a:r>
              <a:t>22-08-2026</a:t>
            </a:r>
            <a:endParaRPr spc="-20"/>
          </a:p>
        </p:txBody>
      </p:sp>
    </p:spTree>
    <p:extLst>
      <p:ext uri="{BB962C8B-B14F-4D97-AF65-F5344CB8AC3E}">
        <p14:creationId xmlns:p14="http://schemas.microsoft.com/office/powerpoint/2010/main" val="26768588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a:extLst>
              <a:ext uri="{FF2B5EF4-FFF2-40B4-BE49-F238E27FC236}">
                <a16:creationId xmlns:a16="http://schemas.microsoft.com/office/drawing/2014/main" id="{41CE4767-C713-A4D5-FA33-DEBB7140DCFD}"/>
              </a:ext>
            </a:extLst>
          </p:cNvPr>
          <p:cNvSpPr>
            <a:spLocks noGrp="1"/>
          </p:cNvSpPr>
          <p:nvPr>
            <p:ph type="ftr" idx="5"/>
          </p:nvPr>
        </p:nvSpPr>
        <p:spPr>
          <a:prstGeom prst="rect">
            <a:avLst/>
          </a:prstGeom>
        </p:spPr>
        <p:txBody>
          <a:bodyPr vert="horz" wrap="square" lIns="0" tIns="0" rIns="0" bIns="0">
            <a:spAutoFit/>
          </a:bodyPr>
          <a:lstStyle/>
          <a:p>
            <a:pPr marL="12700">
              <a:lnSpc>
                <a:spcPts val="1689"/>
              </a:lnSpc>
              <a:buNone/>
            </a:pPr>
            <a:r>
              <a:rPr spc="-10"/>
              <a:t>Dept of AIML</a:t>
            </a:r>
            <a:endParaRPr spc="-85"/>
          </a:p>
        </p:txBody>
      </p:sp>
      <p:sp>
        <p:nvSpPr>
          <p:cNvPr id="6" name="object 6">
            <a:extLst>
              <a:ext uri="{FF2B5EF4-FFF2-40B4-BE49-F238E27FC236}">
                <a16:creationId xmlns:a16="http://schemas.microsoft.com/office/drawing/2014/main" id="{34EDE920-227C-1BD4-B441-8E8E83C4C11D}"/>
              </a:ext>
            </a:extLst>
          </p:cNvPr>
          <p:cNvSpPr>
            <a:spLocks noGrp="1"/>
          </p:cNvSpPr>
          <p:nvPr>
            <p:ph type="sldNum" idx="7"/>
          </p:nvPr>
        </p:nvSpPr>
        <p:spPr>
          <a:prstGeom prst="rect">
            <a:avLst/>
          </a:prstGeom>
        </p:spPr>
        <p:txBody>
          <a:bodyPr vert="horz" wrap="square" lIns="0" tIns="0" rIns="0" bIns="0">
            <a:spAutoFit/>
          </a:bodyPr>
          <a:lstStyle/>
          <a:p>
            <a:pPr marL="12700">
              <a:lnSpc>
                <a:spcPts val="1600"/>
              </a:lnSpc>
              <a:buNone/>
            </a:pPr>
            <a:fld id="{81D60167-4931-47E6-BA6A-407CBD079E47}" type="slidenum">
              <a:rPr spc="-25"/>
              <a:t>21</a:t>
            </a:fld>
            <a:endParaRPr spc="-25"/>
          </a:p>
        </p:txBody>
      </p:sp>
      <p:sp>
        <p:nvSpPr>
          <p:cNvPr id="2" name="object 2">
            <a:extLst>
              <a:ext uri="{FF2B5EF4-FFF2-40B4-BE49-F238E27FC236}">
                <a16:creationId xmlns:a16="http://schemas.microsoft.com/office/drawing/2014/main" id="{B9AABDE1-1B18-8883-3DAF-1BAC4B1DAEA8}"/>
              </a:ext>
            </a:extLst>
          </p:cNvPr>
          <p:cNvSpPr>
            <a:spLocks noGrp="1"/>
          </p:cNvSpPr>
          <p:nvPr>
            <p:ph type="title"/>
          </p:nvPr>
        </p:nvSpPr>
        <p:spPr>
          <a:xfrm>
            <a:off x="1567460" y="306013"/>
            <a:ext cx="8610600" cy="938076"/>
          </a:xfrm>
          <a:prstGeom prst="rect">
            <a:avLst/>
          </a:prstGeom>
        </p:spPr>
        <p:txBody>
          <a:bodyPr vert="horz" wrap="square" lIns="0" tIns="14604" rIns="0" bIns="0">
            <a:spAutoFit/>
          </a:bodyPr>
          <a:lstStyle/>
          <a:p>
            <a:pPr marL="12700" algn="ctr">
              <a:lnSpc>
                <a:spcPct val="100000"/>
              </a:lnSpc>
              <a:spcBef>
                <a:spcPts val="114"/>
              </a:spcBef>
              <a:buNone/>
              <a:tabLst>
                <a:tab pos="3241675" algn="l"/>
              </a:tabLst>
            </a:pPr>
            <a:r>
              <a:rPr sz="3000" b="1" spc="95" dirty="0"/>
              <a:t>IMPLEMENTATION DETAILS</a:t>
            </a:r>
            <a:endParaRPr sz="3000" b="1" dirty="0"/>
          </a:p>
        </p:txBody>
      </p:sp>
      <p:sp>
        <p:nvSpPr>
          <p:cNvPr id="3" name="object 3">
            <a:extLst>
              <a:ext uri="{FF2B5EF4-FFF2-40B4-BE49-F238E27FC236}">
                <a16:creationId xmlns:a16="http://schemas.microsoft.com/office/drawing/2014/main" id="{985CB5A2-103F-6D88-FEE1-047991C1879A}"/>
              </a:ext>
            </a:extLst>
          </p:cNvPr>
          <p:cNvSpPr>
            <a:spLocks noGrp="1"/>
          </p:cNvSpPr>
          <p:nvPr/>
        </p:nvSpPr>
        <p:spPr>
          <a:xfrm>
            <a:off x="588683" y="611330"/>
            <a:ext cx="11014633" cy="5790496"/>
          </a:xfrm>
          <a:prstGeom prst="rect">
            <a:avLst/>
          </a:prstGeom>
        </p:spPr>
        <p:txBody>
          <a:bodyPr vert="horz" wrap="square" lIns="0" tIns="213360" rIns="0" bIns="0">
            <a:spAutoFit/>
          </a:bodyPr>
          <a:lstStyle/>
          <a:p>
            <a:pPr algn="just">
              <a:lnSpc>
                <a:spcPct val="150000"/>
              </a:lnSpc>
              <a:buNone/>
            </a:pPr>
            <a:r>
              <a:rPr sz="2600" dirty="0">
                <a:solidFill>
                  <a:schemeClr val="tx1"/>
                </a:solidFill>
              </a:rPr>
              <a:t>1. Normalize and tokenize each prompt, then run detection before forwarding to the downstream LLM.</a:t>
            </a:r>
          </a:p>
          <a:p>
            <a:pPr>
              <a:lnSpc>
                <a:spcPct val="150000"/>
              </a:lnSpc>
            </a:pPr>
            <a:r>
              <a:rPr sz="2400" dirty="0">
                <a:solidFill>
                  <a:schemeClr val="tx1"/>
                </a:solidFill>
              </a:rPr>
              <a:t>2. Classifier estimates threat intent; </a:t>
            </a:r>
            <a:r>
              <a:rPr sz="2400" dirty="0" err="1">
                <a:solidFill>
                  <a:schemeClr val="tx1"/>
                </a:solidFill>
              </a:rPr>
              <a:t>SentenceTransformer</a:t>
            </a:r>
            <a:r>
              <a:rPr sz="2400" dirty="0">
                <a:solidFill>
                  <a:schemeClr val="tx1"/>
                </a:solidFill>
              </a:rPr>
              <a:t> embeddings calculate cosine similarity against attack patterns.</a:t>
            </a:r>
          </a:p>
          <a:p>
            <a:pPr>
              <a:lnSpc>
                <a:spcPct val="150000"/>
              </a:lnSpc>
            </a:pPr>
            <a:r>
              <a:rPr sz="2400" dirty="0">
                <a:solidFill>
                  <a:schemeClr val="tx1"/>
                </a:solidFill>
              </a:rPr>
              <a:t>3. Transformer NER plus regex rules detect PHI/PII and redact matched spans while retaining offsets.</a:t>
            </a:r>
          </a:p>
          <a:p>
            <a:pPr>
              <a:lnSpc>
                <a:spcPct val="150000"/>
              </a:lnSpc>
            </a:pPr>
            <a:r>
              <a:rPr sz="2400" dirty="0">
                <a:solidFill>
                  <a:schemeClr val="tx1"/>
                </a:solidFill>
              </a:rPr>
              <a:t>4. Risk aggregation: R = 0.50T + 0.30H + 0.20S, where T = classifier threat, H = PHI risk and S = similarity risk.</a:t>
            </a:r>
          </a:p>
          <a:p>
            <a:pPr>
              <a:lnSpc>
                <a:spcPct val="150000"/>
              </a:lnSpc>
            </a:pPr>
            <a:r>
              <a:rPr sz="2400" dirty="0">
                <a:solidFill>
                  <a:schemeClr val="tx1"/>
                </a:solidFill>
              </a:rPr>
              <a:t>5. Enforcement: Block at risk ≥75 or high-confidence injection; mask PHI; quarantine risk ≥45; otherwise allow and audit.</a:t>
            </a:r>
          </a:p>
        </p:txBody>
      </p:sp>
      <p:sp>
        <p:nvSpPr>
          <p:cNvPr id="7" name="object 10">
            <a:extLst>
              <a:ext uri="{FF2B5EF4-FFF2-40B4-BE49-F238E27FC236}">
                <a16:creationId xmlns:a16="http://schemas.microsoft.com/office/drawing/2014/main" id="{5DC3D809-98F8-DD55-5713-A79323812CE1}"/>
              </a:ext>
            </a:extLst>
          </p:cNvPr>
          <p:cNvSpPr>
            <a:spLocks noGrp="1"/>
          </p:cNvSpPr>
          <p:nvPr>
            <p:ph type="dt" idx="6"/>
          </p:nvPr>
        </p:nvSpPr>
        <p:spPr>
          <a:xfrm>
            <a:off x="1132803" y="6333334"/>
            <a:ext cx="869314" cy="205184"/>
          </a:xfrm>
          <a:prstGeom prst="rect">
            <a:avLst/>
          </a:prstGeom>
        </p:spPr>
        <p:txBody>
          <a:bodyPr vert="horz" wrap="square" lIns="0" tIns="0" rIns="0" bIns="0">
            <a:spAutoFit/>
          </a:bodyPr>
          <a:lstStyle/>
          <a:p>
            <a:pPr marL="12700">
              <a:lnSpc>
                <a:spcPts val="1635"/>
              </a:lnSpc>
              <a:buNone/>
            </a:pPr>
            <a:r>
              <a:t>22-08-2026</a:t>
            </a:r>
            <a:endParaRPr spc="-20"/>
          </a:p>
        </p:txBody>
      </p:sp>
    </p:spTree>
    <p:extLst>
      <p:ext uri="{BB962C8B-B14F-4D97-AF65-F5344CB8AC3E}">
        <p14:creationId xmlns:p14="http://schemas.microsoft.com/office/powerpoint/2010/main" val="67211343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a:extLst>
              <a:ext uri="{FF2B5EF4-FFF2-40B4-BE49-F238E27FC236}">
                <a16:creationId xmlns:a16="http://schemas.microsoft.com/office/drawing/2014/main" id="{1308AB1B-4381-A2F8-B7B6-78C02D96AF02}"/>
              </a:ext>
            </a:extLst>
          </p:cNvPr>
          <p:cNvSpPr>
            <a:spLocks noGrp="1"/>
          </p:cNvSpPr>
          <p:nvPr>
            <p:ph type="ftr" idx="5"/>
          </p:nvPr>
        </p:nvSpPr>
        <p:spPr>
          <a:prstGeom prst="rect">
            <a:avLst/>
          </a:prstGeom>
        </p:spPr>
        <p:txBody>
          <a:bodyPr vert="horz" wrap="square" lIns="0" tIns="0" rIns="0" bIns="0">
            <a:spAutoFit/>
          </a:bodyPr>
          <a:lstStyle/>
          <a:p>
            <a:pPr marL="12700">
              <a:lnSpc>
                <a:spcPts val="1689"/>
              </a:lnSpc>
              <a:buNone/>
            </a:pPr>
            <a:r>
              <a:rPr spc="-10"/>
              <a:t>Dept of AIML</a:t>
            </a:r>
            <a:endParaRPr spc="-85"/>
          </a:p>
        </p:txBody>
      </p:sp>
      <p:sp>
        <p:nvSpPr>
          <p:cNvPr id="6" name="object 6">
            <a:extLst>
              <a:ext uri="{FF2B5EF4-FFF2-40B4-BE49-F238E27FC236}">
                <a16:creationId xmlns:a16="http://schemas.microsoft.com/office/drawing/2014/main" id="{7439D620-BEE9-5393-6CBD-F801C512240E}"/>
              </a:ext>
            </a:extLst>
          </p:cNvPr>
          <p:cNvSpPr>
            <a:spLocks noGrp="1"/>
          </p:cNvSpPr>
          <p:nvPr>
            <p:ph type="sldNum" idx="7"/>
          </p:nvPr>
        </p:nvSpPr>
        <p:spPr>
          <a:prstGeom prst="rect">
            <a:avLst/>
          </a:prstGeom>
        </p:spPr>
        <p:txBody>
          <a:bodyPr vert="horz" wrap="square" lIns="0" tIns="0" rIns="0" bIns="0">
            <a:spAutoFit/>
          </a:bodyPr>
          <a:lstStyle/>
          <a:p>
            <a:pPr marL="12700">
              <a:lnSpc>
                <a:spcPts val="1600"/>
              </a:lnSpc>
              <a:buNone/>
            </a:pPr>
            <a:fld id="{81D60167-4931-47E6-BA6A-407CBD079E47}" type="slidenum">
              <a:rPr spc="-25"/>
              <a:t>22</a:t>
            </a:fld>
            <a:endParaRPr spc="-25"/>
          </a:p>
        </p:txBody>
      </p:sp>
      <p:sp>
        <p:nvSpPr>
          <p:cNvPr id="2" name="object 2">
            <a:extLst>
              <a:ext uri="{FF2B5EF4-FFF2-40B4-BE49-F238E27FC236}">
                <a16:creationId xmlns:a16="http://schemas.microsoft.com/office/drawing/2014/main" id="{C86D5E22-4124-8779-FDD0-A6CB13D8D7F9}"/>
              </a:ext>
            </a:extLst>
          </p:cNvPr>
          <p:cNvSpPr>
            <a:spLocks noGrp="1"/>
          </p:cNvSpPr>
          <p:nvPr>
            <p:ph type="title"/>
          </p:nvPr>
        </p:nvSpPr>
        <p:spPr>
          <a:xfrm>
            <a:off x="1567460" y="319482"/>
            <a:ext cx="8610600" cy="938076"/>
          </a:xfrm>
          <a:prstGeom prst="rect">
            <a:avLst/>
          </a:prstGeom>
        </p:spPr>
        <p:txBody>
          <a:bodyPr vert="horz" wrap="square" lIns="0" tIns="14604" rIns="0" bIns="0">
            <a:spAutoFit/>
          </a:bodyPr>
          <a:lstStyle/>
          <a:p>
            <a:pPr marL="12700" algn="ctr">
              <a:lnSpc>
                <a:spcPct val="100000"/>
              </a:lnSpc>
              <a:spcBef>
                <a:spcPts val="114"/>
              </a:spcBef>
              <a:buNone/>
              <a:tabLst>
                <a:tab pos="3241675" algn="l"/>
              </a:tabLst>
            </a:pPr>
            <a:r>
              <a:rPr sz="3000" b="1" spc="95" dirty="0"/>
              <a:t>MODERN TOOLS &amp; DEPLOYMENT READINESS</a:t>
            </a:r>
            <a:endParaRPr sz="3000" b="1" dirty="0"/>
          </a:p>
        </p:txBody>
      </p:sp>
      <p:sp>
        <p:nvSpPr>
          <p:cNvPr id="3" name="object 3">
            <a:extLst>
              <a:ext uri="{FF2B5EF4-FFF2-40B4-BE49-F238E27FC236}">
                <a16:creationId xmlns:a16="http://schemas.microsoft.com/office/drawing/2014/main" id="{28B481CB-25DA-FF0D-EAAD-5A70BA12F1A1}"/>
              </a:ext>
            </a:extLst>
          </p:cNvPr>
          <p:cNvSpPr>
            <a:spLocks noGrp="1"/>
          </p:cNvSpPr>
          <p:nvPr/>
        </p:nvSpPr>
        <p:spPr>
          <a:xfrm>
            <a:off x="541066" y="894273"/>
            <a:ext cx="11014633" cy="5061386"/>
          </a:xfrm>
          <a:prstGeom prst="rect">
            <a:avLst/>
          </a:prstGeom>
        </p:spPr>
        <p:txBody>
          <a:bodyPr vert="horz" wrap="square" lIns="0" tIns="213360" rIns="0" bIns="0">
            <a:spAutoFit/>
          </a:bodyPr>
          <a:lstStyle/>
          <a:p>
            <a:pPr algn="just">
              <a:lnSpc>
                <a:spcPct val="150000"/>
              </a:lnSpc>
              <a:buNone/>
            </a:pPr>
            <a:r>
              <a:rPr sz="2600" b="1" dirty="0">
                <a:solidFill>
                  <a:schemeClr val="tx1"/>
                </a:solidFill>
                <a:latin typeface="Times New Roman" panose="02020603050405020304" pitchFamily="18" charset="0"/>
                <a:cs typeface="Times New Roman" panose="02020603050405020304" pitchFamily="18" charset="0"/>
              </a:rPr>
              <a:t>AI/NLP: </a:t>
            </a:r>
            <a:r>
              <a:rPr sz="2600" b="1" dirty="0" err="1">
                <a:solidFill>
                  <a:schemeClr val="tx1"/>
                </a:solidFill>
                <a:latin typeface="Times New Roman" panose="02020603050405020304" pitchFamily="18" charset="0"/>
                <a:cs typeface="Times New Roman" panose="02020603050405020304" pitchFamily="18" charset="0"/>
              </a:rPr>
              <a:t>PyTorch</a:t>
            </a:r>
            <a:r>
              <a:rPr sz="2600" b="1" dirty="0">
                <a:solidFill>
                  <a:schemeClr val="tx1"/>
                </a:solidFill>
                <a:latin typeface="Times New Roman" panose="02020603050405020304" pitchFamily="18" charset="0"/>
                <a:cs typeface="Times New Roman" panose="02020603050405020304" pitchFamily="18" charset="0"/>
              </a:rPr>
              <a:t>, Hugging Face Transformers, </a:t>
            </a:r>
            <a:r>
              <a:rPr sz="2600" b="1" dirty="0" err="1">
                <a:solidFill>
                  <a:schemeClr val="tx1"/>
                </a:solidFill>
                <a:latin typeface="Times New Roman" panose="02020603050405020304" pitchFamily="18" charset="0"/>
                <a:cs typeface="Times New Roman" panose="02020603050405020304" pitchFamily="18" charset="0"/>
              </a:rPr>
              <a:t>SentenceTransformers</a:t>
            </a:r>
            <a:r>
              <a:rPr sz="2600" b="1" dirty="0">
                <a:solidFill>
                  <a:schemeClr val="tx1"/>
                </a:solidFill>
                <a:latin typeface="Times New Roman" panose="02020603050405020304" pitchFamily="18" charset="0"/>
                <a:cs typeface="Times New Roman" panose="02020603050405020304" pitchFamily="18" charset="0"/>
              </a:rPr>
              <a:t>, </a:t>
            </a:r>
            <a:r>
              <a:rPr sz="2600" b="1" dirty="0" err="1">
                <a:solidFill>
                  <a:schemeClr val="tx1"/>
                </a:solidFill>
                <a:latin typeface="Times New Roman" panose="02020603050405020304" pitchFamily="18" charset="0"/>
                <a:cs typeface="Times New Roman" panose="02020603050405020304" pitchFamily="18" charset="0"/>
              </a:rPr>
              <a:t>spaCy</a:t>
            </a:r>
            <a:r>
              <a:rPr sz="2600" b="1" dirty="0">
                <a:solidFill>
                  <a:schemeClr val="tx1"/>
                </a:solidFill>
                <a:latin typeface="Times New Roman" panose="02020603050405020304" pitchFamily="18" charset="0"/>
                <a:cs typeface="Times New Roman" panose="02020603050405020304" pitchFamily="18" charset="0"/>
              </a:rPr>
              <a:t>-compatible NER pipeline, NumPy and FAISS.</a:t>
            </a:r>
          </a:p>
          <a:p>
            <a:pPr marL="457200" indent="-457200">
              <a:lnSpc>
                <a:spcPct val="150000"/>
              </a:lnSpc>
              <a:buFont typeface="Arial"/>
              <a:buChar char="•"/>
            </a:pPr>
            <a:r>
              <a:rPr sz="2000" dirty="0">
                <a:solidFill>
                  <a:schemeClr val="tx1"/>
                </a:solidFill>
                <a:latin typeface="Times New Roman" panose="02020603050405020304" pitchFamily="18" charset="0"/>
                <a:cs typeface="Times New Roman" panose="02020603050405020304" pitchFamily="18" charset="0"/>
              </a:rPr>
              <a:t>Platform: </a:t>
            </a:r>
            <a:r>
              <a:rPr sz="2000" dirty="0" err="1">
                <a:solidFill>
                  <a:schemeClr val="tx1"/>
                </a:solidFill>
                <a:latin typeface="Times New Roman" panose="02020603050405020304" pitchFamily="18" charset="0"/>
                <a:cs typeface="Times New Roman" panose="02020603050405020304" pitchFamily="18" charset="0"/>
              </a:rPr>
              <a:t>FastAPI</a:t>
            </a:r>
            <a:r>
              <a:rPr sz="2000" dirty="0">
                <a:solidFill>
                  <a:schemeClr val="tx1"/>
                </a:solidFill>
                <a:latin typeface="Times New Roman" panose="02020603050405020304" pitchFamily="18" charset="0"/>
                <a:cs typeface="Times New Roman" panose="02020603050405020304" pitchFamily="18" charset="0"/>
              </a:rPr>
              <a:t> REST API with </a:t>
            </a:r>
            <a:r>
              <a:rPr sz="2000" dirty="0" err="1">
                <a:solidFill>
                  <a:schemeClr val="tx1"/>
                </a:solidFill>
                <a:latin typeface="Times New Roman" panose="02020603050405020304" pitchFamily="18" charset="0"/>
                <a:cs typeface="Times New Roman" panose="02020603050405020304" pitchFamily="18" charset="0"/>
              </a:rPr>
              <a:t>Uvicorn</a:t>
            </a:r>
            <a:r>
              <a:rPr sz="2000" dirty="0">
                <a:solidFill>
                  <a:schemeClr val="tx1"/>
                </a:solidFill>
                <a:latin typeface="Times New Roman" panose="02020603050405020304" pitchFamily="18" charset="0"/>
                <a:cs typeface="Times New Roman" panose="02020603050405020304" pitchFamily="18" charset="0"/>
              </a:rPr>
              <a:t>; React 18 + Vite + Tailwind dashboard; PostgreSQL persistence; Nginx configuration.</a:t>
            </a:r>
          </a:p>
          <a:p>
            <a:pPr marL="457200" indent="-457200">
              <a:lnSpc>
                <a:spcPct val="150000"/>
              </a:lnSpc>
              <a:buFont typeface="Arial"/>
              <a:buChar char="•"/>
            </a:pPr>
            <a:r>
              <a:rPr sz="2000" dirty="0">
                <a:solidFill>
                  <a:schemeClr val="tx1"/>
                </a:solidFill>
                <a:latin typeface="Times New Roman" panose="02020603050405020304" pitchFamily="18" charset="0"/>
                <a:cs typeface="Times New Roman" panose="02020603050405020304" pitchFamily="18" charset="0"/>
              </a:rPr>
              <a:t>Engineering: </a:t>
            </a:r>
            <a:r>
              <a:rPr sz="2000" dirty="0" err="1">
                <a:solidFill>
                  <a:schemeClr val="tx1"/>
                </a:solidFill>
                <a:latin typeface="Times New Roman" panose="02020603050405020304" pitchFamily="18" charset="0"/>
                <a:cs typeface="Times New Roman" panose="02020603050405020304" pitchFamily="18" charset="0"/>
              </a:rPr>
              <a:t>SQLAlchemy</a:t>
            </a:r>
            <a:r>
              <a:rPr sz="2000" dirty="0">
                <a:solidFill>
                  <a:schemeClr val="tx1"/>
                </a:solidFill>
                <a:latin typeface="Times New Roman" panose="02020603050405020304" pitchFamily="18" charset="0"/>
                <a:cs typeface="Times New Roman" panose="02020603050405020304" pitchFamily="18" charset="0"/>
              </a:rPr>
              <a:t>/Alembic migrations, </a:t>
            </a:r>
            <a:r>
              <a:rPr sz="2000" dirty="0" err="1">
                <a:solidFill>
                  <a:schemeClr val="tx1"/>
                </a:solidFill>
                <a:latin typeface="Times New Roman" panose="02020603050405020304" pitchFamily="18" charset="0"/>
                <a:cs typeface="Times New Roman" panose="02020603050405020304" pitchFamily="18" charset="0"/>
              </a:rPr>
              <a:t>Pytest</a:t>
            </a:r>
            <a:r>
              <a:rPr sz="2000" dirty="0">
                <a:solidFill>
                  <a:schemeClr val="tx1"/>
                </a:solidFill>
                <a:latin typeface="Times New Roman" panose="02020603050405020304" pitchFamily="18" charset="0"/>
                <a:cs typeface="Times New Roman" panose="02020603050405020304" pitchFamily="18" charset="0"/>
              </a:rPr>
              <a:t> unit/integration/security tests, Git and </a:t>
            </a:r>
            <a:r>
              <a:rPr sz="2000" dirty="0" err="1">
                <a:solidFill>
                  <a:schemeClr val="tx1"/>
                </a:solidFill>
                <a:latin typeface="Times New Roman" panose="02020603050405020304" pitchFamily="18" charset="0"/>
                <a:cs typeface="Times New Roman" panose="02020603050405020304" pitchFamily="18" charset="0"/>
              </a:rPr>
              <a:t>Makefile</a:t>
            </a:r>
            <a:r>
              <a:rPr sz="2000" dirty="0">
                <a:solidFill>
                  <a:schemeClr val="tx1"/>
                </a:solidFill>
                <a:latin typeface="Times New Roman" panose="02020603050405020304" pitchFamily="18" charset="0"/>
                <a:cs typeface="Times New Roman" panose="02020603050405020304" pitchFamily="18" charset="0"/>
              </a:rPr>
              <a:t> automation.</a:t>
            </a:r>
          </a:p>
          <a:p>
            <a:pPr marL="457200" indent="-457200">
              <a:lnSpc>
                <a:spcPct val="150000"/>
              </a:lnSpc>
              <a:buFont typeface="Arial"/>
              <a:buChar char="•"/>
            </a:pPr>
            <a:r>
              <a:rPr sz="2000" dirty="0">
                <a:solidFill>
                  <a:schemeClr val="tx1"/>
                </a:solidFill>
                <a:latin typeface="Times New Roman" panose="02020603050405020304" pitchFamily="18" charset="0"/>
                <a:cs typeface="Times New Roman" panose="02020603050405020304" pitchFamily="18" charset="0"/>
              </a:rPr>
              <a:t>Deployment readiness: separate backend and frontend </a:t>
            </a:r>
            <a:r>
              <a:rPr sz="2000" dirty="0" err="1">
                <a:solidFill>
                  <a:schemeClr val="tx1"/>
                </a:solidFill>
                <a:latin typeface="Times New Roman" panose="02020603050405020304" pitchFamily="18" charset="0"/>
                <a:cs typeface="Times New Roman" panose="02020603050405020304" pitchFamily="18" charset="0"/>
              </a:rPr>
              <a:t>Dockerfiles</a:t>
            </a:r>
            <a:r>
              <a:rPr sz="2000" dirty="0">
                <a:solidFill>
                  <a:schemeClr val="tx1"/>
                </a:solidFill>
                <a:latin typeface="Times New Roman" panose="02020603050405020304" pitchFamily="18" charset="0"/>
                <a:cs typeface="Times New Roman" panose="02020603050405020304" pitchFamily="18" charset="0"/>
              </a:rPr>
              <a:t> are included; health endpoint is available at /health.</a:t>
            </a:r>
          </a:p>
          <a:p>
            <a:pPr marL="457200" indent="-457200">
              <a:lnSpc>
                <a:spcPct val="150000"/>
              </a:lnSpc>
              <a:buFont typeface="Arial"/>
              <a:buChar char="•"/>
            </a:pPr>
            <a:r>
              <a:rPr sz="2000" dirty="0">
                <a:solidFill>
                  <a:schemeClr val="tx1"/>
                </a:solidFill>
                <a:latin typeface="Times New Roman" panose="02020603050405020304" pitchFamily="18" charset="0"/>
                <a:cs typeface="Times New Roman" panose="02020603050405020304" pitchFamily="18" charset="0"/>
              </a:rPr>
              <a:t>Current scope: Docker Compose and cloud (AWS) rollout are documented as next deployment steps, not claimed as completed production deployment.</a:t>
            </a:r>
          </a:p>
        </p:txBody>
      </p:sp>
      <p:sp>
        <p:nvSpPr>
          <p:cNvPr id="7" name="object 10">
            <a:extLst>
              <a:ext uri="{FF2B5EF4-FFF2-40B4-BE49-F238E27FC236}">
                <a16:creationId xmlns:a16="http://schemas.microsoft.com/office/drawing/2014/main" id="{914938C1-1C47-B8C7-1515-B3DD729C365E}"/>
              </a:ext>
            </a:extLst>
          </p:cNvPr>
          <p:cNvSpPr>
            <a:spLocks noGrp="1"/>
          </p:cNvSpPr>
          <p:nvPr>
            <p:ph type="dt" idx="6"/>
          </p:nvPr>
        </p:nvSpPr>
        <p:spPr>
          <a:xfrm>
            <a:off x="1132803" y="6333334"/>
            <a:ext cx="869314" cy="205184"/>
          </a:xfrm>
          <a:prstGeom prst="rect">
            <a:avLst/>
          </a:prstGeom>
        </p:spPr>
        <p:txBody>
          <a:bodyPr vert="horz" wrap="square" lIns="0" tIns="0" rIns="0" bIns="0">
            <a:spAutoFit/>
          </a:bodyPr>
          <a:lstStyle/>
          <a:p>
            <a:pPr marL="12700">
              <a:lnSpc>
                <a:spcPts val="1635"/>
              </a:lnSpc>
              <a:buNone/>
            </a:pPr>
            <a:r>
              <a:rPr dirty="0"/>
              <a:t>22-08-2026</a:t>
            </a:r>
            <a:endParaRPr spc="-20" dirty="0"/>
          </a:p>
        </p:txBody>
      </p:sp>
    </p:spTree>
    <p:extLst>
      <p:ext uri="{BB962C8B-B14F-4D97-AF65-F5344CB8AC3E}">
        <p14:creationId xmlns:p14="http://schemas.microsoft.com/office/powerpoint/2010/main" val="131713982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object 7">
            <a:extLst>
              <a:ext uri="{FF2B5EF4-FFF2-40B4-BE49-F238E27FC236}">
                <a16:creationId xmlns:a16="http://schemas.microsoft.com/office/drawing/2014/main" id="{BBC64136-7C18-40E2-B7A9-018C23FBD61E}"/>
              </a:ext>
            </a:extLst>
          </p:cNvPr>
          <p:cNvSpPr>
            <a:spLocks noGrp="1"/>
          </p:cNvSpPr>
          <p:nvPr>
            <p:ph type="ftr" idx="5"/>
          </p:nvPr>
        </p:nvSpPr>
        <p:spPr>
          <a:xfrm>
            <a:off x="6064355" y="6365757"/>
            <a:ext cx="1445259" cy="230504"/>
          </a:xfrm>
          <a:prstGeom prst="rect">
            <a:avLst/>
          </a:prstGeom>
        </p:spPr>
        <p:txBody>
          <a:bodyPr vert="horz" wrap="square" lIns="0" tIns="0" rIns="0" bIns="0">
            <a:spAutoFit/>
          </a:bodyPr>
          <a:lstStyle/>
          <a:p>
            <a:pPr marL="12700">
              <a:lnSpc>
                <a:spcPts val="1689"/>
              </a:lnSpc>
              <a:buNone/>
            </a:pPr>
            <a:r>
              <a:rPr spc="-10"/>
              <a:t>Dept of AIML</a:t>
            </a:r>
            <a:endParaRPr spc="-85"/>
          </a:p>
        </p:txBody>
      </p:sp>
      <p:sp>
        <p:nvSpPr>
          <p:cNvPr id="9" name="object 9">
            <a:extLst>
              <a:ext uri="{FF2B5EF4-FFF2-40B4-BE49-F238E27FC236}">
                <a16:creationId xmlns:a16="http://schemas.microsoft.com/office/drawing/2014/main" id="{2DB45B61-1DE8-4064-943E-1AFAC3AE30C6}"/>
              </a:ext>
            </a:extLst>
          </p:cNvPr>
          <p:cNvSpPr>
            <a:spLocks noGrp="1"/>
          </p:cNvSpPr>
          <p:nvPr>
            <p:ph type="sldNum" idx="7"/>
          </p:nvPr>
        </p:nvSpPr>
        <p:spPr>
          <a:xfrm>
            <a:off x="11719249" y="6412412"/>
            <a:ext cx="244475" cy="219075"/>
          </a:xfrm>
          <a:prstGeom prst="rect">
            <a:avLst/>
          </a:prstGeom>
        </p:spPr>
        <p:txBody>
          <a:bodyPr vert="horz" wrap="square" lIns="0" tIns="0" rIns="0" bIns="0">
            <a:spAutoFit/>
          </a:bodyPr>
          <a:lstStyle/>
          <a:p>
            <a:pPr marL="12700">
              <a:lnSpc>
                <a:spcPts val="1600"/>
              </a:lnSpc>
              <a:buNone/>
            </a:pPr>
            <a:fld id="{81D60167-4931-47E6-BA6A-407CBD079E47}" type="slidenum">
              <a:rPr spc="-25"/>
              <a:t>23</a:t>
            </a:fld>
            <a:endParaRPr spc="-25"/>
          </a:p>
        </p:txBody>
      </p:sp>
      <p:sp>
        <p:nvSpPr>
          <p:cNvPr id="2" name="object 2">
            <a:extLst>
              <a:ext uri="{FF2B5EF4-FFF2-40B4-BE49-F238E27FC236}">
                <a16:creationId xmlns:a16="http://schemas.microsoft.com/office/drawing/2014/main" id="{F7EEE911-6F1A-4B6A-9A40-1BC79C549CBC}"/>
              </a:ext>
            </a:extLst>
          </p:cNvPr>
          <p:cNvSpPr>
            <a:spLocks noGrp="1"/>
          </p:cNvSpPr>
          <p:nvPr>
            <p:ph type="title"/>
          </p:nvPr>
        </p:nvSpPr>
        <p:spPr>
          <a:xfrm>
            <a:off x="536360" y="732543"/>
            <a:ext cx="11151223" cy="521297"/>
          </a:xfrm>
          <a:prstGeom prst="rect">
            <a:avLst/>
          </a:prstGeom>
        </p:spPr>
        <p:txBody>
          <a:bodyPr vert="horz" wrap="square" lIns="0" tIns="13335" rIns="0" bIns="0">
            <a:spAutoFit/>
          </a:bodyPr>
          <a:lstStyle/>
          <a:p>
            <a:pPr marL="4131310">
              <a:lnSpc>
                <a:spcPct val="100000"/>
              </a:lnSpc>
              <a:spcBef>
                <a:spcPts val="105"/>
              </a:spcBef>
              <a:buNone/>
            </a:pPr>
            <a:r>
              <a:rPr b="1" spc="90"/>
              <a:t>CONCLUSION</a:t>
            </a:r>
          </a:p>
        </p:txBody>
      </p:sp>
      <p:sp>
        <p:nvSpPr>
          <p:cNvPr id="10" name="TextBox 9">
            <a:extLst>
              <a:ext uri="{FF2B5EF4-FFF2-40B4-BE49-F238E27FC236}">
                <a16:creationId xmlns:a16="http://schemas.microsoft.com/office/drawing/2014/main" id="{5C308BB5-5124-8715-2D2D-81B5B91E5C44}"/>
              </a:ext>
            </a:extLst>
          </p:cNvPr>
          <p:cNvSpPr>
            <a:spLocks noGrp="1"/>
          </p:cNvSpPr>
          <p:nvPr/>
        </p:nvSpPr>
        <p:spPr>
          <a:xfrm>
            <a:off x="549060" y="1981200"/>
            <a:ext cx="11414664" cy="3347840"/>
          </a:xfrm>
          <a:prstGeom prst="rect">
            <a:avLst/>
          </a:prstGeom>
          <a:noFill/>
        </p:spPr>
        <p:txBody>
          <a:bodyPr wrap="square">
            <a:spAutoFit/>
          </a:bodyPr>
          <a:lstStyle/>
          <a:p>
            <a:pPr>
              <a:lnSpc>
                <a:spcPct val="150000"/>
              </a:lnSpc>
              <a:buNone/>
            </a:pPr>
            <a:r>
              <a:rPr sz="2400">
                <a:solidFill>
                  <a:schemeClr val="tx1"/>
                </a:solidFill>
              </a:rPr>
              <a:t>Healthcare LLM systems are highly vulnerable to semantic-level attacks such as prompt injection and PHI extraction. Traditional security mechanisms are insufficient because they do not analyze linguistic intent. The proposed hybrid adaptive risk-aware framework improves detection accuracy, enhances explainability, and provides real-time risk-based decision-making, making healthcare AI systems more secure and reliable.</a:t>
            </a:r>
          </a:p>
        </p:txBody>
      </p:sp>
      <p:sp>
        <p:nvSpPr>
          <p:cNvPr id="3" name="object 10">
            <a:extLst>
              <a:ext uri="{FF2B5EF4-FFF2-40B4-BE49-F238E27FC236}">
                <a16:creationId xmlns:a16="http://schemas.microsoft.com/office/drawing/2014/main" id="{9E87DD86-B9FE-C476-9EF0-689EED75ED02}"/>
              </a:ext>
            </a:extLst>
          </p:cNvPr>
          <p:cNvSpPr>
            <a:spLocks noGrp="1"/>
          </p:cNvSpPr>
          <p:nvPr>
            <p:ph type="dt" idx="6"/>
          </p:nvPr>
        </p:nvSpPr>
        <p:spPr>
          <a:xfrm>
            <a:off x="1132803" y="6333334"/>
            <a:ext cx="869314" cy="205184"/>
          </a:xfrm>
          <a:prstGeom prst="rect">
            <a:avLst/>
          </a:prstGeom>
        </p:spPr>
        <p:txBody>
          <a:bodyPr vert="horz" wrap="square" lIns="0" tIns="0" rIns="0" bIns="0">
            <a:spAutoFit/>
          </a:bodyPr>
          <a:lstStyle/>
          <a:p>
            <a:pPr marL="12700">
              <a:lnSpc>
                <a:spcPts val="1635"/>
              </a:lnSpc>
              <a:buNone/>
            </a:pPr>
            <a:r>
              <a:t>22-08-2026</a:t>
            </a:r>
            <a:endParaRPr spc="-20"/>
          </a:p>
        </p:txBody>
      </p:sp>
    </p:spTree>
    <p:extLst>
      <p:ext uri="{BB962C8B-B14F-4D97-AF65-F5344CB8AC3E}">
        <p14:creationId xmlns:p14="http://schemas.microsoft.com/office/powerpoint/2010/main" val="190866868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a:extLst>
              <a:ext uri="{FF2B5EF4-FFF2-40B4-BE49-F238E27FC236}">
                <a16:creationId xmlns:a16="http://schemas.microsoft.com/office/drawing/2014/main" id="{0F2B9988-5B87-49CD-9B3B-43CD1F7C84B1}"/>
              </a:ext>
            </a:extLst>
          </p:cNvPr>
          <p:cNvSpPr>
            <a:spLocks noGrp="1"/>
          </p:cNvSpPr>
          <p:nvPr>
            <p:ph type="ftr" idx="5"/>
          </p:nvPr>
        </p:nvSpPr>
        <p:spPr>
          <a:prstGeom prst="rect">
            <a:avLst/>
          </a:prstGeom>
        </p:spPr>
        <p:txBody>
          <a:bodyPr vert="horz" wrap="square" lIns="0" tIns="0" rIns="0" bIns="0">
            <a:spAutoFit/>
          </a:bodyPr>
          <a:lstStyle/>
          <a:p>
            <a:pPr marL="12700">
              <a:lnSpc>
                <a:spcPts val="1689"/>
              </a:lnSpc>
              <a:buNone/>
            </a:pPr>
            <a:r>
              <a:rPr spc="-10"/>
              <a:t>Dept of AIML</a:t>
            </a:r>
            <a:endParaRPr spc="-85"/>
          </a:p>
        </p:txBody>
      </p:sp>
      <p:sp>
        <p:nvSpPr>
          <p:cNvPr id="6" name="object 6">
            <a:extLst>
              <a:ext uri="{FF2B5EF4-FFF2-40B4-BE49-F238E27FC236}">
                <a16:creationId xmlns:a16="http://schemas.microsoft.com/office/drawing/2014/main" id="{E6A56051-11FE-4360-9C2C-784C12CA6562}"/>
              </a:ext>
            </a:extLst>
          </p:cNvPr>
          <p:cNvSpPr>
            <a:spLocks noGrp="1"/>
          </p:cNvSpPr>
          <p:nvPr>
            <p:ph type="sldNum" idx="7"/>
          </p:nvPr>
        </p:nvSpPr>
        <p:spPr>
          <a:prstGeom prst="rect">
            <a:avLst/>
          </a:prstGeom>
        </p:spPr>
        <p:txBody>
          <a:bodyPr vert="horz" wrap="square" lIns="0" tIns="0" rIns="0" bIns="0">
            <a:spAutoFit/>
          </a:bodyPr>
          <a:lstStyle/>
          <a:p>
            <a:pPr marL="12700">
              <a:lnSpc>
                <a:spcPts val="1600"/>
              </a:lnSpc>
              <a:buNone/>
            </a:pPr>
            <a:fld id="{81D60167-4931-47E6-BA6A-407CBD079E47}" type="slidenum">
              <a:rPr spc="-25"/>
              <a:t>24</a:t>
            </a:fld>
            <a:endParaRPr spc="-25"/>
          </a:p>
        </p:txBody>
      </p:sp>
      <p:sp>
        <p:nvSpPr>
          <p:cNvPr id="2" name="object 2">
            <a:extLst>
              <a:ext uri="{FF2B5EF4-FFF2-40B4-BE49-F238E27FC236}">
                <a16:creationId xmlns:a16="http://schemas.microsoft.com/office/drawing/2014/main" id="{8107C84B-BC8E-4851-B776-E922EA5FCA69}"/>
              </a:ext>
            </a:extLst>
          </p:cNvPr>
          <p:cNvSpPr>
            <a:spLocks noGrp="1"/>
          </p:cNvSpPr>
          <p:nvPr>
            <p:ph type="title"/>
          </p:nvPr>
        </p:nvSpPr>
        <p:spPr>
          <a:xfrm>
            <a:off x="520388" y="688269"/>
            <a:ext cx="11151223" cy="521297"/>
          </a:xfrm>
          <a:prstGeom prst="rect">
            <a:avLst/>
          </a:prstGeom>
        </p:spPr>
        <p:txBody>
          <a:bodyPr vert="horz" wrap="square" lIns="0" tIns="13335" rIns="0" bIns="0">
            <a:spAutoFit/>
          </a:bodyPr>
          <a:lstStyle/>
          <a:p>
            <a:pPr marL="4260215">
              <a:lnSpc>
                <a:spcPct val="100000"/>
              </a:lnSpc>
              <a:spcBef>
                <a:spcPts val="105"/>
              </a:spcBef>
              <a:buNone/>
            </a:pPr>
            <a:r>
              <a:rPr b="1" spc="130"/>
              <a:t>REFERENCE</a:t>
            </a:r>
          </a:p>
        </p:txBody>
      </p:sp>
      <p:sp>
        <p:nvSpPr>
          <p:cNvPr id="3" name="object 3">
            <a:extLst>
              <a:ext uri="{FF2B5EF4-FFF2-40B4-BE49-F238E27FC236}">
                <a16:creationId xmlns:a16="http://schemas.microsoft.com/office/drawing/2014/main" id="{6318418D-33AD-408D-8B1E-D80A434137D2}"/>
              </a:ext>
            </a:extLst>
          </p:cNvPr>
          <p:cNvSpPr>
            <a:spLocks noGrp="1"/>
          </p:cNvSpPr>
          <p:nvPr>
            <p:ph type="body" idx="1"/>
          </p:nvPr>
        </p:nvSpPr>
        <p:spPr>
          <a:xfrm>
            <a:off x="523153" y="1618544"/>
            <a:ext cx="11287847" cy="4163769"/>
          </a:xfrm>
          <a:prstGeom prst="rect">
            <a:avLst/>
          </a:prstGeom>
        </p:spPr>
        <p:txBody>
          <a:bodyPr vert="horz" wrap="square" lIns="0" tIns="12700" rIns="0" bIns="0">
            <a:spAutoFit/>
          </a:bodyPr>
          <a:lstStyle/>
          <a:p>
            <a:pPr marL="12700" marR="264795" indent="3175">
              <a:lnSpc>
                <a:spcPct val="150000"/>
              </a:lnSpc>
              <a:spcBef>
                <a:spcPts val="100"/>
              </a:spcBef>
              <a:buNone/>
            </a:pPr>
            <a:r>
              <a:rPr sz="2000"/>
              <a:t>[1] Y. Liu, T. Zhang, M. Chen, L. Wang. "DataSentinel: A Game-Theoretic Detection of Prompt Injection Attacks." 2025. </a:t>
            </a:r>
          </a:p>
          <a:p>
            <a:pPr marL="12700" marR="264795" indent="3175">
              <a:lnSpc>
                <a:spcPct val="150000"/>
              </a:lnSpc>
              <a:spcBef>
                <a:spcPts val="100"/>
              </a:spcBef>
              <a:buNone/>
            </a:pPr>
            <a:r>
              <a:rPr sz="2000"/>
              <a:t>[2] K. Greshake, M. Abdelnabi, K. Sun, M. Fritz. "Not What You've Signed Up For: Compromising Real-World LLM-Integrated Applications with Indirect Prompt Injection." 2023. </a:t>
            </a:r>
          </a:p>
          <a:p>
            <a:pPr marL="12700" marR="264795" indent="3175">
              <a:lnSpc>
                <a:spcPct val="150000"/>
              </a:lnSpc>
              <a:spcBef>
                <a:spcPts val="100"/>
              </a:spcBef>
              <a:buNone/>
            </a:pPr>
            <a:r>
              <a:rPr sz="2000"/>
              <a:t>[3] R. W. Lee, A. B. Smith, C. D. Johnson. "Vulnerability of Large Language Models to Prompt Injection When Providing Medical Advice." 2025. </a:t>
            </a:r>
          </a:p>
          <a:p>
            <a:pPr marL="12700" marR="264795" indent="3175">
              <a:lnSpc>
                <a:spcPct val="150000"/>
              </a:lnSpc>
              <a:spcBef>
                <a:spcPts val="100"/>
              </a:spcBef>
              <a:buNone/>
            </a:pPr>
            <a:r>
              <a:rPr sz="2000"/>
              <a:t>[4] T. Geng, X. Li, Y. Chen, Z. Wang. "Prompt Injection Attacks on Large Language Models: A Survey of Attack Methods, Root Causes, and Defense Strategies." 2025. </a:t>
            </a:r>
          </a:p>
          <a:p>
            <a:pPr marL="12700" marR="264795" indent="3175">
              <a:lnSpc>
                <a:spcPct val="150000"/>
              </a:lnSpc>
              <a:spcBef>
                <a:spcPts val="100"/>
              </a:spcBef>
              <a:buNone/>
            </a:pPr>
            <a:r>
              <a:rPr sz="2000"/>
              <a:t>[5] D. Shen, Y. Zhang, H. Wang, J. Li. "Safeguarding Large Language Models: A Survey." 2024.</a:t>
            </a:r>
            <a:endParaRPr sz="2000" spc="-10"/>
          </a:p>
        </p:txBody>
      </p:sp>
      <p:sp>
        <p:nvSpPr>
          <p:cNvPr id="7" name="object 10">
            <a:extLst>
              <a:ext uri="{FF2B5EF4-FFF2-40B4-BE49-F238E27FC236}">
                <a16:creationId xmlns:a16="http://schemas.microsoft.com/office/drawing/2014/main" id="{201894E3-424A-59AD-011D-2C38B75B4CF4}"/>
              </a:ext>
            </a:extLst>
          </p:cNvPr>
          <p:cNvSpPr>
            <a:spLocks noGrp="1"/>
          </p:cNvSpPr>
          <p:nvPr>
            <p:ph type="dt" idx="6"/>
          </p:nvPr>
        </p:nvSpPr>
        <p:spPr>
          <a:xfrm>
            <a:off x="1132803" y="6333334"/>
            <a:ext cx="869314" cy="205184"/>
          </a:xfrm>
          <a:prstGeom prst="rect">
            <a:avLst/>
          </a:prstGeom>
        </p:spPr>
        <p:txBody>
          <a:bodyPr vert="horz" wrap="square" lIns="0" tIns="0" rIns="0" bIns="0">
            <a:spAutoFit/>
          </a:bodyPr>
          <a:lstStyle/>
          <a:p>
            <a:pPr marL="12700">
              <a:lnSpc>
                <a:spcPts val="1635"/>
              </a:lnSpc>
              <a:buNone/>
            </a:pPr>
            <a:r>
              <a:t>22-08-2026</a:t>
            </a:r>
            <a:endParaRPr spc="-20"/>
          </a:p>
        </p:txBody>
      </p:sp>
    </p:spTree>
    <p:extLst>
      <p:ext uri="{BB962C8B-B14F-4D97-AF65-F5344CB8AC3E}">
        <p14:creationId xmlns:p14="http://schemas.microsoft.com/office/powerpoint/2010/main" val="103411003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a:extLst>
              <a:ext uri="{FF2B5EF4-FFF2-40B4-BE49-F238E27FC236}">
                <a16:creationId xmlns:a16="http://schemas.microsoft.com/office/drawing/2014/main" id="{95D0C5BD-675A-43E9-8643-77830DC37D5A}"/>
              </a:ext>
            </a:extLst>
          </p:cNvPr>
          <p:cNvSpPr>
            <a:spLocks noGrp="1"/>
          </p:cNvSpPr>
          <p:nvPr>
            <p:ph type="ftr" idx="5"/>
          </p:nvPr>
        </p:nvSpPr>
        <p:spPr>
          <a:prstGeom prst="rect">
            <a:avLst/>
          </a:prstGeom>
        </p:spPr>
        <p:txBody>
          <a:bodyPr vert="horz" wrap="square" lIns="0" tIns="0" rIns="0" bIns="0">
            <a:spAutoFit/>
          </a:bodyPr>
          <a:lstStyle/>
          <a:p>
            <a:pPr marL="12700">
              <a:lnSpc>
                <a:spcPts val="1689"/>
              </a:lnSpc>
              <a:buNone/>
            </a:pPr>
            <a:r>
              <a:rPr spc="-10"/>
              <a:t>Dept of AIML</a:t>
            </a:r>
            <a:endParaRPr spc="-85"/>
          </a:p>
        </p:txBody>
      </p:sp>
      <p:sp>
        <p:nvSpPr>
          <p:cNvPr id="6" name="object 6">
            <a:extLst>
              <a:ext uri="{FF2B5EF4-FFF2-40B4-BE49-F238E27FC236}">
                <a16:creationId xmlns:a16="http://schemas.microsoft.com/office/drawing/2014/main" id="{636A252E-F9D7-41F4-989E-8846213E40D5}"/>
              </a:ext>
            </a:extLst>
          </p:cNvPr>
          <p:cNvSpPr>
            <a:spLocks noGrp="1"/>
          </p:cNvSpPr>
          <p:nvPr>
            <p:ph type="sldNum" idx="7"/>
          </p:nvPr>
        </p:nvSpPr>
        <p:spPr>
          <a:prstGeom prst="rect">
            <a:avLst/>
          </a:prstGeom>
        </p:spPr>
        <p:txBody>
          <a:bodyPr vert="horz" wrap="square" lIns="0" tIns="0" rIns="0" bIns="0">
            <a:spAutoFit/>
          </a:bodyPr>
          <a:lstStyle/>
          <a:p>
            <a:pPr marL="12700">
              <a:lnSpc>
                <a:spcPts val="1600"/>
              </a:lnSpc>
              <a:buNone/>
            </a:pPr>
            <a:fld id="{81D60167-4931-47E6-BA6A-407CBD079E47}" type="slidenum">
              <a:rPr spc="-25"/>
              <a:t>25</a:t>
            </a:fld>
            <a:endParaRPr spc="-25"/>
          </a:p>
        </p:txBody>
      </p:sp>
      <p:sp>
        <p:nvSpPr>
          <p:cNvPr id="2" name="object 2">
            <a:extLst>
              <a:ext uri="{FF2B5EF4-FFF2-40B4-BE49-F238E27FC236}">
                <a16:creationId xmlns:a16="http://schemas.microsoft.com/office/drawing/2014/main" id="{04D66999-8426-4578-BEC0-58C1AE1B8ACC}"/>
              </a:ext>
            </a:extLst>
          </p:cNvPr>
          <p:cNvSpPr>
            <a:spLocks noGrp="1"/>
          </p:cNvSpPr>
          <p:nvPr>
            <p:ph type="title"/>
          </p:nvPr>
        </p:nvSpPr>
        <p:spPr>
          <a:xfrm>
            <a:off x="520388" y="688269"/>
            <a:ext cx="11151223" cy="521297"/>
          </a:xfrm>
          <a:prstGeom prst="rect">
            <a:avLst/>
          </a:prstGeom>
        </p:spPr>
        <p:txBody>
          <a:bodyPr vert="horz" wrap="square" lIns="0" tIns="13335" rIns="0" bIns="0">
            <a:spAutoFit/>
          </a:bodyPr>
          <a:lstStyle/>
          <a:p>
            <a:pPr marL="4260215">
              <a:lnSpc>
                <a:spcPct val="100000"/>
              </a:lnSpc>
              <a:spcBef>
                <a:spcPts val="105"/>
              </a:spcBef>
              <a:buNone/>
            </a:pPr>
            <a:r>
              <a:rPr b="1" spc="130"/>
              <a:t>REFERENCE</a:t>
            </a:r>
          </a:p>
        </p:txBody>
      </p:sp>
      <p:sp>
        <p:nvSpPr>
          <p:cNvPr id="8" name="Rectangle 2">
            <a:extLst>
              <a:ext uri="{FF2B5EF4-FFF2-40B4-BE49-F238E27FC236}">
                <a16:creationId xmlns:a16="http://schemas.microsoft.com/office/drawing/2014/main" id="{AAFDB250-5BA7-36F9-7BD8-459F6D7CDD62}"/>
              </a:ext>
            </a:extLst>
          </p:cNvPr>
          <p:cNvSpPr>
            <a:spLocks noGrp="1"/>
          </p:cNvSpPr>
          <p:nvPr/>
        </p:nvSpPr>
        <p:spPr>
          <a:xfrm>
            <a:off x="0" y="0"/>
            <a:ext cx="3733800" cy="0"/>
          </a:xfrm>
          <a:prstGeom prst="rect">
            <a:avLst/>
          </a:prstGeom>
          <a:solidFill>
            <a:srgbClr val="FFFFFF"/>
          </a:solidFill>
          <a:ln>
            <a:noFill/>
          </a:ln>
        </p:spPr>
        <p:txBody>
          <a:bodyPr vert="horz" wrap="none" lIns="91440" tIns="45720" rIns="91440" bIns="45720" anchor="ctr">
            <a:spAutoFit/>
          </a:bodyPr>
          <a:lstStyle/>
          <a:p>
            <a:endParaRPr/>
          </a:p>
        </p:txBody>
      </p:sp>
      <p:sp>
        <p:nvSpPr>
          <p:cNvPr id="9" name="Rectangle 3">
            <a:extLst>
              <a:ext uri="{FF2B5EF4-FFF2-40B4-BE49-F238E27FC236}">
                <a16:creationId xmlns:a16="http://schemas.microsoft.com/office/drawing/2014/main" id="{F147A1D3-77F1-ABC2-C9E9-84DD43C36A77}"/>
              </a:ext>
            </a:extLst>
          </p:cNvPr>
          <p:cNvSpPr>
            <a:spLocks noGrp="1"/>
          </p:cNvSpPr>
          <p:nvPr/>
        </p:nvSpPr>
        <p:spPr>
          <a:xfrm>
            <a:off x="0" y="0"/>
            <a:ext cx="12192000" cy="0"/>
          </a:xfrm>
          <a:prstGeom prst="rect">
            <a:avLst/>
          </a:prstGeom>
          <a:noFill/>
          <a:ln>
            <a:noFill/>
          </a:ln>
        </p:spPr>
        <p:txBody>
          <a:bodyPr vert="horz" wrap="none" lIns="0" tIns="0" rIns="0" bIns="0" anchor="ctr">
            <a:spAutoFit/>
          </a:bodyPr>
          <a:lstStyle/>
          <a:p>
            <a:pPr marL="0" marR="0" lvl="0" indent="0" algn="l" defTabSz="914400">
              <a:lnSpc>
                <a:spcPct val="100000"/>
              </a:lnSpc>
              <a:spcBef>
                <a:spcPct val="0"/>
              </a:spcBef>
              <a:spcAft>
                <a:spcPct val="0"/>
              </a:spcAft>
              <a:buClrTx/>
              <a:buSzTx/>
              <a:buFontTx/>
              <a:buNone/>
            </a:pPr>
            <a:br/>
            <a:endParaRPr sz="1800" b="0" i="0" u="none" cap="none" baseline="0">
              <a:ln>
                <a:noFill/>
              </a:ln>
              <a:solidFill>
                <a:schemeClr val="tx1"/>
              </a:solidFill>
              <a:latin typeface="Arial"/>
              <a:ea typeface="Arial"/>
              <a:cs typeface="Arial"/>
            </a:endParaRPr>
          </a:p>
        </p:txBody>
      </p:sp>
      <p:sp>
        <p:nvSpPr>
          <p:cNvPr id="14" name="object 3">
            <a:extLst>
              <a:ext uri="{FF2B5EF4-FFF2-40B4-BE49-F238E27FC236}">
                <a16:creationId xmlns:a16="http://schemas.microsoft.com/office/drawing/2014/main" id="{45DBBCBB-6056-4189-A010-9B54366338AB}"/>
              </a:ext>
            </a:extLst>
          </p:cNvPr>
          <p:cNvSpPr>
            <a:spLocks noGrp="1"/>
          </p:cNvSpPr>
          <p:nvPr>
            <p:ph type="body" idx="1"/>
          </p:nvPr>
        </p:nvSpPr>
        <p:spPr>
          <a:xfrm>
            <a:off x="523153" y="1618544"/>
            <a:ext cx="11180124" cy="3702104"/>
          </a:xfrm>
          <a:prstGeom prst="rect">
            <a:avLst/>
          </a:prstGeom>
        </p:spPr>
        <p:txBody>
          <a:bodyPr vert="horz" wrap="square" lIns="0" tIns="12700" rIns="0" bIns="0">
            <a:spAutoFit/>
          </a:bodyPr>
          <a:lstStyle/>
          <a:p>
            <a:pPr marL="12700" marR="264795" indent="3175">
              <a:lnSpc>
                <a:spcPct val="150000"/>
              </a:lnSpc>
              <a:spcBef>
                <a:spcPts val="100"/>
              </a:spcBef>
              <a:buNone/>
            </a:pPr>
            <a:r>
              <a:rPr sz="2000"/>
              <a:t>[6] X. Zhong, Y. Zhang, M. Zhang, J. Wang. "Patient Privacy of LLMs in Health Care: Scoping Review." 2025. </a:t>
            </a:r>
          </a:p>
          <a:p>
            <a:pPr marL="12700" marR="264795" indent="3175">
              <a:lnSpc>
                <a:spcPct val="150000"/>
              </a:lnSpc>
              <a:spcBef>
                <a:spcPts val="100"/>
              </a:spcBef>
              <a:buNone/>
            </a:pPr>
            <a:r>
              <a:rPr sz="2000"/>
              <a:t>[7] S. Wei, L. Chen, M. Liu, H. Zhao. "Jailbroken: How Does LLM Safety Training Fail?" 2023. </a:t>
            </a:r>
          </a:p>
          <a:p>
            <a:pPr marL="12700" marR="264795" indent="3175">
              <a:lnSpc>
                <a:spcPct val="150000"/>
              </a:lnSpc>
              <a:spcBef>
                <a:spcPts val="100"/>
              </a:spcBef>
              <a:buNone/>
            </a:pPr>
            <a:r>
              <a:rPr sz="2000"/>
              <a:t>[8] H. Zou, J. Li, X. Wang, Y. Chen. "Universal and Transferable Adversarial Attacks on Aligned Language Models." 2023. </a:t>
            </a:r>
          </a:p>
          <a:p>
            <a:pPr marL="12700" marR="264795" indent="3175">
              <a:lnSpc>
                <a:spcPct val="150000"/>
              </a:lnSpc>
              <a:spcBef>
                <a:spcPts val="100"/>
              </a:spcBef>
              <a:buNone/>
            </a:pPr>
            <a:r>
              <a:rPr sz="2000"/>
              <a:t>[9] E. Eskin, A. Ng, M. Jordan, R. Levitt. "Anomaly Detection over User Behavior in Cybersecurity Systems." 2023. </a:t>
            </a:r>
          </a:p>
          <a:p>
            <a:pPr marL="12700" marR="264795" indent="3175">
              <a:lnSpc>
                <a:spcPct val="150000"/>
              </a:lnSpc>
              <a:spcBef>
                <a:spcPts val="100"/>
              </a:spcBef>
              <a:buNone/>
            </a:pPr>
            <a:r>
              <a:rPr sz="2000"/>
              <a:t>[10] A. Röttger, L. Labskova, M. Pavlova, D. Hovy. "Safety Evaluation of Generative AI Systems." 2024.</a:t>
            </a:r>
            <a:endParaRPr sz="2000" spc="-10"/>
          </a:p>
        </p:txBody>
      </p:sp>
      <p:sp>
        <p:nvSpPr>
          <p:cNvPr id="3" name="object 10">
            <a:extLst>
              <a:ext uri="{FF2B5EF4-FFF2-40B4-BE49-F238E27FC236}">
                <a16:creationId xmlns:a16="http://schemas.microsoft.com/office/drawing/2014/main" id="{307B3022-5E1B-41A5-D745-FB25AB8C7515}"/>
              </a:ext>
            </a:extLst>
          </p:cNvPr>
          <p:cNvSpPr>
            <a:spLocks noGrp="1"/>
          </p:cNvSpPr>
          <p:nvPr>
            <p:ph type="dt" idx="6"/>
          </p:nvPr>
        </p:nvSpPr>
        <p:spPr>
          <a:xfrm>
            <a:off x="1132803" y="6333334"/>
            <a:ext cx="869314" cy="205184"/>
          </a:xfrm>
          <a:prstGeom prst="rect">
            <a:avLst/>
          </a:prstGeom>
        </p:spPr>
        <p:txBody>
          <a:bodyPr vert="horz" wrap="square" lIns="0" tIns="0" rIns="0" bIns="0">
            <a:spAutoFit/>
          </a:bodyPr>
          <a:lstStyle/>
          <a:p>
            <a:pPr marL="12700">
              <a:lnSpc>
                <a:spcPts val="1635"/>
              </a:lnSpc>
              <a:buNone/>
            </a:pPr>
            <a:r>
              <a:t>22-08-2026</a:t>
            </a:r>
            <a:endParaRPr spc="-20"/>
          </a:p>
        </p:txBody>
      </p:sp>
    </p:spTree>
    <p:extLst>
      <p:ext uri="{BB962C8B-B14F-4D97-AF65-F5344CB8AC3E}">
        <p14:creationId xmlns:p14="http://schemas.microsoft.com/office/powerpoint/2010/main" val="156503104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 name="Picture 20"/>
          <p:cNvPicPr>
            <a:picLocks noChangeAspect="1"/>
          </p:cNvPicPr>
          <p:nvPr/>
        </p:nvPicPr>
        <p:blipFill>
          <a:blip r:embed="rId3"/>
          <a:stretch>
            <a:fillRect/>
          </a:stretch>
        </p:blipFill>
        <p:spPr>
          <a:xfrm>
            <a:off x="6039916" y="3581400"/>
            <a:ext cx="4340656" cy="3097244"/>
          </a:xfrm>
          <a:prstGeom prst="rect">
            <a:avLst/>
          </a:prstGeom>
        </p:spPr>
      </p:pic>
      <p:sp>
        <p:nvSpPr>
          <p:cNvPr id="2" name="Footer Placeholder 1">
            <a:extLst>
              <a:ext uri="{FF2B5EF4-FFF2-40B4-BE49-F238E27FC236}">
                <a16:creationId xmlns:a16="http://schemas.microsoft.com/office/drawing/2014/main" id="{16C34D74-31F7-9C2A-68DA-41D126F0B0A3}"/>
              </a:ext>
            </a:extLst>
          </p:cNvPr>
          <p:cNvSpPr>
            <a:spLocks noGrp="1"/>
          </p:cNvSpPr>
          <p:nvPr>
            <p:ph type="ftr" idx="5"/>
          </p:nvPr>
        </p:nvSpPr>
        <p:spPr>
          <a:xfrm>
            <a:off x="5220970" y="6448140"/>
            <a:ext cx="1445259" cy="230504"/>
          </a:xfrm>
        </p:spPr>
        <p:txBody>
          <a:bodyPr/>
          <a:lstStyle/>
          <a:p>
            <a:pPr marL="12700">
              <a:lnSpc>
                <a:spcPts val="1689"/>
              </a:lnSpc>
              <a:buNone/>
            </a:pPr>
            <a:r>
              <a:rPr spc="-10"/>
              <a:t>Dept of AIML</a:t>
            </a:r>
            <a:endParaRPr spc="-85"/>
          </a:p>
        </p:txBody>
      </p:sp>
      <p:sp>
        <p:nvSpPr>
          <p:cNvPr id="3" name="Date Placeholder 2">
            <a:extLst>
              <a:ext uri="{FF2B5EF4-FFF2-40B4-BE49-F238E27FC236}">
                <a16:creationId xmlns:a16="http://schemas.microsoft.com/office/drawing/2014/main" id="{0CDF49A2-9669-06EB-07E8-B73F8CE9BB67}"/>
              </a:ext>
            </a:extLst>
          </p:cNvPr>
          <p:cNvSpPr>
            <a:spLocks noGrp="1"/>
          </p:cNvSpPr>
          <p:nvPr>
            <p:ph type="dt" idx="6"/>
          </p:nvPr>
        </p:nvSpPr>
        <p:spPr/>
        <p:txBody>
          <a:bodyPr/>
          <a:lstStyle/>
          <a:p>
            <a:pPr marL="12700">
              <a:lnSpc>
                <a:spcPts val="1635"/>
              </a:lnSpc>
              <a:buNone/>
            </a:pPr>
            <a:r>
              <a:t>02-03-2026</a:t>
            </a:r>
            <a:endParaRPr spc="-20"/>
          </a:p>
        </p:txBody>
      </p:sp>
      <p:sp>
        <p:nvSpPr>
          <p:cNvPr id="4" name="Slide Number Placeholder 3">
            <a:extLst>
              <a:ext uri="{FF2B5EF4-FFF2-40B4-BE49-F238E27FC236}">
                <a16:creationId xmlns:a16="http://schemas.microsoft.com/office/drawing/2014/main" id="{E1E0CFF8-DC36-4CE4-D343-BFA42B27D2B7}"/>
              </a:ext>
            </a:extLst>
          </p:cNvPr>
          <p:cNvSpPr>
            <a:spLocks noGrp="1"/>
          </p:cNvSpPr>
          <p:nvPr>
            <p:ph type="sldNum" idx="7"/>
          </p:nvPr>
        </p:nvSpPr>
        <p:spPr/>
        <p:txBody>
          <a:bodyPr/>
          <a:lstStyle/>
          <a:p>
            <a:pPr marL="12700">
              <a:lnSpc>
                <a:spcPts val="1600"/>
              </a:lnSpc>
              <a:buNone/>
            </a:pPr>
            <a:fld id="{81D60167-4931-47E6-BA6A-407CBD079E47}" type="slidenum">
              <a:rPr spc="-25"/>
              <a:t>26</a:t>
            </a:fld>
            <a:endParaRPr spc="-25"/>
          </a:p>
        </p:txBody>
      </p:sp>
      <p:sp>
        <p:nvSpPr>
          <p:cNvPr id="5" name="TextBox 4">
            <a:extLst>
              <a:ext uri="{FF2B5EF4-FFF2-40B4-BE49-F238E27FC236}">
                <a16:creationId xmlns:a16="http://schemas.microsoft.com/office/drawing/2014/main" id="{8EA0A39C-B1B4-9DBD-3921-31F68E20BA07}"/>
              </a:ext>
            </a:extLst>
          </p:cNvPr>
          <p:cNvSpPr>
            <a:spLocks noGrp="1"/>
          </p:cNvSpPr>
          <p:nvPr/>
        </p:nvSpPr>
        <p:spPr>
          <a:xfrm>
            <a:off x="685800" y="300512"/>
            <a:ext cx="10542912" cy="607859"/>
          </a:xfrm>
          <a:prstGeom prst="rect">
            <a:avLst/>
          </a:prstGeom>
          <a:noFill/>
        </p:spPr>
        <p:txBody>
          <a:bodyPr wrap="square">
            <a:spAutoFit/>
          </a:bodyPr>
          <a:lstStyle/>
          <a:p>
            <a:r>
              <a:rPr sz="3350"/>
              <a:t>Statistical Analysis of Prompt Injection Success Rates</a:t>
            </a:r>
          </a:p>
        </p:txBody>
      </p:sp>
      <p:pic>
        <p:nvPicPr>
          <p:cNvPr id="32" name="Picture 6"/>
          <p:cNvPicPr>
            <a:picLocks noChangeAspect="1"/>
          </p:cNvPicPr>
          <p:nvPr/>
        </p:nvPicPr>
        <p:blipFill>
          <a:blip r:embed="rId4"/>
          <a:stretch>
            <a:fillRect/>
          </a:stretch>
        </p:blipFill>
        <p:spPr>
          <a:xfrm>
            <a:off x="649968" y="3672005"/>
            <a:ext cx="4247992" cy="3185995"/>
          </a:xfrm>
          <a:prstGeom prst="rect">
            <a:avLst/>
          </a:prstGeom>
        </p:spPr>
      </p:pic>
      <p:pic>
        <p:nvPicPr>
          <p:cNvPr id="33" name="Picture 8"/>
          <p:cNvPicPr>
            <a:picLocks noChangeAspect="1"/>
          </p:cNvPicPr>
          <p:nvPr/>
        </p:nvPicPr>
        <p:blipFill>
          <a:blip r:embed="rId5"/>
          <a:stretch>
            <a:fillRect/>
          </a:stretch>
        </p:blipFill>
        <p:spPr>
          <a:xfrm>
            <a:off x="871676" y="770973"/>
            <a:ext cx="3845535" cy="2884151"/>
          </a:xfrm>
          <a:prstGeom prst="rect">
            <a:avLst/>
          </a:prstGeom>
        </p:spPr>
      </p:pic>
      <p:sp>
        <p:nvSpPr>
          <p:cNvPr id="22" name="AutoShape 2">
            <a:extLst>
              <a:ext uri="{FF2B5EF4-FFF2-40B4-BE49-F238E27FC236}">
                <a16:creationId xmlns:a16="http://schemas.microsoft.com/office/drawing/2014/main" id="{0176A710-F197-B2D6-9EF9-E0B080938305}"/>
              </a:ext>
            </a:extLst>
          </p:cNvPr>
          <p:cNvSpPr>
            <a:spLocks noGrp="1"/>
          </p:cNvSpPr>
          <p:nvPr/>
        </p:nvSpPr>
        <p:spPr>
          <a:xfrm>
            <a:off x="5943600" y="3276600"/>
            <a:ext cx="304800" cy="304800"/>
          </a:xfrm>
          <a:prstGeom prst="rect">
            <a:avLst/>
          </a:prstGeom>
          <a:noFill/>
        </p:spPr>
        <p:txBody>
          <a:bodyPr vert="horz" wrap="square" lIns="91440" tIns="45720" rIns="91440" bIns="45720" anchor="t"/>
          <a:lstStyle/>
          <a:p>
            <a:endParaRPr/>
          </a:p>
        </p:txBody>
      </p:sp>
      <p:pic>
        <p:nvPicPr>
          <p:cNvPr id="35" name="Picture 23"/>
          <p:cNvPicPr>
            <a:picLocks noChangeAspect="1"/>
          </p:cNvPicPr>
          <p:nvPr/>
        </p:nvPicPr>
        <p:blipFill>
          <a:blip r:embed="rId6"/>
          <a:stretch>
            <a:fillRect/>
          </a:stretch>
        </p:blipFill>
        <p:spPr>
          <a:xfrm>
            <a:off x="6248400" y="958123"/>
            <a:ext cx="3535687" cy="2651765"/>
          </a:xfrm>
          <a:prstGeom prst="rect">
            <a:avLst/>
          </a:prstGeom>
        </p:spPr>
      </p:pic>
    </p:spTree>
    <p:extLst>
      <p:ext uri="{BB962C8B-B14F-4D97-AF65-F5344CB8AC3E}">
        <p14:creationId xmlns:p14="http://schemas.microsoft.com/office/powerpoint/2010/main" val="206819921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a:extLst>
              <a:ext uri="{FF2B5EF4-FFF2-40B4-BE49-F238E27FC236}">
                <a16:creationId xmlns:a16="http://schemas.microsoft.com/office/drawing/2014/main" id="{1FD73F37-5DB1-DEFA-E9F4-4E321EBDA0EF}"/>
              </a:ext>
            </a:extLst>
          </p:cNvPr>
          <p:cNvSpPr>
            <a:spLocks noGrp="1"/>
          </p:cNvSpPr>
          <p:nvPr>
            <p:ph type="ftr" idx="5"/>
          </p:nvPr>
        </p:nvSpPr>
        <p:spPr>
          <a:prstGeom prst="rect">
            <a:avLst/>
          </a:prstGeom>
        </p:spPr>
        <p:txBody>
          <a:bodyPr vert="horz" wrap="square" lIns="0" tIns="0" rIns="0" bIns="0">
            <a:spAutoFit/>
          </a:bodyPr>
          <a:lstStyle/>
          <a:p>
            <a:pPr marL="12700">
              <a:lnSpc>
                <a:spcPts val="1689"/>
              </a:lnSpc>
              <a:buNone/>
            </a:pPr>
            <a:r>
              <a:rPr spc="-10"/>
              <a:t>Dept of AIML</a:t>
            </a:r>
            <a:endParaRPr spc="-85"/>
          </a:p>
        </p:txBody>
      </p:sp>
      <p:sp>
        <p:nvSpPr>
          <p:cNvPr id="6" name="object 6">
            <a:extLst>
              <a:ext uri="{FF2B5EF4-FFF2-40B4-BE49-F238E27FC236}">
                <a16:creationId xmlns:a16="http://schemas.microsoft.com/office/drawing/2014/main" id="{341EE29F-88BE-F09E-3DB0-72071153A8ED}"/>
              </a:ext>
            </a:extLst>
          </p:cNvPr>
          <p:cNvSpPr>
            <a:spLocks noGrp="1"/>
          </p:cNvSpPr>
          <p:nvPr>
            <p:ph type="sldNum" idx="7"/>
          </p:nvPr>
        </p:nvSpPr>
        <p:spPr>
          <a:prstGeom prst="rect">
            <a:avLst/>
          </a:prstGeom>
        </p:spPr>
        <p:txBody>
          <a:bodyPr vert="horz" wrap="square" lIns="0" tIns="0" rIns="0" bIns="0">
            <a:spAutoFit/>
          </a:bodyPr>
          <a:lstStyle/>
          <a:p>
            <a:pPr marL="12700">
              <a:lnSpc>
                <a:spcPts val="1600"/>
              </a:lnSpc>
              <a:buNone/>
            </a:pPr>
            <a:fld id="{81D60167-4931-47E6-BA6A-407CBD079E47}" type="slidenum">
              <a:rPr spc="-25"/>
              <a:t>27</a:t>
            </a:fld>
            <a:endParaRPr spc="-25"/>
          </a:p>
        </p:txBody>
      </p:sp>
      <p:sp>
        <p:nvSpPr>
          <p:cNvPr id="2" name="object 2">
            <a:extLst>
              <a:ext uri="{FF2B5EF4-FFF2-40B4-BE49-F238E27FC236}">
                <a16:creationId xmlns:a16="http://schemas.microsoft.com/office/drawing/2014/main" id="{2797A4EF-47D8-4A9D-E925-D8C60F69C554}"/>
              </a:ext>
            </a:extLst>
          </p:cNvPr>
          <p:cNvSpPr>
            <a:spLocks noGrp="1"/>
          </p:cNvSpPr>
          <p:nvPr>
            <p:ph type="title"/>
          </p:nvPr>
        </p:nvSpPr>
        <p:spPr>
          <a:xfrm>
            <a:off x="1567460" y="291749"/>
            <a:ext cx="8610600" cy="938076"/>
          </a:xfrm>
          <a:prstGeom prst="rect">
            <a:avLst/>
          </a:prstGeom>
        </p:spPr>
        <p:txBody>
          <a:bodyPr vert="horz" wrap="square" lIns="0" tIns="14604" rIns="0" bIns="0">
            <a:spAutoFit/>
          </a:bodyPr>
          <a:lstStyle/>
          <a:p>
            <a:pPr marL="12700" algn="ctr">
              <a:lnSpc>
                <a:spcPct val="100000"/>
              </a:lnSpc>
              <a:spcBef>
                <a:spcPts val="114"/>
              </a:spcBef>
              <a:buNone/>
              <a:tabLst>
                <a:tab pos="3241675" algn="l"/>
              </a:tabLst>
            </a:pPr>
            <a:r>
              <a:rPr sz="3000" b="1" spc="95" dirty="0"/>
              <a:t>INDIVIDUAL &amp; TEAM CONTRIBUTION</a:t>
            </a:r>
            <a:endParaRPr sz="3000" b="1" dirty="0"/>
          </a:p>
        </p:txBody>
      </p:sp>
      <p:sp>
        <p:nvSpPr>
          <p:cNvPr id="3" name="object 3">
            <a:extLst>
              <a:ext uri="{FF2B5EF4-FFF2-40B4-BE49-F238E27FC236}">
                <a16:creationId xmlns:a16="http://schemas.microsoft.com/office/drawing/2014/main" id="{5207B9B2-6BCB-AF58-739C-84E6C09C039D}"/>
              </a:ext>
            </a:extLst>
          </p:cNvPr>
          <p:cNvSpPr>
            <a:spLocks noGrp="1"/>
          </p:cNvSpPr>
          <p:nvPr/>
        </p:nvSpPr>
        <p:spPr>
          <a:xfrm>
            <a:off x="541066" y="880054"/>
            <a:ext cx="11014633" cy="3574505"/>
          </a:xfrm>
          <a:prstGeom prst="rect">
            <a:avLst/>
          </a:prstGeom>
        </p:spPr>
        <p:txBody>
          <a:bodyPr vert="horz" wrap="square" lIns="0" tIns="213360" rIns="0" bIns="0">
            <a:spAutoFit/>
          </a:bodyPr>
          <a:lstStyle/>
          <a:p>
            <a:pPr algn="just">
              <a:lnSpc>
                <a:spcPct val="150000"/>
              </a:lnSpc>
              <a:buNone/>
            </a:pPr>
            <a:r>
              <a:rPr sz="2600" b="1" dirty="0">
                <a:solidFill>
                  <a:schemeClr val="tx1"/>
                </a:solidFill>
              </a:rPr>
              <a:t>Team contribution: requirements, healthcare-threat research, integration reviews, test planning, documentation and presentation preparation.</a:t>
            </a:r>
          </a:p>
          <a:p>
            <a:pPr marL="457200" indent="-457200">
              <a:lnSpc>
                <a:spcPct val="150000"/>
              </a:lnSpc>
              <a:buFont typeface="Arial"/>
              <a:buChar char="•"/>
            </a:pPr>
            <a:r>
              <a:rPr sz="2400" dirty="0">
                <a:solidFill>
                  <a:schemeClr val="tx1"/>
                </a:solidFill>
              </a:rPr>
              <a:t> Aakruthi Rao: </a:t>
            </a:r>
            <a:r>
              <a:rPr lang="en-US" sz="2400" dirty="0">
                <a:solidFill>
                  <a:schemeClr val="tx1"/>
                </a:solidFill>
              </a:rPr>
              <a:t>React dashboard, API integration and UX validation. </a:t>
            </a:r>
          </a:p>
          <a:p>
            <a:pPr marL="457200" indent="-457200">
              <a:lnSpc>
                <a:spcPct val="150000"/>
              </a:lnSpc>
              <a:buFont typeface="Arial"/>
              <a:buChar char="•"/>
            </a:pPr>
            <a:r>
              <a:rPr sz="2400" dirty="0">
                <a:solidFill>
                  <a:schemeClr val="tx1"/>
                </a:solidFill>
              </a:rPr>
              <a:t>Jnanesh: </a:t>
            </a:r>
            <a:r>
              <a:rPr lang="en-US" sz="2400" dirty="0">
                <a:solidFill>
                  <a:schemeClr val="tx1"/>
                </a:solidFill>
              </a:rPr>
              <a:t>PHI/similarity modules, testing, Docker/Nginx deployment preparation</a:t>
            </a:r>
            <a:endParaRPr sz="2400" dirty="0">
              <a:solidFill>
                <a:schemeClr val="tx1"/>
              </a:solidFill>
            </a:endParaRPr>
          </a:p>
          <a:p>
            <a:pPr marL="457200" indent="-457200">
              <a:lnSpc>
                <a:spcPct val="150000"/>
              </a:lnSpc>
              <a:buFont typeface="Arial"/>
              <a:buChar char="•"/>
            </a:pPr>
            <a:r>
              <a:rPr sz="2400" dirty="0">
                <a:solidFill>
                  <a:schemeClr val="tx1"/>
                </a:solidFill>
              </a:rPr>
              <a:t>Likitha Rai B S: </a:t>
            </a:r>
            <a:r>
              <a:rPr lang="en-US" sz="2400" dirty="0">
                <a:solidFill>
                  <a:schemeClr val="tx1"/>
                </a:solidFill>
              </a:rPr>
              <a:t>dataset curation, preprocessing and model evaluation</a:t>
            </a:r>
            <a:endParaRPr sz="2400" dirty="0">
              <a:solidFill>
                <a:schemeClr val="tx1"/>
              </a:solidFill>
            </a:endParaRPr>
          </a:p>
          <a:p>
            <a:pPr marL="457200" indent="-457200">
              <a:lnSpc>
                <a:spcPct val="150000"/>
              </a:lnSpc>
              <a:buFont typeface="Arial"/>
              <a:buChar char="•"/>
            </a:pPr>
            <a:r>
              <a:rPr sz="2400" dirty="0">
                <a:solidFill>
                  <a:schemeClr val="tx1"/>
                </a:solidFill>
              </a:rPr>
              <a:t>Sujal</a:t>
            </a:r>
            <a:r>
              <a:rPr lang="en-US" sz="2400" dirty="0">
                <a:solidFill>
                  <a:schemeClr val="tx1"/>
                </a:solidFill>
              </a:rPr>
              <a:t>: </a:t>
            </a:r>
            <a:r>
              <a:rPr lang="en-US" sz="2400" dirty="0" err="1">
                <a:solidFill>
                  <a:schemeClr val="tx1"/>
                </a:solidFill>
              </a:rPr>
              <a:t>FastAPI</a:t>
            </a:r>
            <a:r>
              <a:rPr lang="en-US" sz="2400" dirty="0">
                <a:solidFill>
                  <a:schemeClr val="tx1"/>
                </a:solidFill>
              </a:rPr>
              <a:t> backend, risk/policy engine and database integration.</a:t>
            </a:r>
            <a:endParaRPr sz="2400" dirty="0">
              <a:solidFill>
                <a:schemeClr val="tx1"/>
              </a:solidFill>
            </a:endParaRPr>
          </a:p>
        </p:txBody>
      </p:sp>
      <p:sp>
        <p:nvSpPr>
          <p:cNvPr id="7" name="object 10">
            <a:extLst>
              <a:ext uri="{FF2B5EF4-FFF2-40B4-BE49-F238E27FC236}">
                <a16:creationId xmlns:a16="http://schemas.microsoft.com/office/drawing/2014/main" id="{BE21B257-3AF1-1389-F35D-6189ECD49200}"/>
              </a:ext>
            </a:extLst>
          </p:cNvPr>
          <p:cNvSpPr>
            <a:spLocks noGrp="1"/>
          </p:cNvSpPr>
          <p:nvPr>
            <p:ph type="dt" idx="6"/>
          </p:nvPr>
        </p:nvSpPr>
        <p:spPr>
          <a:xfrm>
            <a:off x="1132803" y="6333334"/>
            <a:ext cx="869314" cy="205184"/>
          </a:xfrm>
          <a:prstGeom prst="rect">
            <a:avLst/>
          </a:prstGeom>
        </p:spPr>
        <p:txBody>
          <a:bodyPr vert="horz" wrap="square" lIns="0" tIns="0" rIns="0" bIns="0">
            <a:spAutoFit/>
          </a:bodyPr>
          <a:lstStyle/>
          <a:p>
            <a:pPr marL="12700">
              <a:lnSpc>
                <a:spcPts val="1635"/>
              </a:lnSpc>
              <a:buNone/>
            </a:pPr>
            <a:r>
              <a:t>22-08-2026</a:t>
            </a:r>
            <a:endParaRPr spc="-20"/>
          </a:p>
        </p:txBody>
      </p:sp>
    </p:spTree>
    <p:extLst>
      <p:ext uri="{BB962C8B-B14F-4D97-AF65-F5344CB8AC3E}">
        <p14:creationId xmlns:p14="http://schemas.microsoft.com/office/powerpoint/2010/main" val="168027438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TotalTime>
  <Words>2808</Words>
  <Application>Microsoft Office PowerPoint</Application>
  <DocSecurity>0</DocSecurity>
  <PresentationFormat>Widescreen</PresentationFormat>
  <Paragraphs>294</Paragraphs>
  <Slides>27</Slides>
  <Notes>27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27</vt:i4>
      </vt:variant>
    </vt:vector>
  </HeadingPairs>
  <TitlesOfParts>
    <vt:vector size="33" baseType="lpstr">
      <vt:lpstr>Arial</vt:lpstr>
      <vt:lpstr>Arial MT</vt:lpstr>
      <vt:lpstr>Calibri</vt:lpstr>
      <vt:lpstr>Cambria Math</vt:lpstr>
      <vt:lpstr>Times New Roman</vt:lpstr>
      <vt:lpstr>Office Theme</vt:lpstr>
      <vt:lpstr>PowerPoint Presentation</vt:lpstr>
      <vt:lpstr>CONTENTS</vt:lpstr>
      <vt:lpstr>ABSTRACT</vt:lpstr>
      <vt:lpstr>INTRODUCTION</vt:lpstr>
      <vt:lpstr>LITERATURE SURVEY</vt:lpstr>
      <vt:lpstr>LITERATURE SURVEY CONT....</vt:lpstr>
      <vt:lpstr>LITERATURE SURVEY CONT....</vt:lpstr>
      <vt:lpstr>Research Gap</vt:lpstr>
      <vt:lpstr>PROBLEM STATEMENT</vt:lpstr>
      <vt:lpstr>OBJECTIVES</vt:lpstr>
      <vt:lpstr>METHODOLOGY</vt:lpstr>
      <vt:lpstr>PHASE-WISE EXECUTION</vt:lpstr>
      <vt:lpstr>Software Components</vt:lpstr>
      <vt:lpstr>PowerPoint Presentation</vt:lpstr>
      <vt:lpstr>PowerPoint Presentation</vt:lpstr>
      <vt:lpstr>Mathematical Equations/Models</vt:lpstr>
      <vt:lpstr>Risk Detection Model</vt:lpstr>
      <vt:lpstr>Final Risk Detection Model</vt:lpstr>
      <vt:lpstr>DATASET &amp; VALIDATION DESIGN</vt:lpstr>
      <vt:lpstr>MODEL DEVELOPMENT &amp; RESULTS</vt:lpstr>
      <vt:lpstr>IMPLEMENTATION DETAILS</vt:lpstr>
      <vt:lpstr>MODERN TOOLS &amp; DEPLOYMENT READINESS</vt:lpstr>
      <vt:lpstr>CONCLUSION</vt:lpstr>
      <vt:lpstr>REFERENCE</vt:lpstr>
      <vt:lpstr>REFERENCE</vt:lpstr>
      <vt:lpstr>PowerPoint Presentation</vt:lpstr>
      <vt:lpstr>INDIVIDUAL &amp; TEAM CONTRIBUTION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likitha rai</cp:lastModifiedBy>
  <cp:revision>1</cp:revision>
  <dcterms:created xsi:type="dcterms:W3CDTF">2026-08-21T09:55:27Z</dcterms:created>
  <dcterms:modified xsi:type="dcterms:W3CDTF">2026-08-21T10:14:41Z</dcterms:modified>
</cp:coreProperties>
</file>